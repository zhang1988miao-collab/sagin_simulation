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c4116b-1935-8e20-db2b-e589e52d1213}">
          <p14:sldIdLst>
            <p14:sldId id="256"/>
            <p14:sldId id="257"/>
          </p14:sldIdLst>
        </p14:section>
        <p14:section name="Part I: Introduction" id="{a8eef2b2-a9af-0b16-45e3-163a46e814b5}">
          <p14:sldIdLst>
            <p14:sldId id="258"/>
            <p14:sldId id="259"/>
            <p14:sldId id="260"/>
            <p14:sldId id="261"/>
            <p14:sldId id="262"/>
            <p14:sldId id="263"/>
          </p14:sldIdLst>
        </p14:section>
        <p14:section name="Part II: Polarforming" id="{59d0675b-67a8-6a50-a3c5-c0b4412b4c3d}">
          <p14:sldIdLst>
            <p14:sldId id="264"/>
            <p14:sldId id="265"/>
            <p14:sldId id="266"/>
            <p14:sldId id="267"/>
          </p14:sldIdLst>
        </p14:section>
        <p14:section name="Part III: Atomic-to-Space" id="{4afd4250-85cc-607b-db36-d45484e50b8a}">
          <p14:sldIdLst>
            <p14:sldId id="268"/>
            <p14:sldId id="269"/>
            <p14:sldId id="270"/>
            <p14:sldId id="271"/>
          </p14:sldIdLst>
        </p14:section>
        <p14:section name="Part IV: MADRL and RSMA" id="{6ce69e25-441f-7b50-f5f4-660d90b91cdb}">
          <p14:sldIdLst>
            <p14:sldId id="272"/>
            <p14:sldId id="273"/>
            <p14:sldId id="274"/>
            <p14:sldId id="275"/>
          </p14:sldIdLst>
        </p14:section>
        <p14:section name="Closing" id="{f15eb82c-47d0-74cb-6070-25284feb227d}">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5"/>
          <c:h val="0.57"/>
        </c:manualLayout>
      </c:layout>
      <c:lineChart>
        <c:varyColors val="0"/>
        <c:ser>
          <c:idx val="0"/>
          <c:order val="0"/>
          <c:tx>
            <c:strRef>
              <c:f>Sheet1!$B$1</c:f>
              <c:strCache>
                <c:ptCount val="1"/>
                <c:pt idx="0">
                  <c:v>PF-RSMA (proposed)</c:v>
                </c:pt>
              </c:strCache>
            </c:strRef>
          </c:tx>
          <c:spPr>
            <a:solidFill>
              <a:srgbClr val="0F9F8F"/>
            </a:solidFill>
            <a:ln w="34925" cap="flat">
              <a:solidFill>
                <a:srgbClr val="0F9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9F8F"/>
              </a:solidFill>
              <a:ln w="15875">
                <a:solidFill>
                  <a:srgbClr val="0F9F8F"/>
                </a:solidFill>
                <a:prstDash val="solid"/>
              </a:ln>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Sheet1!$B$2:$B$8</c:f>
              <c:numCache>
                <c:formatCode>General</c:formatCode>
                <c:ptCount val="7"/>
                <c:pt idx="0">
                  <c:v>0.57</c:v>
                </c:pt>
                <c:pt idx="1">
                  <c:v>0.84</c:v>
                </c:pt>
                <c:pt idx="2">
                  <c:v>1.13</c:v>
                </c:pt>
                <c:pt idx="3">
                  <c:v>1.5</c:v>
                </c:pt>
                <c:pt idx="4">
                  <c:v>1.92</c:v>
                </c:pt>
                <c:pt idx="5">
                  <c:v>2.33</c:v>
                </c:pt>
                <c:pt idx="6">
                  <c:v>2.71</c:v>
                </c:pt>
              </c:numCache>
            </c:numRef>
          </c:val>
          <c:smooth val="0"/>
        </c:ser>
        <c:ser>
          <c:idx val="1"/>
          <c:order val="1"/>
          <c:tx>
            <c:strRef>
              <c:f>Sheet1!$C$1</c:f>
              <c:strCache>
                <c:ptCount val="1"/>
                <c:pt idx="0">
                  <c:v>FP-RSMA</c:v>
                </c:pt>
              </c:strCache>
            </c:strRef>
          </c:tx>
          <c:spPr>
            <a:solidFill>
              <a:srgbClr val="0B1E3F"/>
            </a:solidFill>
            <a:ln w="25400" cap="flat">
              <a:solidFill>
                <a:srgbClr val="0B1E3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square"/>
            <c:size val="7"/>
            <c:spPr>
              <a:solidFill>
                <a:srgbClr val="FFFFFF"/>
              </a:solidFill>
              <a:ln w="15875">
                <a:solidFill>
                  <a:srgbClr val="0B1E3F"/>
                </a:solidFill>
                <a:prstDash val="solid"/>
              </a:ln>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Sheet1!$C$2:$C$8</c:f>
              <c:numCache>
                <c:formatCode>General</c:formatCode>
                <c:ptCount val="7"/>
                <c:pt idx="0">
                  <c:v>0.16</c:v>
                </c:pt>
                <c:pt idx="1">
                  <c:v>0.31</c:v>
                </c:pt>
                <c:pt idx="2">
                  <c:v>0.52</c:v>
                </c:pt>
                <c:pt idx="3">
                  <c:v>0.82</c:v>
                </c:pt>
                <c:pt idx="4">
                  <c:v>1.2</c:v>
                </c:pt>
                <c:pt idx="5">
                  <c:v>1.61</c:v>
                </c:pt>
                <c:pt idx="6">
                  <c:v>1.99</c:v>
                </c:pt>
              </c:numCache>
            </c:numRef>
          </c:val>
          <c:smooth val="0"/>
        </c:ser>
        <c:ser>
          <c:idx val="2"/>
          <c:order val="2"/>
          <c:tx>
            <c:strRef>
              <c:f>Sheet1!$D$1</c:f>
              <c:strCache>
                <c:ptCount val="1"/>
                <c:pt idx="0">
                  <c:v>PF-SDMA</c:v>
                </c:pt>
              </c:strCache>
            </c:strRef>
          </c:tx>
          <c:spPr>
            <a:solidFill>
              <a:srgbClr val="7C8AA0"/>
            </a:solidFill>
            <a:ln w="25400" cap="flat">
              <a:solidFill>
                <a:srgbClr val="7C8AA0"/>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triangle"/>
            <c:size val="7"/>
            <c:spPr>
              <a:solidFill>
                <a:srgbClr val="FFFFFF"/>
              </a:solidFill>
              <a:ln w="15875">
                <a:solidFill>
                  <a:srgbClr val="7C8AA0"/>
                </a:solidFill>
                <a:prstDash val="solid"/>
              </a:ln>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Sheet1!$D$2:$D$8</c:f>
              <c:numCache>
                <c:formatCode>General</c:formatCode>
                <c:ptCount val="7"/>
                <c:pt idx="0">
                  <c:v>0.53</c:v>
                </c:pt>
                <c:pt idx="1">
                  <c:v>0.73</c:v>
                </c:pt>
                <c:pt idx="2">
                  <c:v>0.87</c:v>
                </c:pt>
                <c:pt idx="3">
                  <c:v>1.04</c:v>
                </c:pt>
                <c:pt idx="4">
                  <c:v>1.22</c:v>
                </c:pt>
                <c:pt idx="5">
                  <c:v>1.38</c:v>
                </c:pt>
                <c:pt idx="6">
                  <c:v>1.48</c:v>
                </c:pt>
              </c:numCache>
            </c:numRef>
          </c:val>
          <c:smooth val="0"/>
        </c:ser>
        <c:ser>
          <c:idx val="3"/>
          <c:order val="3"/>
          <c:tx>
            <c:strRef>
              <c:f>Sheet1!$E$1</c:f>
              <c:strCache>
                <c:ptCount val="1"/>
                <c:pt idx="0">
                  <c:v>FP-SDMA</c:v>
                </c:pt>
              </c:strCache>
            </c:strRef>
          </c:tx>
          <c:spPr>
            <a:solidFill>
              <a:srgbClr val="B3BDCB"/>
            </a:solidFill>
            <a:ln w="25400" cap="flat">
              <a:solidFill>
                <a:srgbClr val="B3BDCB"/>
              </a:solidFill>
              <a:prstDash val="lg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diamond"/>
            <c:size val="7"/>
            <c:spPr>
              <a:solidFill>
                <a:srgbClr val="FFFFFF"/>
              </a:solidFill>
              <a:ln w="15875">
                <a:solidFill>
                  <a:srgbClr val="B3BDCB"/>
                </a:solidFill>
                <a:prstDash val="solid"/>
              </a:ln>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Sheet1!$E$2:$E$8</c:f>
              <c:numCache>
                <c:formatCode>General</c:formatCode>
                <c:ptCount val="7"/>
                <c:pt idx="0">
                  <c:v>0.13</c:v>
                </c:pt>
                <c:pt idx="1">
                  <c:v>0.23</c:v>
                </c:pt>
                <c:pt idx="2">
                  <c:v>0.3</c:v>
                </c:pt>
                <c:pt idx="3">
                  <c:v>0.38</c:v>
                </c:pt>
                <c:pt idx="4">
                  <c:v>0.54</c:v>
                </c:pt>
                <c:pt idx="5">
                  <c:v>0.74</c:v>
                </c:pt>
                <c:pt idx="6">
                  <c:v>0.93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80"/>
                    </a:solidFill>
                    <a:latin typeface="+mn-lt"/>
                  </a:defRPr>
                </a:pPr>
                <a:r>
                  <a:rPr sz="1200" b="0" i="0" u="none" strike="noStrike">
                    <a:solidFill>
                      <a:srgbClr val="5B6880"/>
                    </a:solidFill>
                    <a:latin typeface="+mn-lt"/>
                  </a:rPr>
                  <a:t>Transmit power (dBW)</a:t>
                </a:r>
              </a:p>
            </c:rich>
          </c:tx>
          <c:layout/>
          <c:overlay val="0"/>
        </c:title>
        <c:numFmt formatCode="General" sourceLinked="1"/>
        <c:majorTickMark val="out"/>
        <c:minorTickMark val="none"/>
        <c:tickLblPos val="low"/>
        <c:spPr>
          <a:ln w="12700" cap="flat">
            <a:solidFill>
              <a:srgbClr val="B8C2CF"/>
            </a:solidFill>
            <a:prstDash val="solid"/>
            <a:round/>
          </a:ln>
        </c:spPr>
        <c:txPr>
          <a:bodyPr/>
          <a:lstStyle/>
          <a:p>
            <a:pPr>
              <a:defRPr sz="1100" b="0" i="0" u="none" strike="noStrike">
                <a:solidFill>
                  <a:srgbClr val="5B6880"/>
                </a:solidFill>
                <a:latin typeface="+mn-lt"/>
              </a:defRPr>
            </a:pPr>
            <a:endParaRPr lang="en-US"/>
          </a:p>
        </c:txPr>
        <c:crossAx val="2094734552"/>
        <c:crosses val="autoZero"/>
        <c:auto val="1"/>
        <c:lblAlgn val="ctr"/>
        <c:noMultiLvlLbl val="1"/>
        <c:tickLblSkip val="1"/>
      </c:catAx>
      <c:valAx>
        <c:axId val="2094734552"/>
        <c:scaling>
          <c:orientation val="minMax"/>
          <c:max val="3"/>
          <c:min val="0"/>
        </c:scaling>
        <c:delete val="0"/>
        <c:axPos val="l"/>
        <c:majorGridlines>
          <c:spPr>
            <a:ln w="9525" cap="flat">
              <a:solidFill>
                <a:srgbClr val="E3E8EF"/>
              </a:solidFill>
              <a:prstDash val="solid"/>
              <a:round/>
            </a:ln>
          </c:spPr>
        </c:majorGridlines>
        <c:title>
          <c:tx>
            <c:rich>
              <a:bodyPr/>
              <a:lstStyle/>
              <a:p>
                <a:pPr>
                  <a:defRPr sz="1200" b="0" i="0" u="none" strike="noStrike">
                    <a:solidFill>
                      <a:srgbClr val="5B6880"/>
                    </a:solidFill>
                    <a:latin typeface="+mn-lt"/>
                  </a:defRPr>
                </a:pPr>
                <a:r>
                  <a:rPr sz="1200" b="0" i="0" u="none" strike="noStrike">
                    <a:solidFill>
                      <a:srgbClr val="5B6880"/>
                    </a:solidFill>
                    <a:latin typeface="+mn-lt"/>
                  </a:rPr>
                  <a:t>Max-min rate (bps/Hz)</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B6880"/>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1B26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5"/>
          <c:h val="0.57"/>
        </c:manualLayout>
      </c:layout>
      <c:lineChart>
        <c:varyColors val="0"/>
        <c:ser>
          <c:idx val="0"/>
          <c:order val="0"/>
          <c:tx>
            <c:strRef>
              <c:f>Sheet1!$B$1</c:f>
              <c:strCache>
                <c:ptCount val="1"/>
                <c:pt idx="0">
                  <c:v>Polarforming (proposed)</c:v>
                </c:pt>
              </c:strCache>
            </c:strRef>
          </c:tx>
          <c:spPr>
            <a:solidFill>
              <a:srgbClr val="0F9F8F"/>
            </a:solidFill>
            <a:ln w="34925" cap="flat">
              <a:solidFill>
                <a:srgbClr val="0F9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9F8F"/>
              </a:solidFill>
              <a:ln w="15875">
                <a:solidFill>
                  <a:srgbClr val="0F9F8F"/>
                </a:solidFill>
                <a:prstDash val="solid"/>
              </a:ln>
            </c:spPr>
          </c:marker>
          <c:cat>
            <c:multiLvlStrRef>
              <c:f>Sheet1!$A$2:$A$11</c:f>
              <c:multiLvlStrCache>
                <c:ptCount val="10"/>
                <c:lvl>
                  <c:pt idx="0">
                    <c:v>0</c:v>
                  </c:pt>
                  <c:pt idx="1">
                    <c:v>10</c:v>
                  </c:pt>
                  <c:pt idx="2">
                    <c:v>20</c:v>
                  </c:pt>
                  <c:pt idx="3">
                    <c:v>30</c:v>
                  </c:pt>
                  <c:pt idx="4">
                    <c:v>40</c:v>
                  </c:pt>
                  <c:pt idx="5">
                    <c:v>50</c:v>
                  </c:pt>
                  <c:pt idx="6">
                    <c:v>60</c:v>
                  </c:pt>
                  <c:pt idx="7">
                    <c:v>70</c:v>
                  </c:pt>
                  <c:pt idx="8">
                    <c:v>80</c:v>
                  </c:pt>
                  <c:pt idx="9">
                    <c:v>90</c:v>
                  </c:pt>
                </c:lvl>
              </c:multiLvlStrCache>
            </c:multiLvlStrRef>
          </c:cat>
          <c:val>
            <c:numRef>
              <c:f>Sheet1!$B$2:$B$11</c:f>
              <c:numCache>
                <c:formatCode>General</c:formatCode>
                <c:ptCount val="10"/>
                <c:pt idx="0">
                  <c:v>1.86</c:v>
                </c:pt>
                <c:pt idx="1">
                  <c:v>1.86</c:v>
                </c:pt>
                <c:pt idx="2">
                  <c:v>1.87</c:v>
                </c:pt>
                <c:pt idx="3">
                  <c:v>1.87</c:v>
                </c:pt>
                <c:pt idx="4">
                  <c:v>1.88</c:v>
                </c:pt>
                <c:pt idx="5">
                  <c:v>1.9</c:v>
                </c:pt>
                <c:pt idx="6">
                  <c:v>1.92</c:v>
                </c:pt>
                <c:pt idx="7">
                  <c:v>1.95</c:v>
                </c:pt>
                <c:pt idx="8">
                  <c:v>1.96</c:v>
                </c:pt>
                <c:pt idx="9">
                  <c:v>1.97</c:v>
                </c:pt>
              </c:numCache>
            </c:numRef>
          </c:val>
          <c:smooth val="0"/>
        </c:ser>
        <c:ser>
          <c:idx val="1"/>
          <c:order val="1"/>
          <c:tx>
            <c:strRef>
              <c:f>Sheet1!$C$1</c:f>
              <c:strCache>
                <c:ptCount val="1"/>
                <c:pt idx="0">
                  <c:v>Circular Tx, linear Rx</c:v>
                </c:pt>
              </c:strCache>
            </c:strRef>
          </c:tx>
          <c:spPr>
            <a:solidFill>
              <a:srgbClr val="0B1E3F"/>
            </a:solidFill>
            <a:ln w="25400" cap="flat">
              <a:solidFill>
                <a:srgbClr val="0B1E3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square"/>
            <c:size val="7"/>
            <c:spPr>
              <a:solidFill>
                <a:srgbClr val="FFFFFF"/>
              </a:solidFill>
              <a:ln w="15875">
                <a:solidFill>
                  <a:srgbClr val="0B1E3F"/>
                </a:solidFill>
                <a:prstDash val="solid"/>
              </a:ln>
            </c:spPr>
          </c:marker>
          <c:cat>
            <c:multiLvlStrRef>
              <c:f>Sheet1!$A$2:$A$11</c:f>
              <c:multiLvlStrCache>
                <c:ptCount val="10"/>
                <c:lvl>
                  <c:pt idx="0">
                    <c:v>0</c:v>
                  </c:pt>
                  <c:pt idx="1">
                    <c:v>10</c:v>
                  </c:pt>
                  <c:pt idx="2">
                    <c:v>20</c:v>
                  </c:pt>
                  <c:pt idx="3">
                    <c:v>30</c:v>
                  </c:pt>
                  <c:pt idx="4">
                    <c:v>40</c:v>
                  </c:pt>
                  <c:pt idx="5">
                    <c:v>50</c:v>
                  </c:pt>
                  <c:pt idx="6">
                    <c:v>60</c:v>
                  </c:pt>
                  <c:pt idx="7">
                    <c:v>70</c:v>
                  </c:pt>
                  <c:pt idx="8">
                    <c:v>80</c:v>
                  </c:pt>
                  <c:pt idx="9">
                    <c:v>90</c:v>
                  </c:pt>
                </c:lvl>
              </c:multiLvlStrCache>
            </c:multiLvlStrRef>
          </c:cat>
          <c:val>
            <c:numRef>
              <c:f>Sheet1!$C$2:$C$11</c:f>
              <c:numCache>
                <c:formatCode>General</c:formatCode>
                <c:ptCount val="10"/>
                <c:pt idx="0">
                  <c:v>1.51</c:v>
                </c:pt>
                <c:pt idx="1">
                  <c:v>1.51</c:v>
                </c:pt>
                <c:pt idx="2">
                  <c:v>1.51</c:v>
                </c:pt>
                <c:pt idx="3">
                  <c:v>1.51</c:v>
                </c:pt>
                <c:pt idx="4">
                  <c:v>1.52</c:v>
                </c:pt>
                <c:pt idx="5">
                  <c:v>1.52</c:v>
                </c:pt>
                <c:pt idx="6">
                  <c:v>1.52</c:v>
                </c:pt>
                <c:pt idx="7">
                  <c:v>1.53</c:v>
                </c:pt>
                <c:pt idx="8">
                  <c:v>1.52</c:v>
                </c:pt>
                <c:pt idx="9">
                  <c:v>1.52</c:v>
                </c:pt>
              </c:numCache>
            </c:numRef>
          </c:val>
          <c:smooth val="0"/>
        </c:ser>
        <c:ser>
          <c:idx val="2"/>
          <c:order val="2"/>
          <c:tx>
            <c:strRef>
              <c:f>Sheet1!$D$1</c:f>
              <c:strCache>
                <c:ptCount val="1"/>
                <c:pt idx="0">
                  <c:v>Linear Tx, linear Rx</c:v>
                </c:pt>
              </c:strCache>
            </c:strRef>
          </c:tx>
          <c:spPr>
            <a:solidFill>
              <a:srgbClr val="7C8AA0"/>
            </a:solidFill>
            <a:ln w="25400" cap="flat">
              <a:solidFill>
                <a:srgbClr val="7C8AA0"/>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triangle"/>
            <c:size val="7"/>
            <c:spPr>
              <a:solidFill>
                <a:srgbClr val="FFFFFF"/>
              </a:solidFill>
              <a:ln w="15875">
                <a:solidFill>
                  <a:srgbClr val="7C8AA0"/>
                </a:solidFill>
                <a:prstDash val="solid"/>
              </a:ln>
            </c:spPr>
          </c:marker>
          <c:cat>
            <c:multiLvlStrRef>
              <c:f>Sheet1!$A$2:$A$11</c:f>
              <c:multiLvlStrCache>
                <c:ptCount val="10"/>
                <c:lvl>
                  <c:pt idx="0">
                    <c:v>0</c:v>
                  </c:pt>
                  <c:pt idx="1">
                    <c:v>10</c:v>
                  </c:pt>
                  <c:pt idx="2">
                    <c:v>20</c:v>
                  </c:pt>
                  <c:pt idx="3">
                    <c:v>30</c:v>
                  </c:pt>
                  <c:pt idx="4">
                    <c:v>40</c:v>
                  </c:pt>
                  <c:pt idx="5">
                    <c:v>50</c:v>
                  </c:pt>
                  <c:pt idx="6">
                    <c:v>60</c:v>
                  </c:pt>
                  <c:pt idx="7">
                    <c:v>70</c:v>
                  </c:pt>
                  <c:pt idx="8">
                    <c:v>80</c:v>
                  </c:pt>
                  <c:pt idx="9">
                    <c:v>90</c:v>
                  </c:pt>
                </c:lvl>
              </c:multiLvlStrCache>
            </c:multiLvlStrRef>
          </c:cat>
          <c:val>
            <c:numRef>
              <c:f>Sheet1!$D$2:$D$11</c:f>
              <c:numCache>
                <c:formatCode>General</c:formatCode>
                <c:ptCount val="10"/>
                <c:pt idx="0">
                  <c:v>1.74</c:v>
                </c:pt>
                <c:pt idx="1">
                  <c:v>1.73</c:v>
                </c:pt>
                <c:pt idx="2">
                  <c:v>1.7</c:v>
                </c:pt>
                <c:pt idx="3">
                  <c:v>1.64</c:v>
                </c:pt>
                <c:pt idx="4">
                  <c:v>1.56</c:v>
                </c:pt>
                <c:pt idx="5">
                  <c:v>1.43</c:v>
                </c:pt>
                <c:pt idx="6">
                  <c:v>1.26</c:v>
                </c:pt>
                <c:pt idx="7">
                  <c:v>1.01</c:v>
                </c:pt>
                <c:pt idx="8">
                  <c:v>0.58</c:v>
                </c:pt>
                <c:pt idx="9">
                  <c:v>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80"/>
                    </a:solidFill>
                    <a:latin typeface="+mn-lt"/>
                  </a:defRPr>
                </a:pPr>
                <a:r>
                  <a:rPr sz="1200" b="0" i="0" u="none" strike="noStrike">
                    <a:solidFill>
                      <a:srgbClr val="5B6880"/>
                    </a:solidFill>
                    <a:latin typeface="+mn-lt"/>
                  </a:rPr>
                  <a:t>Faraday rotation Ω (deg)</a:t>
                </a:r>
              </a:p>
            </c:rich>
          </c:tx>
          <c:layout/>
          <c:overlay val="0"/>
        </c:title>
        <c:numFmt formatCode="General" sourceLinked="1"/>
        <c:majorTickMark val="out"/>
        <c:minorTickMark val="none"/>
        <c:tickLblPos val="low"/>
        <c:spPr>
          <a:ln w="12700" cap="flat">
            <a:solidFill>
              <a:srgbClr val="B8C2CF"/>
            </a:solidFill>
            <a:prstDash val="solid"/>
            <a:round/>
          </a:ln>
        </c:spPr>
        <c:txPr>
          <a:bodyPr/>
          <a:lstStyle/>
          <a:p>
            <a:pPr>
              <a:defRPr sz="1100" b="0" i="0" u="none" strike="noStrike">
                <a:solidFill>
                  <a:srgbClr val="5B6880"/>
                </a:solidFill>
                <a:latin typeface="+mn-lt"/>
              </a:defRPr>
            </a:pPr>
            <a:endParaRPr lang="en-US"/>
          </a:p>
        </c:txPr>
        <c:crossAx val="2094734552"/>
        <c:crosses val="autoZero"/>
        <c:auto val="1"/>
        <c:lblAlgn val="ctr"/>
        <c:noMultiLvlLbl val="1"/>
        <c:tickLblSkip val="1"/>
      </c:catAx>
      <c:valAx>
        <c:axId val="2094734552"/>
        <c:scaling>
          <c:orientation val="minMax"/>
          <c:max val="2.5"/>
          <c:min val="0"/>
        </c:scaling>
        <c:delete val="0"/>
        <c:axPos val="l"/>
        <c:majorGridlines>
          <c:spPr>
            <a:ln w="9525" cap="flat">
              <a:solidFill>
                <a:srgbClr val="E3E8EF"/>
              </a:solidFill>
              <a:prstDash val="solid"/>
              <a:round/>
            </a:ln>
          </c:spPr>
        </c:majorGridlines>
        <c:title>
          <c:tx>
            <c:rich>
              <a:bodyPr/>
              <a:lstStyle/>
              <a:p>
                <a:pPr>
                  <a:defRPr sz="1200" b="0" i="0" u="none" strike="noStrike">
                    <a:solidFill>
                      <a:srgbClr val="5B6880"/>
                    </a:solidFill>
                    <a:latin typeface="+mn-lt"/>
                  </a:defRPr>
                </a:pPr>
                <a:r>
                  <a:rPr sz="1200" b="0" i="0" u="none" strike="noStrike">
                    <a:solidFill>
                      <a:srgbClr val="5B6880"/>
                    </a:solidFill>
                    <a:latin typeface="+mn-lt"/>
                  </a:rPr>
                  <a:t>Max-min rate (bps/Hz)</a:t>
                </a:r>
              </a:p>
            </c:rich>
          </c:tx>
          <c:layout/>
          <c:overlay val="0"/>
        </c:title>
        <c:numFmt formatCode="0.0" sourceLinked="0"/>
        <c:majorTickMark val="out"/>
        <c:minorTickMark val="none"/>
        <c:tickLblPos val="nextTo"/>
        <c:spPr>
          <a:ln w="12700" cap="flat">
            <a:noFill/>
            <a:prstDash val="solid"/>
            <a:round/>
          </a:ln>
        </c:spPr>
        <c:txPr>
          <a:bodyPr/>
          <a:lstStyle/>
          <a:p>
            <a:pPr>
              <a:defRPr sz="1100" b="0" i="0" u="none" strike="noStrike">
                <a:solidFill>
                  <a:srgbClr val="5B6880"/>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1B26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5"/>
          <c:h val="0.57"/>
        </c:manualLayout>
      </c:layout>
      <c:lineChart>
        <c:varyColors val="0"/>
        <c:ser>
          <c:idx val="0"/>
          <c:order val="0"/>
          <c:tx>
            <c:strRef>
              <c:f>Sheet1!$B$1</c:f>
              <c:strCache>
                <c:ptCount val="1"/>
                <c:pt idx="0">
                  <c:v>RAQR, optimized LO (proposed)</c:v>
                </c:pt>
              </c:strCache>
            </c:strRef>
          </c:tx>
          <c:spPr>
            <a:solidFill>
              <a:srgbClr val="7A4FD8"/>
            </a:solidFill>
            <a:ln w="34925" cap="flat">
              <a:solidFill>
                <a:srgbClr val="7A4F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A4FD8"/>
              </a:solidFill>
              <a:ln w="15875">
                <a:solidFill>
                  <a:srgbClr val="7A4FD8"/>
                </a:solidFill>
                <a:prstDash val="solid"/>
              </a:ln>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Sheet1!$B$2:$B$12</c:f>
              <c:numCache>
                <c:formatCode>General</c:formatCode>
                <c:ptCount val="11"/>
                <c:pt idx="0">
                  <c:v>6</c:v>
                </c:pt>
                <c:pt idx="1">
                  <c:v>4.86</c:v>
                </c:pt>
                <c:pt idx="2">
                  <c:v>4.07</c:v>
                </c:pt>
                <c:pt idx="3">
                  <c:v>3.47</c:v>
                </c:pt>
                <c:pt idx="4">
                  <c:v>3</c:v>
                </c:pt>
                <c:pt idx="5">
                  <c:v>2.62</c:v>
                </c:pt>
                <c:pt idx="6">
                  <c:v>2.31</c:v>
                </c:pt>
                <c:pt idx="7">
                  <c:v>2.04</c:v>
                </c:pt>
                <c:pt idx="8">
                  <c:v>1.82</c:v>
                </c:pt>
                <c:pt idx="9">
                  <c:v>1.63</c:v>
                </c:pt>
                <c:pt idx="10">
                  <c:v>1.46</c:v>
                </c:pt>
              </c:numCache>
            </c:numRef>
          </c:val>
          <c:smooth val="0"/>
        </c:ser>
        <c:ser>
          <c:idx val="1"/>
          <c:order val="1"/>
          <c:tx>
            <c:strRef>
              <c:f>Sheet1!$C$1</c:f>
              <c:strCache>
                <c:ptCount val="1"/>
                <c:pt idx="0">
                  <c:v>RAQR, fixed LO</c:v>
                </c:pt>
              </c:strCache>
            </c:strRef>
          </c:tx>
          <c:spPr>
            <a:solidFill>
              <a:srgbClr val="0B1E3F"/>
            </a:solidFill>
            <a:ln w="25400" cap="flat">
              <a:solidFill>
                <a:srgbClr val="0B1E3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square"/>
            <c:size val="7"/>
            <c:spPr>
              <a:solidFill>
                <a:srgbClr val="FFFFFF"/>
              </a:solidFill>
              <a:ln w="15875">
                <a:solidFill>
                  <a:srgbClr val="0B1E3F"/>
                </a:solidFill>
                <a:prstDash val="solid"/>
              </a:ln>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Sheet1!$C$2:$C$12</c:f>
              <c:numCache>
                <c:formatCode>General</c:formatCode>
                <c:ptCount val="11"/>
                <c:pt idx="0">
                  <c:v>4.39</c:v>
                </c:pt>
                <c:pt idx="1">
                  <c:v>3.3</c:v>
                </c:pt>
                <c:pt idx="2">
                  <c:v>2.58</c:v>
                </c:pt>
                <c:pt idx="3">
                  <c:v>2.07</c:v>
                </c:pt>
                <c:pt idx="4">
                  <c:v>1.69</c:v>
                </c:pt>
                <c:pt idx="5">
                  <c:v>1.39</c:v>
                </c:pt>
                <c:pt idx="6">
                  <c:v>1.17</c:v>
                </c:pt>
                <c:pt idx="7">
                  <c:v>0.99</c:v>
                </c:pt>
                <c:pt idx="8">
                  <c:v>0.85</c:v>
                </c:pt>
                <c:pt idx="9">
                  <c:v>0.73</c:v>
                </c:pt>
                <c:pt idx="10">
                  <c:v>0.64</c:v>
                </c:pt>
              </c:numCache>
            </c:numRef>
          </c:val>
          <c:smooth val="0"/>
        </c:ser>
        <c:ser>
          <c:idx val="2"/>
          <c:order val="2"/>
          <c:tx>
            <c:strRef>
              <c:f>Sheet1!$D$1</c:f>
              <c:strCache>
                <c:ptCount val="1"/>
                <c:pt idx="0">
                  <c:v>Conventional RF receiver</c:v>
                </c:pt>
              </c:strCache>
            </c:strRef>
          </c:tx>
          <c:spPr>
            <a:solidFill>
              <a:srgbClr val="7C8AA0"/>
            </a:solidFill>
            <a:ln w="25400" cap="flat">
              <a:solidFill>
                <a:srgbClr val="7C8AA0"/>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triangle"/>
            <c:size val="7"/>
            <c:spPr>
              <a:solidFill>
                <a:srgbClr val="FFFFFF"/>
              </a:solidFill>
              <a:ln w="15875">
                <a:solidFill>
                  <a:srgbClr val="7C8AA0"/>
                </a:solidFill>
                <a:prstDash val="solid"/>
              </a:ln>
            </c:spPr>
          </c:marker>
          <c:cat>
            <c:multiLvlStrRef>
              <c:f>Sheet1!$A$2:$A$12</c:f>
              <c:multiLvlStrCache>
                <c:ptCount val="11"/>
                <c:lvl>
                  <c:pt idx="0">
                    <c:v>500</c:v>
                  </c:pt>
                  <c:pt idx="1">
                    <c:v>750</c:v>
                  </c:pt>
                  <c:pt idx="2">
                    <c:v>1,000</c:v>
                  </c:pt>
                  <c:pt idx="3">
                    <c:v>1,250</c:v>
                  </c:pt>
                  <c:pt idx="4">
                    <c:v>1,500</c:v>
                  </c:pt>
                  <c:pt idx="5">
                    <c:v>1,750</c:v>
                  </c:pt>
                  <c:pt idx="6">
                    <c:v>2,000</c:v>
                  </c:pt>
                  <c:pt idx="7">
                    <c:v>2,250</c:v>
                  </c:pt>
                  <c:pt idx="8">
                    <c:v>2,500</c:v>
                  </c:pt>
                  <c:pt idx="9">
                    <c:v>2,750</c:v>
                  </c:pt>
                  <c:pt idx="10">
                    <c:v>3,000</c:v>
                  </c:pt>
                </c:lvl>
              </c:multiLvlStrCache>
            </c:multiLvlStrRef>
          </c:cat>
          <c:val>
            <c:numRef>
              <c:f>Sheet1!$D$2:$D$12</c:f>
              <c:numCache>
                <c:formatCode>General</c:formatCode>
                <c:ptCount val="11"/>
                <c:pt idx="0">
                  <c:v>2.87</c:v>
                </c:pt>
                <c:pt idx="1">
                  <c:v>1.93</c:v>
                </c:pt>
                <c:pt idx="2">
                  <c:v>1.37</c:v>
                </c:pt>
                <c:pt idx="3">
                  <c:v>1.01</c:v>
                </c:pt>
                <c:pt idx="4">
                  <c:v>0.77</c:v>
                </c:pt>
                <c:pt idx="5">
                  <c:v>0.6</c:v>
                </c:pt>
                <c:pt idx="6">
                  <c:v>0.48</c:v>
                </c:pt>
                <c:pt idx="7">
                  <c:v>0.39</c:v>
                </c:pt>
                <c:pt idx="8">
                  <c:v>0.32</c:v>
                </c:pt>
                <c:pt idx="9">
                  <c:v>0.27</c:v>
                </c:pt>
                <c:pt idx="10">
                  <c:v>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80"/>
                    </a:solidFill>
                    <a:latin typeface="+mn-lt"/>
                  </a:defRPr>
                </a:pPr>
                <a:r>
                  <a:rPr sz="1200" b="0" i="0" u="none" strike="noStrike">
                    <a:solidFill>
                      <a:srgbClr val="5B6880"/>
                    </a:solidFill>
                    <a:latin typeface="+mn-lt"/>
                  </a:rPr>
                  <a:t>Slant range (km)</a:t>
                </a:r>
              </a:p>
            </c:rich>
          </c:tx>
          <c:layout/>
          <c:overlay val="0"/>
        </c:title>
        <c:numFmt formatCode="General" sourceLinked="1"/>
        <c:majorTickMark val="out"/>
        <c:minorTickMark val="none"/>
        <c:tickLblPos val="low"/>
        <c:spPr>
          <a:ln w="12700" cap="flat">
            <a:solidFill>
              <a:srgbClr val="B8C2CF"/>
            </a:solidFill>
            <a:prstDash val="solid"/>
            <a:round/>
          </a:ln>
        </c:spPr>
        <c:txPr>
          <a:bodyPr/>
          <a:lstStyle/>
          <a:p>
            <a:pPr>
              <a:defRPr sz="1100" b="0" i="0" u="none" strike="noStrike">
                <a:solidFill>
                  <a:srgbClr val="5B6880"/>
                </a:solidFill>
                <a:latin typeface="+mn-lt"/>
              </a:defRPr>
            </a:pPr>
            <a:endParaRPr lang="en-US"/>
          </a:p>
        </c:txPr>
        <c:crossAx val="2094734552"/>
        <c:crosses val="autoZero"/>
        <c:auto val="1"/>
        <c:lblAlgn val="ctr"/>
        <c:noMultiLvlLbl val="1"/>
        <c:tickLblSkip val="2"/>
      </c:catAx>
      <c:valAx>
        <c:axId val="2094734552"/>
        <c:scaling>
          <c:orientation val="minMax"/>
          <c:max val="7"/>
          <c:min val="0"/>
        </c:scaling>
        <c:delete val="0"/>
        <c:axPos val="l"/>
        <c:majorGridlines>
          <c:spPr>
            <a:ln w="9525" cap="flat">
              <a:solidFill>
                <a:srgbClr val="E3E8EF"/>
              </a:solidFill>
              <a:prstDash val="solid"/>
              <a:round/>
            </a:ln>
          </c:spPr>
        </c:majorGridlines>
        <c:title>
          <c:tx>
            <c:rich>
              <a:bodyPr/>
              <a:lstStyle/>
              <a:p>
                <a:pPr>
                  <a:defRPr sz="1200" b="0" i="0" u="none" strike="noStrike">
                    <a:solidFill>
                      <a:srgbClr val="5B6880"/>
                    </a:solidFill>
                    <a:latin typeface="+mn-lt"/>
                  </a:defRPr>
                </a:pPr>
                <a:r>
                  <a:rPr sz="1200" b="0" i="0" u="none" strike="noStrike">
                    <a:solidFill>
                      <a:srgbClr val="5B6880"/>
                    </a:solidFill>
                    <a:latin typeface="+mn-lt"/>
                  </a:rPr>
                  <a:t>Rate (bps/Hz)</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880"/>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B26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5"/>
          <c:h val="0.57"/>
        </c:manualLayout>
      </c:layout>
      <c:lineChart>
        <c:varyColors val="0"/>
        <c:ser>
          <c:idx val="0"/>
          <c:order val="0"/>
          <c:tx>
            <c:strRef>
              <c:f>Sheet1!$B$1</c:f>
              <c:strCache>
                <c:ptCount val="1"/>
                <c:pt idx="0">
                  <c:v>M = 16 cells</c:v>
                </c:pt>
              </c:strCache>
            </c:strRef>
          </c:tx>
          <c:spPr>
            <a:solidFill>
              <a:srgbClr val="7A4FD8"/>
            </a:solidFill>
            <a:ln w="34925" cap="flat">
              <a:solidFill>
                <a:srgbClr val="7A4F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7A4FD8"/>
              </a:solidFill>
              <a:ln w="15875">
                <a:solidFill>
                  <a:srgbClr val="7A4FD8"/>
                </a:solidFill>
                <a:prstDash val="solid"/>
              </a:ln>
            </c:spPr>
          </c:marker>
          <c:cat>
            <c:multiLvlStrRef>
              <c:f>Sheet1!$A$2:$A$8</c:f>
              <c:multiLvlStrCache>
                <c:ptCount val="7"/>
                <c:lvl>
                  <c:pt idx="0">
                    <c:v>0.1</c:v>
                  </c:pt>
                  <c:pt idx="1">
                    <c:v>0.2</c:v>
                  </c:pt>
                  <c:pt idx="2">
                    <c:v>0.5</c:v>
                  </c:pt>
                  <c:pt idx="3">
                    <c:v>1</c:v>
                  </c:pt>
                  <c:pt idx="4">
                    <c:v>2</c:v>
                  </c:pt>
                  <c:pt idx="5">
                    <c:v>5</c:v>
                  </c:pt>
                  <c:pt idx="6">
                    <c:v>10</c:v>
                  </c:pt>
                </c:lvl>
              </c:multiLvlStrCache>
            </c:multiLvlStrRef>
          </c:cat>
          <c:val>
            <c:numRef>
              <c:f>Sheet1!$B$2:$B$8</c:f>
              <c:numCache>
                <c:formatCode>General</c:formatCode>
                <c:ptCount val="7"/>
                <c:pt idx="0">
                  <c:v>6</c:v>
                </c:pt>
                <c:pt idx="1">
                  <c:v>11.7</c:v>
                </c:pt>
                <c:pt idx="2">
                  <c:v>18.1</c:v>
                </c:pt>
                <c:pt idx="3">
                  <c:v>19.9</c:v>
                </c:pt>
                <c:pt idx="4">
                  <c:v>17.6</c:v>
                </c:pt>
                <c:pt idx="5">
                  <c:v>9.5</c:v>
                </c:pt>
                <c:pt idx="6">
                  <c:v>0.2</c:v>
                </c:pt>
              </c:numCache>
            </c:numRef>
          </c:val>
          <c:smooth val="0"/>
        </c:ser>
        <c:ser>
          <c:idx val="1"/>
          <c:order val="1"/>
          <c:tx>
            <c:strRef>
              <c:f>Sheet1!$C$1</c:f>
              <c:strCache>
                <c:ptCount val="1"/>
                <c:pt idx="0">
                  <c:v>M = 4 cells</c:v>
                </c:pt>
              </c:strCache>
            </c:strRef>
          </c:tx>
          <c:spPr>
            <a:solidFill>
              <a:srgbClr val="0B1E3F"/>
            </a:solidFill>
            <a:ln w="25400" cap="flat">
              <a:solidFill>
                <a:srgbClr val="0B1E3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square"/>
            <c:size val="7"/>
            <c:spPr>
              <a:solidFill>
                <a:srgbClr val="FFFFFF"/>
              </a:solidFill>
              <a:ln w="15875">
                <a:solidFill>
                  <a:srgbClr val="0B1E3F"/>
                </a:solidFill>
                <a:prstDash val="solid"/>
              </a:ln>
            </c:spPr>
          </c:marker>
          <c:cat>
            <c:multiLvlStrRef>
              <c:f>Sheet1!$A$2:$A$8</c:f>
              <c:multiLvlStrCache>
                <c:ptCount val="7"/>
                <c:lvl>
                  <c:pt idx="0">
                    <c:v>0.1</c:v>
                  </c:pt>
                  <c:pt idx="1">
                    <c:v>0.2</c:v>
                  </c:pt>
                  <c:pt idx="2">
                    <c:v>0.5</c:v>
                  </c:pt>
                  <c:pt idx="3">
                    <c:v>1</c:v>
                  </c:pt>
                  <c:pt idx="4">
                    <c:v>2</c:v>
                  </c:pt>
                  <c:pt idx="5">
                    <c:v>5</c:v>
                  </c:pt>
                  <c:pt idx="6">
                    <c:v>10</c:v>
                  </c:pt>
                </c:lvl>
              </c:multiLvlStrCache>
            </c:multiLvlStrRef>
          </c:cat>
          <c:val>
            <c:numRef>
              <c:f>Sheet1!$C$2:$C$8</c:f>
              <c:numCache>
                <c:formatCode>General</c:formatCode>
                <c:ptCount val="7"/>
                <c:pt idx="0">
                  <c:v>0</c:v>
                </c:pt>
                <c:pt idx="1">
                  <c:v>5.7</c:v>
                </c:pt>
                <c:pt idx="2">
                  <c:v>12.1</c:v>
                </c:pt>
                <c:pt idx="3">
                  <c:v>13.9</c:v>
                </c:pt>
                <c:pt idx="4">
                  <c:v>11.6</c:v>
                </c:pt>
                <c:pt idx="5">
                  <c:v>3.4</c:v>
                </c:pt>
                <c:pt idx="6">
                  <c:v>-5.8</c:v>
                </c:pt>
              </c:numCache>
            </c:numRef>
          </c:val>
          <c:smooth val="0"/>
        </c:ser>
        <c:ser>
          <c:idx val="2"/>
          <c:order val="2"/>
          <c:tx>
            <c:strRef>
              <c:f>Sheet1!$D$1</c:f>
              <c:strCache>
                <c:ptCount val="1"/>
                <c:pt idx="0">
                  <c:v>M = 1 cell</c:v>
                </c:pt>
              </c:strCache>
            </c:strRef>
          </c:tx>
          <c:spPr>
            <a:solidFill>
              <a:srgbClr val="7C8AA0"/>
            </a:solidFill>
            <a:ln w="25400" cap="flat">
              <a:solidFill>
                <a:srgbClr val="7C8AA0"/>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triangle"/>
            <c:size val="7"/>
            <c:spPr>
              <a:solidFill>
                <a:srgbClr val="FFFFFF"/>
              </a:solidFill>
              <a:ln w="15875">
                <a:solidFill>
                  <a:srgbClr val="7C8AA0"/>
                </a:solidFill>
                <a:prstDash val="solid"/>
              </a:ln>
            </c:spPr>
          </c:marker>
          <c:cat>
            <c:multiLvlStrRef>
              <c:f>Sheet1!$A$2:$A$8</c:f>
              <c:multiLvlStrCache>
                <c:ptCount val="7"/>
                <c:lvl>
                  <c:pt idx="0">
                    <c:v>0.1</c:v>
                  </c:pt>
                  <c:pt idx="1">
                    <c:v>0.2</c:v>
                  </c:pt>
                  <c:pt idx="2">
                    <c:v>0.5</c:v>
                  </c:pt>
                  <c:pt idx="3">
                    <c:v>1</c:v>
                  </c:pt>
                  <c:pt idx="4">
                    <c:v>2</c:v>
                  </c:pt>
                  <c:pt idx="5">
                    <c:v>5</c:v>
                  </c:pt>
                  <c:pt idx="6">
                    <c:v>10</c:v>
                  </c:pt>
                </c:lvl>
              </c:multiLvlStrCache>
            </c:multiLvlStrRef>
          </c:cat>
          <c:val>
            <c:numRef>
              <c:f>Sheet1!$D$2:$D$8</c:f>
              <c:numCache>
                <c:formatCode>General</c:formatCode>
                <c:ptCount val="7"/>
                <c:pt idx="0">
                  <c:v>-6.1</c:v>
                </c:pt>
                <c:pt idx="1">
                  <c:v>-0.3</c:v>
                </c:pt>
                <c:pt idx="2">
                  <c:v>6</c:v>
                </c:pt>
                <c:pt idx="3">
                  <c:v>7.9</c:v>
                </c:pt>
                <c:pt idx="4">
                  <c:v>5.6</c:v>
                </c:pt>
                <c:pt idx="5">
                  <c:v>-2.6</c:v>
                </c:pt>
                <c:pt idx="6">
                  <c:v>-11.8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80"/>
                    </a:solidFill>
                    <a:latin typeface="+mn-lt"/>
                  </a:defRPr>
                </a:pPr>
                <a:r>
                  <a:rPr sz="1200" b="0" i="0" u="none" strike="noStrike">
                    <a:solidFill>
                      <a:srgbClr val="5B6880"/>
                    </a:solidFill>
                    <a:latin typeface="+mn-lt"/>
                  </a:rPr>
                  <a:t>LO amplitude (normalized to optimum)</a:t>
                </a:r>
              </a:p>
            </c:rich>
          </c:tx>
          <c:layout/>
          <c:overlay val="0"/>
        </c:title>
        <c:numFmt formatCode="General" sourceLinked="1"/>
        <c:majorTickMark val="out"/>
        <c:minorTickMark val="none"/>
        <c:tickLblPos val="low"/>
        <c:spPr>
          <a:ln w="12700" cap="flat">
            <a:solidFill>
              <a:srgbClr val="B8C2CF"/>
            </a:solidFill>
            <a:prstDash val="solid"/>
            <a:round/>
          </a:ln>
        </c:spPr>
        <c:txPr>
          <a:bodyPr/>
          <a:lstStyle/>
          <a:p>
            <a:pPr>
              <a:defRPr sz="1100" b="0" i="0" u="none" strike="noStrike">
                <a:solidFill>
                  <a:srgbClr val="5B6880"/>
                </a:solidFill>
                <a:latin typeface="+mn-lt"/>
              </a:defRPr>
            </a:pPr>
            <a:endParaRPr lang="en-US"/>
          </a:p>
        </c:txPr>
        <c:crossAx val="2094734552"/>
        <c:crosses val="autoZero"/>
        <c:auto val="1"/>
        <c:lblAlgn val="ctr"/>
        <c:noMultiLvlLbl val="1"/>
        <c:tickLblSkip val="1"/>
      </c:catAx>
      <c:valAx>
        <c:axId val="2094734552"/>
        <c:scaling>
          <c:orientation val="minMax"/>
          <c:max val="25"/>
          <c:min val="-15"/>
        </c:scaling>
        <c:delete val="0"/>
        <c:axPos val="l"/>
        <c:majorGridlines>
          <c:spPr>
            <a:ln w="9525" cap="flat">
              <a:solidFill>
                <a:srgbClr val="E3E8EF"/>
              </a:solidFill>
              <a:prstDash val="solid"/>
              <a:round/>
            </a:ln>
          </c:spPr>
        </c:majorGridlines>
        <c:title>
          <c:tx>
            <c:rich>
              <a:bodyPr/>
              <a:lstStyle/>
              <a:p>
                <a:pPr>
                  <a:defRPr sz="1200" b="0" i="0" u="none" strike="noStrike">
                    <a:solidFill>
                      <a:srgbClr val="5B6880"/>
                    </a:solidFill>
                    <a:latin typeface="+mn-lt"/>
                  </a:defRPr>
                </a:pPr>
                <a:r>
                  <a:rPr sz="1200" b="0" i="0" u="none" strike="noStrike">
                    <a:solidFill>
                      <a:srgbClr val="5B6880"/>
                    </a:solidFill>
                    <a:latin typeface="+mn-lt"/>
                  </a:rPr>
                  <a:t>Output SNR (dB)</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880"/>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1B26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5"/>
          <c:h val="0.57"/>
        </c:manualLayout>
      </c:layout>
      <c:lineChart>
        <c:varyColors val="0"/>
        <c:ser>
          <c:idx val="0"/>
          <c:order val="0"/>
          <c:tx>
            <c:strRef>
              <c:f>Sheet1!$B$1</c:f>
              <c:strCache>
                <c:ptCount val="1"/>
                <c:pt idx="0">
                  <c:v>MAPPO-CTDE (proposed)</c:v>
                </c:pt>
              </c:strCache>
            </c:strRef>
          </c:tx>
          <c:spPr>
            <a:solidFill>
              <a:srgbClr val="E07B22"/>
            </a:solidFill>
            <a:ln w="34925" cap="flat">
              <a:solidFill>
                <a:srgbClr val="E07B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E07B22"/>
              </a:solidFill>
              <a:ln w="9525" cap="flat">
                <a:solidFill>
                  <a:srgbClr val="E07B22"/>
                </a:solidFill>
                <a:prstDash val="solid"/>
                <a:round/>
              </a:ln>
              <a:effectLst/>
            </c:spPr>
          </c:marker>
          <c:cat>
            <c:multiLvlStrRef>
              <c:f>Sheet1!$A$2:$A$17</c:f>
              <c:multiLvlStrCache>
                <c:ptCount val="16"/>
                <c:lvl>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Sheet1!$B$2:$B$17</c:f>
              <c:numCache>
                <c:formatCode>General</c:formatCode>
                <c:ptCount val="16"/>
                <c:pt idx="0">
                  <c:v>-12.3</c:v>
                </c:pt>
                <c:pt idx="1">
                  <c:v>17.4</c:v>
                </c:pt>
                <c:pt idx="2">
                  <c:v>40.7</c:v>
                </c:pt>
                <c:pt idx="3">
                  <c:v>58.9</c:v>
                </c:pt>
                <c:pt idx="4">
                  <c:v>70</c:v>
                </c:pt>
                <c:pt idx="5">
                  <c:v>78.6</c:v>
                </c:pt>
                <c:pt idx="6">
                  <c:v>84.6</c:v>
                </c:pt>
                <c:pt idx="7">
                  <c:v>88</c:v>
                </c:pt>
                <c:pt idx="8">
                  <c:v>91.3</c:v>
                </c:pt>
                <c:pt idx="9">
                  <c:v>92.5</c:v>
                </c:pt>
                <c:pt idx="10">
                  <c:v>92.4</c:v>
                </c:pt>
                <c:pt idx="11">
                  <c:v>93.1</c:v>
                </c:pt>
                <c:pt idx="12">
                  <c:v>92.6</c:v>
                </c:pt>
                <c:pt idx="13">
                  <c:v>93.6</c:v>
                </c:pt>
                <c:pt idx="14">
                  <c:v>93.7</c:v>
                </c:pt>
                <c:pt idx="15">
                  <c:v>96.8</c:v>
                </c:pt>
              </c:numCache>
            </c:numRef>
          </c:val>
          <c:smooth val="0"/>
        </c:ser>
        <c:ser>
          <c:idx val="1"/>
          <c:order val="1"/>
          <c:tx>
            <c:strRef>
              <c:f>Sheet1!$C$1</c:f>
              <c:strCache>
                <c:ptCount val="1"/>
                <c:pt idx="0">
                  <c:v>MADDPG</c:v>
                </c:pt>
              </c:strCache>
            </c:strRef>
          </c:tx>
          <c:spPr>
            <a:solidFill>
              <a:srgbClr val="0B1E3F"/>
            </a:solidFill>
            <a:ln w="25400" cap="flat">
              <a:solidFill>
                <a:srgbClr val="0B1E3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0B1E3F"/>
              </a:solidFill>
              <a:ln w="9525" cap="flat">
                <a:solidFill>
                  <a:srgbClr val="0B1E3F"/>
                </a:solidFill>
                <a:prstDash val="solid"/>
                <a:round/>
              </a:ln>
              <a:effectLst/>
            </c:spPr>
          </c:marker>
          <c:cat>
            <c:multiLvlStrRef>
              <c:f>Sheet1!$A$2:$A$17</c:f>
              <c:multiLvlStrCache>
                <c:ptCount val="16"/>
                <c:lvl>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Sheet1!$C$2:$C$17</c:f>
              <c:numCache>
                <c:formatCode>General</c:formatCode>
                <c:ptCount val="16"/>
                <c:pt idx="0">
                  <c:v>-21.4</c:v>
                </c:pt>
                <c:pt idx="1">
                  <c:v>-8.3</c:v>
                </c:pt>
                <c:pt idx="2">
                  <c:v>12</c:v>
                </c:pt>
                <c:pt idx="3">
                  <c:v>27.9</c:v>
                </c:pt>
                <c:pt idx="4">
                  <c:v>37.6</c:v>
                </c:pt>
                <c:pt idx="5">
                  <c:v>49.8</c:v>
                </c:pt>
                <c:pt idx="6">
                  <c:v>54.2</c:v>
                </c:pt>
                <c:pt idx="7">
                  <c:v>57.2</c:v>
                </c:pt>
                <c:pt idx="8">
                  <c:v>64.3</c:v>
                </c:pt>
                <c:pt idx="9">
                  <c:v>70.5</c:v>
                </c:pt>
                <c:pt idx="10">
                  <c:v>75.2</c:v>
                </c:pt>
                <c:pt idx="11">
                  <c:v>76.4</c:v>
                </c:pt>
                <c:pt idx="12">
                  <c:v>76.1</c:v>
                </c:pt>
                <c:pt idx="13">
                  <c:v>76.5</c:v>
                </c:pt>
                <c:pt idx="14">
                  <c:v>76.2</c:v>
                </c:pt>
                <c:pt idx="15">
                  <c:v>80.4</c:v>
                </c:pt>
              </c:numCache>
            </c:numRef>
          </c:val>
          <c:smooth val="0"/>
        </c:ser>
        <c:ser>
          <c:idx val="2"/>
          <c:order val="2"/>
          <c:tx>
            <c:strRef>
              <c:f>Sheet1!$D$1</c:f>
              <c:strCache>
                <c:ptCount val="1"/>
                <c:pt idx="0">
                  <c:v>IPPO</c:v>
                </c:pt>
              </c:strCache>
            </c:strRef>
          </c:tx>
          <c:spPr>
            <a:solidFill>
              <a:srgbClr val="7C8AA0"/>
            </a:solidFill>
            <a:ln w="25400" cap="flat">
              <a:solidFill>
                <a:srgbClr val="7C8AA0"/>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7C8AA0"/>
              </a:solidFill>
              <a:ln w="9525" cap="flat">
                <a:solidFill>
                  <a:srgbClr val="7C8AA0"/>
                </a:solidFill>
                <a:prstDash val="solid"/>
                <a:round/>
              </a:ln>
              <a:effectLst/>
            </c:spPr>
          </c:marker>
          <c:cat>
            <c:multiLvlStrRef>
              <c:f>Sheet1!$A$2:$A$17</c:f>
              <c:multiLvlStrCache>
                <c:ptCount val="16"/>
                <c:lvl>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Sheet1!$D$2:$D$17</c:f>
              <c:numCache>
                <c:formatCode>General</c:formatCode>
                <c:ptCount val="16"/>
                <c:pt idx="0">
                  <c:v>-16.9</c:v>
                </c:pt>
                <c:pt idx="1">
                  <c:v>1.2</c:v>
                </c:pt>
                <c:pt idx="2">
                  <c:v>17.9</c:v>
                </c:pt>
                <c:pt idx="3">
                  <c:v>30.2</c:v>
                </c:pt>
                <c:pt idx="4">
                  <c:v>40.4</c:v>
                </c:pt>
                <c:pt idx="5">
                  <c:v>46.9</c:v>
                </c:pt>
                <c:pt idx="6">
                  <c:v>54.3</c:v>
                </c:pt>
                <c:pt idx="7">
                  <c:v>55.3</c:v>
                </c:pt>
                <c:pt idx="8">
                  <c:v>58</c:v>
                </c:pt>
                <c:pt idx="9">
                  <c:v>58.8</c:v>
                </c:pt>
                <c:pt idx="10">
                  <c:v>60.7</c:v>
                </c:pt>
                <c:pt idx="11">
                  <c:v>61.4</c:v>
                </c:pt>
                <c:pt idx="12">
                  <c:v>58.7</c:v>
                </c:pt>
                <c:pt idx="13">
                  <c:v>62.9</c:v>
                </c:pt>
                <c:pt idx="14">
                  <c:v>64.6</c:v>
                </c:pt>
                <c:pt idx="15">
                  <c:v>60.2</c:v>
                </c:pt>
              </c:numCache>
            </c:numRef>
          </c:val>
          <c:smooth val="0"/>
        </c:ser>
        <c:ser>
          <c:idx val="3"/>
          <c:order val="3"/>
          <c:tx>
            <c:strRef>
              <c:f>Sheet1!$E$1</c:f>
              <c:strCache>
                <c:ptCount val="1"/>
                <c:pt idx="0">
                  <c:v>Random policy</c:v>
                </c:pt>
              </c:strCache>
            </c:strRef>
          </c:tx>
          <c:spPr>
            <a:solidFill>
              <a:srgbClr val="B3BDCB"/>
            </a:solidFill>
            <a:ln w="25400" cap="flat">
              <a:solidFill>
                <a:srgbClr val="B3BDCB"/>
              </a:solidFill>
              <a:prstDash val="lg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7"/>
            <c:spPr>
              <a:solidFill>
                <a:srgbClr val="B3BDCB"/>
              </a:solidFill>
              <a:ln w="9525" cap="flat">
                <a:solidFill>
                  <a:srgbClr val="B3BDCB"/>
                </a:solidFill>
                <a:prstDash val="solid"/>
                <a:round/>
              </a:ln>
              <a:effectLst/>
            </c:spPr>
          </c:marker>
          <c:cat>
            <c:multiLvlStrRef>
              <c:f>Sheet1!$A$2:$A$17</c:f>
              <c:multiLvlStrCache>
                <c:ptCount val="16"/>
                <c:lvl>
                  <c:pt idx="0">
                    <c:v>0.0</c:v>
                  </c:pt>
                  <c:pt idx="1">
                    <c:v>0.2</c:v>
                  </c:pt>
                  <c:pt idx="2">
                    <c:v>0.4</c:v>
                  </c:pt>
                  <c:pt idx="3">
                    <c:v>0.6</c:v>
                  </c:pt>
                  <c:pt idx="4">
                    <c:v>0.8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Sheet1!$E$2:$E$17</c:f>
              <c:numCache>
                <c:formatCode>General</c:formatCode>
                <c:ptCount val="16"/>
                <c:pt idx="0">
                  <c:v>-16.2</c:v>
                </c:pt>
                <c:pt idx="1">
                  <c:v>-15.8</c:v>
                </c:pt>
                <c:pt idx="2">
                  <c:v>-15.7</c:v>
                </c:pt>
                <c:pt idx="3">
                  <c:v>-15.4</c:v>
                </c:pt>
                <c:pt idx="4">
                  <c:v>-14.6</c:v>
                </c:pt>
                <c:pt idx="5">
                  <c:v>-14.3</c:v>
                </c:pt>
                <c:pt idx="6">
                  <c:v>-15.2</c:v>
                </c:pt>
                <c:pt idx="7">
                  <c:v>-13.9</c:v>
                </c:pt>
                <c:pt idx="8">
                  <c:v>-14.2</c:v>
                </c:pt>
                <c:pt idx="9">
                  <c:v>-12.1</c:v>
                </c:pt>
                <c:pt idx="10">
                  <c:v>-13.2</c:v>
                </c:pt>
                <c:pt idx="11">
                  <c:v>-14.3</c:v>
                </c:pt>
                <c:pt idx="12">
                  <c:v>-12.5</c:v>
                </c:pt>
                <c:pt idx="13">
                  <c:v>-14.4</c:v>
                </c:pt>
                <c:pt idx="14">
                  <c:v>-14.3</c:v>
                </c:pt>
                <c:pt idx="15">
                  <c:v>-14.5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80"/>
                    </a:solidFill>
                    <a:latin typeface="+mn-lt"/>
                  </a:defRPr>
                </a:pPr>
                <a:r>
                  <a:rPr sz="1200" b="0" i="0" u="none" strike="noStrike">
                    <a:solidFill>
                      <a:srgbClr val="5B6880"/>
                    </a:solidFill>
                    <a:latin typeface="+mn-lt"/>
                  </a:rPr>
                  <a:t>Training episodes (×10³)</a:t>
                </a:r>
              </a:p>
            </c:rich>
          </c:tx>
          <c:layout/>
          <c:overlay val="0"/>
        </c:title>
        <c:numFmt formatCode="General" sourceLinked="1"/>
        <c:majorTickMark val="out"/>
        <c:minorTickMark val="none"/>
        <c:tickLblPos val="low"/>
        <c:spPr>
          <a:ln w="12700" cap="flat">
            <a:solidFill>
              <a:srgbClr val="B8C2CF"/>
            </a:solidFill>
            <a:prstDash val="solid"/>
            <a:round/>
          </a:ln>
        </c:spPr>
        <c:txPr>
          <a:bodyPr/>
          <a:lstStyle/>
          <a:p>
            <a:pPr>
              <a:defRPr sz="1100" b="0" i="0" u="none" strike="noStrike">
                <a:solidFill>
                  <a:srgbClr val="5B6880"/>
                </a:solidFill>
                <a:latin typeface="+mn-lt"/>
              </a:defRPr>
            </a:pPr>
            <a:endParaRPr lang="en-US"/>
          </a:p>
        </c:txPr>
        <c:crossAx val="2094734552"/>
        <c:crosses val="autoZero"/>
        <c:auto val="1"/>
        <c:lblAlgn val="ctr"/>
        <c:noMultiLvlLbl val="1"/>
        <c:tickLblSkip val="1"/>
      </c:catAx>
      <c:valAx>
        <c:axId val="2094734552"/>
        <c:scaling>
          <c:orientation val="minMax"/>
          <c:max val="120"/>
          <c:min val="-40"/>
        </c:scaling>
        <c:delete val="0"/>
        <c:axPos val="l"/>
        <c:majorGridlines>
          <c:spPr>
            <a:ln w="9525" cap="flat">
              <a:solidFill>
                <a:srgbClr val="E3E8EF"/>
              </a:solidFill>
              <a:prstDash val="solid"/>
              <a:round/>
            </a:ln>
          </c:spPr>
        </c:majorGridlines>
        <c:title>
          <c:tx>
            <c:rich>
              <a:bodyPr/>
              <a:lstStyle/>
              <a:p>
                <a:pPr>
                  <a:defRPr sz="1200" b="0" i="0" u="none" strike="noStrike">
                    <a:solidFill>
                      <a:srgbClr val="5B6880"/>
                    </a:solidFill>
                    <a:latin typeface="+mn-lt"/>
                  </a:defRPr>
                </a:pPr>
                <a:r>
                  <a:rPr sz="1200" b="0" i="0" u="none" strike="noStrike">
                    <a:solidFill>
                      <a:srgbClr val="5B6880"/>
                    </a:solidFill>
                    <a:latin typeface="+mn-lt"/>
                  </a:rPr>
                  <a:t>Average episode reward</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880"/>
                </a:solidFill>
                <a:latin typeface="+mn-lt"/>
              </a:defRPr>
            </a:pPr>
            <a:endParaRPr lang="en-US"/>
          </a:p>
        </c:txPr>
        <c:crossAx val="2094734554"/>
        <c:crosses val="autoZero"/>
        <c:crossBetween val="between"/>
        <c:majorUnit val="40"/>
      </c:valAx>
      <c:spPr>
        <a:noFill/>
        <a:ln>
          <a:noFill/>
        </a:ln>
        <a:effectLst/>
      </c:spPr>
    </c:plotArea>
    <c:legend>
      <c:legendPos val="b"/>
      <c:overlay val="0"/>
      <c:txPr>
        <a:bodyPr/>
        <a:lstStyle/>
        <a:p>
          <a:pPr>
            <a:defRPr sz="1100">
              <a:solidFill>
                <a:srgbClr val="1B263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2"/>
          <c:y val="0.05"/>
          <c:w val="0.85"/>
          <c:h val="0.57"/>
        </c:manualLayout>
      </c:layout>
      <c:lineChart>
        <c:varyColors val="0"/>
        <c:ser>
          <c:idx val="0"/>
          <c:order val="0"/>
          <c:tx>
            <c:strRef>
              <c:f>Sheet1!$B$1</c:f>
              <c:strCache>
                <c:ptCount val="1"/>
                <c:pt idx="0">
                  <c:v>MADRL + RSMA (proposed)</c:v>
                </c:pt>
              </c:strCache>
            </c:strRef>
          </c:tx>
          <c:spPr>
            <a:solidFill>
              <a:srgbClr val="E07B22"/>
            </a:solidFill>
            <a:ln w="34925" cap="flat">
              <a:solidFill>
                <a:srgbClr val="E07B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07B22"/>
              </a:solidFill>
              <a:ln w="15875">
                <a:solidFill>
                  <a:srgbClr val="E07B22"/>
                </a:solidFill>
                <a:prstDash val="solid"/>
              </a:ln>
            </c:spPr>
          </c:marker>
          <c:cat>
            <c:multiLvlStrRef>
              <c:f>Sheet1!$A$2:$A$7</c:f>
              <c:multiLvlStrCache>
                <c:ptCount val="6"/>
                <c:lvl>
                  <c:pt idx="0">
                    <c:v>6</c:v>
                  </c:pt>
                  <c:pt idx="1">
                    <c:v>12</c:v>
                  </c:pt>
                  <c:pt idx="2">
                    <c:v>18</c:v>
                  </c:pt>
                  <c:pt idx="3">
                    <c:v>24</c:v>
                  </c:pt>
                  <c:pt idx="4">
                    <c:v>30</c:v>
                  </c:pt>
                  <c:pt idx="5">
                    <c:v>36</c:v>
                  </c:pt>
                </c:lvl>
              </c:multiLvlStrCache>
            </c:multiLvlStrRef>
          </c:cat>
          <c:val>
            <c:numRef>
              <c:f>Sheet1!$B$2:$B$7</c:f>
              <c:numCache>
                <c:formatCode>General</c:formatCode>
                <c:ptCount val="6"/>
                <c:pt idx="0">
                  <c:v>13.3</c:v>
                </c:pt>
                <c:pt idx="1">
                  <c:v>21.7</c:v>
                </c:pt>
                <c:pt idx="2">
                  <c:v>27</c:v>
                </c:pt>
                <c:pt idx="3">
                  <c:v>30.3</c:v>
                </c:pt>
                <c:pt idx="4">
                  <c:v>32.4</c:v>
                </c:pt>
                <c:pt idx="5">
                  <c:v>33.7</c:v>
                </c:pt>
              </c:numCache>
            </c:numRef>
          </c:val>
          <c:smooth val="0"/>
        </c:ser>
        <c:ser>
          <c:idx val="1"/>
          <c:order val="1"/>
          <c:tx>
            <c:strRef>
              <c:f>Sheet1!$C$1</c:f>
              <c:strCache>
                <c:ptCount val="1"/>
                <c:pt idx="0">
                  <c:v>MADRL + SDMA</c:v>
                </c:pt>
              </c:strCache>
            </c:strRef>
          </c:tx>
          <c:spPr>
            <a:solidFill>
              <a:srgbClr val="0B1E3F"/>
            </a:solidFill>
            <a:ln w="25400" cap="flat">
              <a:solidFill>
                <a:srgbClr val="0B1E3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square"/>
            <c:size val="7"/>
            <c:spPr>
              <a:solidFill>
                <a:srgbClr val="FFFFFF"/>
              </a:solidFill>
              <a:ln w="15875">
                <a:solidFill>
                  <a:srgbClr val="0B1E3F"/>
                </a:solidFill>
                <a:prstDash val="solid"/>
              </a:ln>
            </c:spPr>
          </c:marker>
          <c:cat>
            <c:multiLvlStrRef>
              <c:f>Sheet1!$A$2:$A$7</c:f>
              <c:multiLvlStrCache>
                <c:ptCount val="6"/>
                <c:lvl>
                  <c:pt idx="0">
                    <c:v>6</c:v>
                  </c:pt>
                  <c:pt idx="1">
                    <c:v>12</c:v>
                  </c:pt>
                  <c:pt idx="2">
                    <c:v>18</c:v>
                  </c:pt>
                  <c:pt idx="3">
                    <c:v>24</c:v>
                  </c:pt>
                  <c:pt idx="4">
                    <c:v>30</c:v>
                  </c:pt>
                  <c:pt idx="5">
                    <c:v>36</c:v>
                  </c:pt>
                </c:lvl>
              </c:multiLvlStrCache>
            </c:multiLvlStrRef>
          </c:cat>
          <c:val>
            <c:numRef>
              <c:f>Sheet1!$C$2:$C$7</c:f>
              <c:numCache>
                <c:formatCode>General</c:formatCode>
                <c:ptCount val="6"/>
                <c:pt idx="0">
                  <c:v>12.9</c:v>
                </c:pt>
                <c:pt idx="1">
                  <c:v>19.3</c:v>
                </c:pt>
                <c:pt idx="2">
                  <c:v>22.4</c:v>
                </c:pt>
                <c:pt idx="3">
                  <c:v>24</c:v>
                </c:pt>
                <c:pt idx="4">
                  <c:v>24.8</c:v>
                </c:pt>
                <c:pt idx="5">
                  <c:v>25.1</c:v>
                </c:pt>
              </c:numCache>
            </c:numRef>
          </c:val>
          <c:smooth val="0"/>
        </c:ser>
        <c:ser>
          <c:idx val="2"/>
          <c:order val="2"/>
          <c:tx>
            <c:strRef>
              <c:f>Sheet1!$D$1</c:f>
              <c:strCache>
                <c:ptCount val="1"/>
                <c:pt idx="0">
                  <c:v>MADRL + NOMA</c:v>
                </c:pt>
              </c:strCache>
            </c:strRef>
          </c:tx>
          <c:spPr>
            <a:solidFill>
              <a:srgbClr val="7C8AA0"/>
            </a:solidFill>
            <a:ln w="25400" cap="flat">
              <a:solidFill>
                <a:srgbClr val="7C8AA0"/>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triangle"/>
            <c:size val="7"/>
            <c:spPr>
              <a:solidFill>
                <a:srgbClr val="FFFFFF"/>
              </a:solidFill>
              <a:ln w="15875">
                <a:solidFill>
                  <a:srgbClr val="7C8AA0"/>
                </a:solidFill>
                <a:prstDash val="solid"/>
              </a:ln>
            </c:spPr>
          </c:marker>
          <c:cat>
            <c:multiLvlStrRef>
              <c:f>Sheet1!$A$2:$A$7</c:f>
              <c:multiLvlStrCache>
                <c:ptCount val="6"/>
                <c:lvl>
                  <c:pt idx="0">
                    <c:v>6</c:v>
                  </c:pt>
                  <c:pt idx="1">
                    <c:v>12</c:v>
                  </c:pt>
                  <c:pt idx="2">
                    <c:v>18</c:v>
                  </c:pt>
                  <c:pt idx="3">
                    <c:v>24</c:v>
                  </c:pt>
                  <c:pt idx="4">
                    <c:v>30</c:v>
                  </c:pt>
                  <c:pt idx="5">
                    <c:v>36</c:v>
                  </c:pt>
                </c:lvl>
              </c:multiLvlStrCache>
            </c:multiLvlStrRef>
          </c:cat>
          <c:val>
            <c:numRef>
              <c:f>Sheet1!$D$2:$D$7</c:f>
              <c:numCache>
                <c:formatCode>General</c:formatCode>
                <c:ptCount val="6"/>
                <c:pt idx="0">
                  <c:v>11</c:v>
                </c:pt>
                <c:pt idx="1">
                  <c:v>17.5</c:v>
                </c:pt>
                <c:pt idx="2">
                  <c:v>21.4</c:v>
                </c:pt>
                <c:pt idx="3">
                  <c:v>23.7</c:v>
                </c:pt>
                <c:pt idx="4">
                  <c:v>25</c:v>
                </c:pt>
                <c:pt idx="5">
                  <c:v>25.8</c:v>
                </c:pt>
              </c:numCache>
            </c:numRef>
          </c:val>
          <c:smooth val="0"/>
        </c:ser>
        <c:ser>
          <c:idx val="3"/>
          <c:order val="3"/>
          <c:tx>
            <c:strRef>
              <c:f>Sheet1!$E$1</c:f>
              <c:strCache>
                <c:ptCount val="1"/>
                <c:pt idx="0">
                  <c:v>Static UAVs + RSMA</c:v>
                </c:pt>
              </c:strCache>
            </c:strRef>
          </c:tx>
          <c:spPr>
            <a:solidFill>
              <a:srgbClr val="B3BDCB"/>
            </a:solidFill>
            <a:ln w="25400" cap="flat">
              <a:solidFill>
                <a:srgbClr val="B3BDCB"/>
              </a:solidFill>
              <a:prstDash val="lg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diamond"/>
            <c:size val="7"/>
            <c:spPr>
              <a:solidFill>
                <a:srgbClr val="FFFFFF"/>
              </a:solidFill>
              <a:ln w="15875">
                <a:solidFill>
                  <a:srgbClr val="B3BDCB"/>
                </a:solidFill>
                <a:prstDash val="solid"/>
              </a:ln>
            </c:spPr>
          </c:marker>
          <c:cat>
            <c:multiLvlStrRef>
              <c:f>Sheet1!$A$2:$A$7</c:f>
              <c:multiLvlStrCache>
                <c:ptCount val="6"/>
                <c:lvl>
                  <c:pt idx="0">
                    <c:v>6</c:v>
                  </c:pt>
                  <c:pt idx="1">
                    <c:v>12</c:v>
                  </c:pt>
                  <c:pt idx="2">
                    <c:v>18</c:v>
                  </c:pt>
                  <c:pt idx="3">
                    <c:v>24</c:v>
                  </c:pt>
                  <c:pt idx="4">
                    <c:v>30</c:v>
                  </c:pt>
                  <c:pt idx="5">
                    <c:v>36</c:v>
                  </c:pt>
                </c:lvl>
              </c:multiLvlStrCache>
            </c:multiLvlStrRef>
          </c:cat>
          <c:val>
            <c:numRef>
              <c:f>Sheet1!$E$2:$E$7</c:f>
              <c:numCache>
                <c:formatCode>General</c:formatCode>
                <c:ptCount val="6"/>
                <c:pt idx="0">
                  <c:v>9</c:v>
                </c:pt>
                <c:pt idx="1">
                  <c:v>14.5</c:v>
                </c:pt>
                <c:pt idx="2">
                  <c:v>17.9</c:v>
                </c:pt>
                <c:pt idx="3">
                  <c:v>19.9</c:v>
                </c:pt>
                <c:pt idx="4">
                  <c:v>21.1</c:v>
                </c:pt>
                <c:pt idx="5">
                  <c:v>21.9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80"/>
                    </a:solidFill>
                    <a:latin typeface="+mn-lt"/>
                  </a:defRPr>
                </a:pPr>
                <a:r>
                  <a:rPr sz="1200" b="0" i="0" u="none" strike="noStrike">
                    <a:solidFill>
                      <a:srgbClr val="5B6880"/>
                    </a:solidFill>
                    <a:latin typeface="+mn-lt"/>
                  </a:rPr>
                  <a:t>Number of users K</a:t>
                </a:r>
              </a:p>
            </c:rich>
          </c:tx>
          <c:layout/>
          <c:overlay val="0"/>
        </c:title>
        <c:numFmt formatCode="General" sourceLinked="1"/>
        <c:majorTickMark val="out"/>
        <c:minorTickMark val="none"/>
        <c:tickLblPos val="low"/>
        <c:spPr>
          <a:ln w="12700" cap="flat">
            <a:solidFill>
              <a:srgbClr val="B8C2CF"/>
            </a:solidFill>
            <a:prstDash val="solid"/>
            <a:round/>
          </a:ln>
        </c:spPr>
        <c:txPr>
          <a:bodyPr/>
          <a:lstStyle/>
          <a:p>
            <a:pPr>
              <a:defRPr sz="1100" b="0" i="0" u="none" strike="noStrike">
                <a:solidFill>
                  <a:srgbClr val="5B6880"/>
                </a:solidFill>
                <a:latin typeface="+mn-lt"/>
              </a:defRPr>
            </a:pPr>
            <a:endParaRPr lang="en-US"/>
          </a:p>
        </c:txPr>
        <c:crossAx val="2094734552"/>
        <c:crosses val="autoZero"/>
        <c:auto val="1"/>
        <c:lblAlgn val="ctr"/>
        <c:noMultiLvlLbl val="1"/>
        <c:tickLblSkip val="1"/>
      </c:catAx>
      <c:valAx>
        <c:axId val="2094734552"/>
        <c:scaling>
          <c:orientation val="minMax"/>
          <c:max val="40"/>
          <c:min val="0"/>
        </c:scaling>
        <c:delete val="0"/>
        <c:axPos val="l"/>
        <c:majorGridlines>
          <c:spPr>
            <a:ln w="9525" cap="flat">
              <a:solidFill>
                <a:srgbClr val="E3E8EF"/>
              </a:solidFill>
              <a:prstDash val="solid"/>
              <a:round/>
            </a:ln>
          </c:spPr>
        </c:majorGridlines>
        <c:title>
          <c:tx>
            <c:rich>
              <a:bodyPr/>
              <a:lstStyle/>
              <a:p>
                <a:pPr>
                  <a:defRPr sz="1200" b="0" i="0" u="none" strike="noStrike">
                    <a:solidFill>
                      <a:srgbClr val="5B6880"/>
                    </a:solidFill>
                    <a:latin typeface="+mn-lt"/>
                  </a:defRPr>
                </a:pPr>
                <a:r>
                  <a:rPr sz="1200" b="0" i="0" u="none" strike="noStrike">
                    <a:solidFill>
                      <a:srgbClr val="5B6880"/>
                    </a:solidFill>
                    <a:latin typeface="+mn-lt"/>
                  </a:rPr>
                  <a:t>Sum rate (bps/Hz)</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880"/>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1B263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the affiliation and date (they are placeholders). One-sentence hook: SAGIN promises global 6G coverage, but each layer brings its own bottleneck; this talk presents three emerging techniques that address them, and how to optimize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parts. Parts II–IV follow the same three-slide pattern (system model, proposed design, simulation results), so the audience knows what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 gives the background needed for the three technical parts: the SAGIN architecture and the four enabling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three layers and their roles. Stress that the layers differ in altitude, mobility, delay and on-board resources, which is exactly why cross-layer optimization is needed. Figure: own illustration; replace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Polarforming (Zhou et al. [2]) uses polarization-reconfigurable antennas. With two phase shifters and a hybrid, one element can synthesize any polarization state. Key message: polarization becomes an optimization variable, which matters in satellite links because of Faraday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EIT and Autler–Townes splitting with the ladder diagram. The superheterodyne version (Jing et al. [4]) adds a local oscillator so amplitude and phase can be read out. Be careful with sensitivity claims; quote the measured number and its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RSMA (Mao, Clerckx et al. [5], [6]) bridges SDMA (no common stream) and NOMA (full SIC). In SAGIN it is attractive because satellite CSIT is outdated and beams are often overloaded. It is the multiple-access scheme used in Parts II and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Markov game / Dec-POMDP view and the CTDE paradigm (MADDPG [7], MAPPO [8]). Emphasize: training can use global information, execution only needs local observations — a natural fit for SAGIN where global CSI is unavailable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polarforming-aided RSMA for a LEO downlink. Replace the content with your own model and results; the three-slide structure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figure from top to bottom: PRA array on the satellite, ionospheric Faraday rotation, depolarization near the ground, PRA at each user. Then the three equations: Jones vector, polarized channel, effective channel and received signal. Template note: equations are images; their LaTeX source is in each picture's alt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max-min problem (P1). Explain why it is hard: non-convex rates, coupled precoders and polarization vectors, and Jones-vector constraints. Then the AO algorithm: each block is solved optimally or by a convex surrogate, so the objective never decreases. Replace with your actual algorithm and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max-min rate versus transmit power. Right: robustness to Faraday rotation at 20 dBW. THE DATA ARE ILLUSTRATIVE (toy model in src/sim_data.py) — right-click each chart → Edit Data to paste your own results; the callout numbers below must be updated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III: Rydberg atomic quantum receivers for satellite-to-ground links. The structure mirrors Part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chain: satellite precoder → long, Doppler-shifted link → vapor cells illuminated by an LO → photodetectors → IF demodulation → detector. The general model is a biased phase-retrieval problem (Cui, Zeng, Huang [9]); with a strong LO it becomes linear (superheterodyne). Noise terms: photon shot, quantum projection, blackbody, extrinsic.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(P2): the LO amplitude sets the conversion gain κ and the noise; the linear-regime constraint keeps the signal small relative to the LO; the frequency constraint keeps the Doppler-shifted beat note inside the atomic bandwidth. The three-step solution is shown below the pipeline. Replace with your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achievable rate versus slant range for the proposed LO/precoder design, a fixed LO, and a conventional RF front end. Right: output SNR versus normalized LO amplitude — there is an optimum, which motivates step 2. THE DATA ARE ILLUSTRATIVE (toy link budget in src/sim_data.py); replace them and the callouts.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IV: multi-agent deep reinforcement learning combined with rate-splitting multiple access, for a multi-UAV network with LEO backhaul.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LEO satellite provides backhaul C_j^sat(t); each UAV serves its cluster with RSMA; inter-UAV interference couples the agents. Problem (P3) is a long-term, coupled, partially observable control problem — hard for one-shot optimization, natural for MADRL.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P3 to a Dec-POMDP (table). Actors output movement, power split and common-rate shares; the critic sees the global state during training only. Mention reward shaping (QoS and collision penalties) and training tricks (parameter sharing, GAE, PPO clipping). Replace with your network sizes and hyperparameters.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learning curves (average episode reward). Right: sum rate versus number of users for different multiple-access schemes. THE DATA ARE ILLUSTRATIVE (synthetic curves in src/sim_data.py); replace them and the callouts.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takeaway per technical part, then open problems. Adapt the future directions to your own research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references cited on the slides. Add your own papers here (and cite them on the Part II–IV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Replace the contact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_I-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ECTION_II-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ECTION_III-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ECTION_IV-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298448"/>
            <a:ext cx="3657600" cy="329184"/>
          </a:xfrm>
          <a:prstGeom prst="rect">
            <a:avLst/>
          </a:prstGeom>
          <a:noFill/>
          <a:ln/>
        </p:spPr>
        <p:txBody>
          <a:bodyPr wrap="square" lIns="0" tIns="0" rIns="0" bIns="0" rtlCol="0" anchor="ctr"/>
          <a:lstStyle/>
          <a:p>
            <a:pPr indent="0" marL="0">
              <a:buNone/>
            </a:pPr>
            <a:r>
              <a:rPr lang="en-US" sz="1300" b="1" spc="600" kern="0" dirty="0">
                <a:solidFill>
                  <a:srgbClr val="F2B53A"/>
                </a:solidFill>
              </a:rPr>
              <a:t>SEMINAR</a:t>
            </a:r>
            <a:endParaRPr lang="en-US" sz="1300" dirty="0"/>
          </a:p>
        </p:txBody>
      </p:sp>
      <p:sp>
        <p:nvSpPr>
          <p:cNvPr id="3" name="Text 1"/>
          <p:cNvSpPr/>
          <p:nvPr>
            <p:ph idx="101" type="title" hasCustomPrompt="1"/>
          </p:nvPr>
        </p:nvSpPr>
        <p:spPr>
          <a:xfrm>
            <a:off x="685800" y="1691640"/>
            <a:ext cx="7223760" cy="1965960"/>
          </a:xfrm>
          <a:prstGeom prst="rect">
            <a:avLst/>
          </a:prstGeom>
          <a:noFill/>
          <a:ln/>
        </p:spPr>
        <p:txBody>
          <a:bodyPr wrap="square" rtlCol="0"/>
          <a:lstStyle>
            <a:lvl1pPr algn="l" indent="0" marL="0">
              <a:buNone/>
              <a:defRPr lang="en-US" sz="4000" b="1" dirty="0">
                <a:solidFill>
                  <a:srgbClr val="FFFFFF"/>
                </a:solidFill>
                <a:latin typeface="+mj-lt" pitchFamily="34" charset="0"/>
                <a:ea typeface="+mj-lt" pitchFamily="34" charset="-122"/>
                <a:cs typeface="+mj-lt" pitchFamily="34" charset="-120"/>
              </a:defRPr>
            </a:lvl1pPr>
          </a:lstStyle>
          <a:p>
            <a:pPr algn="l" indent="0" marL="0">
              <a:buNone/>
            </a:pPr>
            <a:endParaRPr lang="en-US" sz="4000" dirty="0"/>
          </a:p>
        </p:txBody>
      </p:sp>
      <p:sp>
        <p:nvSpPr>
          <p:cNvPr id="4" name="Text 1"/>
          <p:cNvSpPr/>
          <p:nvPr>
            <p:ph idx="102" type="body" hasCustomPrompt="1"/>
          </p:nvPr>
        </p:nvSpPr>
        <p:spPr>
          <a:xfrm>
            <a:off x="685800" y="3822192"/>
            <a:ext cx="7223760" cy="731520"/>
          </a:xfrm>
          <a:prstGeom prst="rect">
            <a:avLst/>
          </a:prstGeom>
          <a:noFill/>
          <a:ln/>
        </p:spPr>
        <p:txBody>
          <a:bodyPr wrap="square" rtlCol="0"/>
          <a:lstStyle>
            <a:lvl1pPr algn="l" indent="0" marL="0">
              <a:buNone/>
              <a:defRPr lang="en-US" sz="1800" dirty="0">
                <a:solidFill>
                  <a:srgbClr val="A8D8FF"/>
                </a:solidFill>
              </a:defRPr>
            </a:lvl1pPr>
          </a:lstStyle>
          <a:p>
            <a:pPr algn="l" indent="0" marL="0">
              <a:buNone/>
            </a:pPr>
            <a:endParaRPr lang="en-US" sz="1800" dirty="0"/>
          </a:p>
        </p:txBody>
      </p:sp>
      <p:sp>
        <p:nvSpPr>
          <p:cNvPr id="5" name="Text 1"/>
          <p:cNvSpPr/>
          <p:nvPr>
            <p:ph idx="103" type="body" hasCustomPrompt="1"/>
          </p:nvPr>
        </p:nvSpPr>
        <p:spPr>
          <a:xfrm>
            <a:off x="685800" y="4846320"/>
            <a:ext cx="6583680" cy="1188720"/>
          </a:xfrm>
          <a:prstGeom prst="rect">
            <a:avLst/>
          </a:prstGeom>
          <a:noFill/>
          <a:ln/>
        </p:spPr>
        <p:txBody>
          <a:bodyPr wrap="square" rtlCol="0"/>
          <a:lstStyle>
            <a:lvl1pPr algn="l" indent="0" marL="0">
              <a:buNone/>
              <a:defRPr lang="en-US" sz="1500" dirty="0">
                <a:solidFill>
                  <a:srgbClr val="D6E2F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I">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234440"/>
            <a:ext cx="3200400" cy="1325880"/>
          </a:xfrm>
          <a:prstGeom prst="rect">
            <a:avLst/>
          </a:prstGeom>
          <a:noFill/>
          <a:ln/>
        </p:spPr>
        <p:txBody>
          <a:bodyPr wrap="square" lIns="0" tIns="0" rIns="0" bIns="0" rtlCol="0" anchor="b"/>
          <a:lstStyle/>
          <a:p>
            <a:pPr indent="0" marL="0">
              <a:buNone/>
            </a:pPr>
            <a:r>
              <a:rPr lang="en-US" sz="9600" b="1" dirty="0">
                <a:solidFill>
                  <a:srgbClr val="6CC0FF"/>
                </a:solidFill>
                <a:latin typeface="+mj-lt" pitchFamily="34" charset="0"/>
                <a:ea typeface="+mj-lt" pitchFamily="34" charset="-122"/>
                <a:cs typeface="+mj-lt" pitchFamily="34" charset="-120"/>
              </a:rPr>
              <a:t>01</a:t>
            </a:r>
            <a:endParaRPr lang="en-US" sz="9600" dirty="0"/>
          </a:p>
        </p:txBody>
      </p:sp>
      <p:sp>
        <p:nvSpPr>
          <p:cNvPr id="3" name="Text 1"/>
          <p:cNvSpPr/>
          <p:nvPr/>
        </p:nvSpPr>
        <p:spPr>
          <a:xfrm>
            <a:off x="731520" y="2697480"/>
            <a:ext cx="3657600" cy="320040"/>
          </a:xfrm>
          <a:prstGeom prst="rect">
            <a:avLst/>
          </a:prstGeom>
          <a:noFill/>
          <a:ln/>
        </p:spPr>
        <p:txBody>
          <a:bodyPr wrap="square" lIns="0" tIns="0" rIns="0" bIns="0" rtlCol="0" anchor="ctr"/>
          <a:lstStyle/>
          <a:p>
            <a:pPr indent="0" marL="0">
              <a:buNone/>
            </a:pPr>
            <a:r>
              <a:rPr lang="en-US" sz="1400" b="1" spc="600" kern="0" dirty="0">
                <a:solidFill>
                  <a:srgbClr val="D6E2F2"/>
                </a:solidFill>
              </a:rPr>
              <a:t>PART I</a:t>
            </a:r>
            <a:endParaRPr lang="en-US" sz="1400" dirty="0"/>
          </a:p>
        </p:txBody>
      </p:sp>
      <p:sp>
        <p:nvSpPr>
          <p:cNvPr id="4" name="Text 2"/>
          <p:cNvSpPr/>
          <p:nvPr>
            <p:ph idx="102" type="title" hasCustomPrompt="1"/>
          </p:nvPr>
        </p:nvSpPr>
        <p:spPr>
          <a:xfrm>
            <a:off x="685800" y="3090672"/>
            <a:ext cx="6949440" cy="1417320"/>
          </a:xfrm>
          <a:prstGeom prst="rect">
            <a:avLst/>
          </a:prstGeom>
          <a:noFill/>
          <a:ln/>
        </p:spPr>
        <p:txBody>
          <a:bodyPr wrap="square" rtlCol="0"/>
          <a:lstStyle>
            <a:lvl1pPr algn="l" indent="0" marL="0">
              <a:buNone/>
              <a:defRPr lang="en-US" sz="3800" b="1" dirty="0">
                <a:solidFill>
                  <a:srgbClr val="FFFFFF"/>
                </a:solidFill>
                <a:latin typeface="+mj-lt" pitchFamily="34" charset="0"/>
                <a:ea typeface="+mj-lt" pitchFamily="34" charset="-122"/>
                <a:cs typeface="+mj-lt" pitchFamily="34" charset="-120"/>
              </a:defRPr>
            </a:lvl1pPr>
          </a:lstStyle>
          <a:p>
            <a:pPr algn="l" indent="0" marL="0">
              <a:buNone/>
            </a:pPr>
            <a:endParaRPr lang="en-US" sz="3800" dirty="0"/>
          </a:p>
        </p:txBody>
      </p:sp>
      <p:sp>
        <p:nvSpPr>
          <p:cNvPr id="5" name="Text 2"/>
          <p:cNvSpPr/>
          <p:nvPr>
            <p:ph idx="103" type="body" hasCustomPrompt="1"/>
          </p:nvPr>
        </p:nvSpPr>
        <p:spPr>
          <a:xfrm>
            <a:off x="731520" y="4617720"/>
            <a:ext cx="6766560" cy="914400"/>
          </a:xfrm>
          <a:prstGeom prst="rect">
            <a:avLst/>
          </a:prstGeom>
          <a:noFill/>
          <a:ln/>
        </p:spPr>
        <p:txBody>
          <a:bodyPr wrap="square" rtlCol="0"/>
          <a:lstStyle>
            <a:lvl1pPr algn="l" indent="0" marL="0">
              <a:buNone/>
              <a:defRPr lang="en-US" sz="1600" dirty="0">
                <a:solidFill>
                  <a:srgbClr val="BFD0E6"/>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II">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234440"/>
            <a:ext cx="3200400" cy="1325880"/>
          </a:xfrm>
          <a:prstGeom prst="rect">
            <a:avLst/>
          </a:prstGeom>
          <a:noFill/>
          <a:ln/>
        </p:spPr>
        <p:txBody>
          <a:bodyPr wrap="square" lIns="0" tIns="0" rIns="0" bIns="0" rtlCol="0" anchor="b"/>
          <a:lstStyle/>
          <a:p>
            <a:pPr indent="0" marL="0">
              <a:buNone/>
            </a:pPr>
            <a:r>
              <a:rPr lang="en-US" sz="9600" b="1" dirty="0">
                <a:solidFill>
                  <a:srgbClr val="4FD8C6"/>
                </a:solidFill>
                <a:latin typeface="+mj-lt" pitchFamily="34" charset="0"/>
                <a:ea typeface="+mj-lt" pitchFamily="34" charset="-122"/>
                <a:cs typeface="+mj-lt" pitchFamily="34" charset="-120"/>
              </a:rPr>
              <a:t>02</a:t>
            </a:r>
            <a:endParaRPr lang="en-US" sz="9600" dirty="0"/>
          </a:p>
        </p:txBody>
      </p:sp>
      <p:sp>
        <p:nvSpPr>
          <p:cNvPr id="3" name="Text 1"/>
          <p:cNvSpPr/>
          <p:nvPr/>
        </p:nvSpPr>
        <p:spPr>
          <a:xfrm>
            <a:off x="731520" y="2697480"/>
            <a:ext cx="3657600" cy="320040"/>
          </a:xfrm>
          <a:prstGeom prst="rect">
            <a:avLst/>
          </a:prstGeom>
          <a:noFill/>
          <a:ln/>
        </p:spPr>
        <p:txBody>
          <a:bodyPr wrap="square" lIns="0" tIns="0" rIns="0" bIns="0" rtlCol="0" anchor="ctr"/>
          <a:lstStyle/>
          <a:p>
            <a:pPr indent="0" marL="0">
              <a:buNone/>
            </a:pPr>
            <a:r>
              <a:rPr lang="en-US" sz="1400" b="1" spc="600" kern="0" dirty="0">
                <a:solidFill>
                  <a:srgbClr val="D6E2F2"/>
                </a:solidFill>
              </a:rPr>
              <a:t>PART II</a:t>
            </a:r>
            <a:endParaRPr lang="en-US" sz="1400" dirty="0"/>
          </a:p>
        </p:txBody>
      </p:sp>
      <p:sp>
        <p:nvSpPr>
          <p:cNvPr id="4" name="Text 2"/>
          <p:cNvSpPr/>
          <p:nvPr>
            <p:ph idx="102" type="title" hasCustomPrompt="1"/>
          </p:nvPr>
        </p:nvSpPr>
        <p:spPr>
          <a:xfrm>
            <a:off x="685800" y="3090672"/>
            <a:ext cx="6949440" cy="1417320"/>
          </a:xfrm>
          <a:prstGeom prst="rect">
            <a:avLst/>
          </a:prstGeom>
          <a:noFill/>
          <a:ln/>
        </p:spPr>
        <p:txBody>
          <a:bodyPr wrap="square" rtlCol="0"/>
          <a:lstStyle>
            <a:lvl1pPr algn="l" indent="0" marL="0">
              <a:buNone/>
              <a:defRPr lang="en-US" sz="3800" b="1" dirty="0">
                <a:solidFill>
                  <a:srgbClr val="FFFFFF"/>
                </a:solidFill>
                <a:latin typeface="+mj-lt" pitchFamily="34" charset="0"/>
                <a:ea typeface="+mj-lt" pitchFamily="34" charset="-122"/>
                <a:cs typeface="+mj-lt" pitchFamily="34" charset="-120"/>
              </a:defRPr>
            </a:lvl1pPr>
          </a:lstStyle>
          <a:p>
            <a:pPr algn="l" indent="0" marL="0">
              <a:buNone/>
            </a:pPr>
            <a:endParaRPr lang="en-US" sz="3800" dirty="0"/>
          </a:p>
        </p:txBody>
      </p:sp>
      <p:sp>
        <p:nvSpPr>
          <p:cNvPr id="5" name="Text 2"/>
          <p:cNvSpPr/>
          <p:nvPr>
            <p:ph idx="103" type="body" hasCustomPrompt="1"/>
          </p:nvPr>
        </p:nvSpPr>
        <p:spPr>
          <a:xfrm>
            <a:off x="731520" y="4617720"/>
            <a:ext cx="6766560" cy="914400"/>
          </a:xfrm>
          <a:prstGeom prst="rect">
            <a:avLst/>
          </a:prstGeom>
          <a:noFill/>
          <a:ln/>
        </p:spPr>
        <p:txBody>
          <a:bodyPr wrap="square" rtlCol="0"/>
          <a:lstStyle>
            <a:lvl1pPr algn="l" indent="0" marL="0">
              <a:buNone/>
              <a:defRPr lang="en-US" sz="1600" dirty="0">
                <a:solidFill>
                  <a:srgbClr val="BFD0E6"/>
                </a:solidFill>
              </a:defRPr>
            </a:lvl1pPr>
          </a:lstStyle>
          <a:p>
            <a:pPr algn="l" indent="0" marL="0">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_III">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234440"/>
            <a:ext cx="3200400" cy="1325880"/>
          </a:xfrm>
          <a:prstGeom prst="rect">
            <a:avLst/>
          </a:prstGeom>
          <a:noFill/>
          <a:ln/>
        </p:spPr>
        <p:txBody>
          <a:bodyPr wrap="square" lIns="0" tIns="0" rIns="0" bIns="0" rtlCol="0" anchor="b"/>
          <a:lstStyle/>
          <a:p>
            <a:pPr indent="0" marL="0">
              <a:buNone/>
            </a:pPr>
            <a:r>
              <a:rPr lang="en-US" sz="9600" b="1" dirty="0">
                <a:solidFill>
                  <a:srgbClr val="B9A2FF"/>
                </a:solidFill>
                <a:latin typeface="+mj-lt" pitchFamily="34" charset="0"/>
                <a:ea typeface="+mj-lt" pitchFamily="34" charset="-122"/>
                <a:cs typeface="+mj-lt" pitchFamily="34" charset="-120"/>
              </a:rPr>
              <a:t>03</a:t>
            </a:r>
            <a:endParaRPr lang="en-US" sz="9600" dirty="0"/>
          </a:p>
        </p:txBody>
      </p:sp>
      <p:sp>
        <p:nvSpPr>
          <p:cNvPr id="3" name="Text 1"/>
          <p:cNvSpPr/>
          <p:nvPr/>
        </p:nvSpPr>
        <p:spPr>
          <a:xfrm>
            <a:off x="731520" y="2697480"/>
            <a:ext cx="3657600" cy="320040"/>
          </a:xfrm>
          <a:prstGeom prst="rect">
            <a:avLst/>
          </a:prstGeom>
          <a:noFill/>
          <a:ln/>
        </p:spPr>
        <p:txBody>
          <a:bodyPr wrap="square" lIns="0" tIns="0" rIns="0" bIns="0" rtlCol="0" anchor="ctr"/>
          <a:lstStyle/>
          <a:p>
            <a:pPr indent="0" marL="0">
              <a:buNone/>
            </a:pPr>
            <a:r>
              <a:rPr lang="en-US" sz="1400" b="1" spc="600" kern="0" dirty="0">
                <a:solidFill>
                  <a:srgbClr val="D6E2F2"/>
                </a:solidFill>
              </a:rPr>
              <a:t>PART III</a:t>
            </a:r>
            <a:endParaRPr lang="en-US" sz="1400" dirty="0"/>
          </a:p>
        </p:txBody>
      </p:sp>
      <p:sp>
        <p:nvSpPr>
          <p:cNvPr id="4" name="Text 2"/>
          <p:cNvSpPr/>
          <p:nvPr>
            <p:ph idx="102" type="title" hasCustomPrompt="1"/>
          </p:nvPr>
        </p:nvSpPr>
        <p:spPr>
          <a:xfrm>
            <a:off x="685800" y="3090672"/>
            <a:ext cx="6949440" cy="1417320"/>
          </a:xfrm>
          <a:prstGeom prst="rect">
            <a:avLst/>
          </a:prstGeom>
          <a:noFill/>
          <a:ln/>
        </p:spPr>
        <p:txBody>
          <a:bodyPr wrap="square" rtlCol="0"/>
          <a:lstStyle>
            <a:lvl1pPr algn="l" indent="0" marL="0">
              <a:buNone/>
              <a:defRPr lang="en-US" sz="3800" b="1" dirty="0">
                <a:solidFill>
                  <a:srgbClr val="FFFFFF"/>
                </a:solidFill>
                <a:latin typeface="+mj-lt" pitchFamily="34" charset="0"/>
                <a:ea typeface="+mj-lt" pitchFamily="34" charset="-122"/>
                <a:cs typeface="+mj-lt" pitchFamily="34" charset="-120"/>
              </a:defRPr>
            </a:lvl1pPr>
          </a:lstStyle>
          <a:p>
            <a:pPr algn="l" indent="0" marL="0">
              <a:buNone/>
            </a:pPr>
            <a:endParaRPr lang="en-US" sz="3800" dirty="0"/>
          </a:p>
        </p:txBody>
      </p:sp>
      <p:sp>
        <p:nvSpPr>
          <p:cNvPr id="5" name="Text 2"/>
          <p:cNvSpPr/>
          <p:nvPr>
            <p:ph idx="103" type="body" hasCustomPrompt="1"/>
          </p:nvPr>
        </p:nvSpPr>
        <p:spPr>
          <a:xfrm>
            <a:off x="731520" y="4617720"/>
            <a:ext cx="6766560" cy="914400"/>
          </a:xfrm>
          <a:prstGeom prst="rect">
            <a:avLst/>
          </a:prstGeom>
          <a:noFill/>
          <a:ln/>
        </p:spPr>
        <p:txBody>
          <a:bodyPr wrap="square" rtlCol="0"/>
          <a:lstStyle>
            <a:lvl1pPr algn="l" indent="0" marL="0">
              <a:buNone/>
              <a:defRPr lang="en-US" sz="1600" dirty="0">
                <a:solidFill>
                  <a:srgbClr val="BFD0E6"/>
                </a:solidFill>
              </a:defRPr>
            </a:lvl1pPr>
          </a:lstStyle>
          <a:p>
            <a:pPr algn="l" indent="0" marL="0">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_IV">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1234440"/>
            <a:ext cx="3200400" cy="1325880"/>
          </a:xfrm>
          <a:prstGeom prst="rect">
            <a:avLst/>
          </a:prstGeom>
          <a:noFill/>
          <a:ln/>
        </p:spPr>
        <p:txBody>
          <a:bodyPr wrap="square" lIns="0" tIns="0" rIns="0" bIns="0" rtlCol="0" anchor="b"/>
          <a:lstStyle/>
          <a:p>
            <a:pPr indent="0" marL="0">
              <a:buNone/>
            </a:pPr>
            <a:r>
              <a:rPr lang="en-US" sz="9600" b="1" dirty="0">
                <a:solidFill>
                  <a:srgbClr val="FFB26B"/>
                </a:solidFill>
                <a:latin typeface="+mj-lt" pitchFamily="34" charset="0"/>
                <a:ea typeface="+mj-lt" pitchFamily="34" charset="-122"/>
                <a:cs typeface="+mj-lt" pitchFamily="34" charset="-120"/>
              </a:rPr>
              <a:t>04</a:t>
            </a:r>
            <a:endParaRPr lang="en-US" sz="9600" dirty="0"/>
          </a:p>
        </p:txBody>
      </p:sp>
      <p:sp>
        <p:nvSpPr>
          <p:cNvPr id="3" name="Text 1"/>
          <p:cNvSpPr/>
          <p:nvPr/>
        </p:nvSpPr>
        <p:spPr>
          <a:xfrm>
            <a:off x="731520" y="2697480"/>
            <a:ext cx="3657600" cy="320040"/>
          </a:xfrm>
          <a:prstGeom prst="rect">
            <a:avLst/>
          </a:prstGeom>
          <a:noFill/>
          <a:ln/>
        </p:spPr>
        <p:txBody>
          <a:bodyPr wrap="square" lIns="0" tIns="0" rIns="0" bIns="0" rtlCol="0" anchor="ctr"/>
          <a:lstStyle/>
          <a:p>
            <a:pPr indent="0" marL="0">
              <a:buNone/>
            </a:pPr>
            <a:r>
              <a:rPr lang="en-US" sz="1400" b="1" spc="600" kern="0" dirty="0">
                <a:solidFill>
                  <a:srgbClr val="D6E2F2"/>
                </a:solidFill>
              </a:rPr>
              <a:t>PART IV</a:t>
            </a:r>
            <a:endParaRPr lang="en-US" sz="1400" dirty="0"/>
          </a:p>
        </p:txBody>
      </p:sp>
      <p:sp>
        <p:nvSpPr>
          <p:cNvPr id="4" name="Text 2"/>
          <p:cNvSpPr/>
          <p:nvPr>
            <p:ph idx="102" type="title" hasCustomPrompt="1"/>
          </p:nvPr>
        </p:nvSpPr>
        <p:spPr>
          <a:xfrm>
            <a:off x="685800" y="3090672"/>
            <a:ext cx="6949440" cy="1417320"/>
          </a:xfrm>
          <a:prstGeom prst="rect">
            <a:avLst/>
          </a:prstGeom>
          <a:noFill/>
          <a:ln/>
        </p:spPr>
        <p:txBody>
          <a:bodyPr wrap="square" rtlCol="0"/>
          <a:lstStyle>
            <a:lvl1pPr algn="l" indent="0" marL="0">
              <a:buNone/>
              <a:defRPr lang="en-US" sz="3800" b="1" dirty="0">
                <a:solidFill>
                  <a:srgbClr val="FFFFFF"/>
                </a:solidFill>
                <a:latin typeface="+mj-lt" pitchFamily="34" charset="0"/>
                <a:ea typeface="+mj-lt" pitchFamily="34" charset="-122"/>
                <a:cs typeface="+mj-lt" pitchFamily="34" charset="-120"/>
              </a:defRPr>
            </a:lvl1pPr>
          </a:lstStyle>
          <a:p>
            <a:pPr algn="l" indent="0" marL="0">
              <a:buNone/>
            </a:pPr>
            <a:endParaRPr lang="en-US" sz="3800" dirty="0"/>
          </a:p>
        </p:txBody>
      </p:sp>
      <p:sp>
        <p:nvSpPr>
          <p:cNvPr id="5" name="Text 2"/>
          <p:cNvSpPr/>
          <p:nvPr>
            <p:ph idx="103" type="body" hasCustomPrompt="1"/>
          </p:nvPr>
        </p:nvSpPr>
        <p:spPr>
          <a:xfrm>
            <a:off x="731520" y="4617720"/>
            <a:ext cx="6766560" cy="914400"/>
          </a:xfrm>
          <a:prstGeom prst="rect">
            <a:avLst/>
          </a:prstGeom>
          <a:noFill/>
          <a:ln/>
        </p:spPr>
        <p:txBody>
          <a:bodyPr wrap="square" rtlCol="0"/>
          <a:lstStyle>
            <a:lvl1pPr algn="l" indent="0" marL="0">
              <a:buNone/>
              <a:defRPr lang="en-US" sz="1600" dirty="0">
                <a:solidFill>
                  <a:srgbClr val="BFD0E6"/>
                </a:solidFill>
              </a:defRPr>
            </a:lvl1pPr>
          </a:lstStyle>
          <a:p>
            <a:pPr algn="l" indent="0" marL="0">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_I">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9326880" cy="274320"/>
          </a:xfrm>
          <a:prstGeom prst="rect">
            <a:avLst/>
          </a:prstGeom>
          <a:noFill/>
          <a:ln/>
        </p:spPr>
        <p:txBody>
          <a:bodyPr wrap="square" lIns="0" tIns="0" rIns="0" bIns="0" rtlCol="0" anchor="ctr"/>
          <a:lstStyle/>
          <a:p>
            <a:pPr indent="0" marL="0">
              <a:buNone/>
            </a:pPr>
            <a:r>
              <a:rPr lang="en-US" sz="1200" b="1" spc="200" kern="0" dirty="0">
                <a:solidFill>
                  <a:srgbClr val="1670B3"/>
                </a:solidFill>
              </a:rPr>
              <a:t>PART I  ·  INTRODUCTION</a:t>
            </a:r>
            <a:endParaRPr lang="en-US" sz="1200" dirty="0"/>
          </a:p>
        </p:txBody>
      </p:sp>
      <p:sp>
        <p:nvSpPr>
          <p:cNvPr id="3" name="Text 1"/>
          <p:cNvSpPr/>
          <p:nvPr/>
        </p:nvSpPr>
        <p:spPr>
          <a:xfrm>
            <a:off x="10213848" y="329184"/>
            <a:ext cx="292608" cy="292608"/>
          </a:xfrm>
          <a:prstGeom prst="ellipse">
            <a:avLst/>
          </a:prstGeom>
          <a:solidFill>
            <a:srgbClr val="2188D8"/>
          </a:solidFill>
          <a:ln w="6350">
            <a:solidFill>
              <a:srgbClr val="2188D8"/>
            </a:solidFill>
          </a:ln>
        </p:spPr>
        <p:txBody>
          <a:bodyPr wrap="square" lIns="0" tIns="0" rIns="0" bIns="0" rtlCol="0" anchor="ctr"/>
          <a:lstStyle/>
          <a:p>
            <a:pPr algn="ctr" indent="0" marL="0">
              <a:buNone/>
            </a:pPr>
            <a:r>
              <a:rPr lang="en-US" sz="900" b="1" dirty="0">
                <a:solidFill>
                  <a:srgbClr val="FFFFFF"/>
                </a:solidFill>
              </a:rPr>
              <a:t>I</a:t>
            </a:r>
            <a:endParaRPr lang="en-US" sz="900" dirty="0"/>
          </a:p>
        </p:txBody>
      </p:sp>
      <p:sp>
        <p:nvSpPr>
          <p:cNvPr id="4" name="Text 2"/>
          <p:cNvSpPr/>
          <p:nvPr/>
        </p:nvSpPr>
        <p:spPr>
          <a:xfrm>
            <a:off x="1057960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a:t>
            </a:r>
            <a:endParaRPr lang="en-US" sz="900" dirty="0"/>
          </a:p>
        </p:txBody>
      </p:sp>
      <p:sp>
        <p:nvSpPr>
          <p:cNvPr id="5" name="Text 3"/>
          <p:cNvSpPr/>
          <p:nvPr/>
        </p:nvSpPr>
        <p:spPr>
          <a:xfrm>
            <a:off x="1094536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III</a:t>
            </a:r>
            <a:endParaRPr lang="en-US" sz="900" dirty="0"/>
          </a:p>
        </p:txBody>
      </p:sp>
      <p:sp>
        <p:nvSpPr>
          <p:cNvPr id="6" name="Text 4"/>
          <p:cNvSpPr/>
          <p:nvPr/>
        </p:nvSpPr>
        <p:spPr>
          <a:xfrm>
            <a:off x="1131112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IV</a:t>
            </a:r>
            <a:endParaRPr lang="en-US" sz="900" dirty="0"/>
          </a:p>
        </p:txBody>
      </p:sp>
      <p:sp>
        <p:nvSpPr>
          <p:cNvPr id="7" name="Text 5"/>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rgbClr val="5B6880"/>
                </a:solidFill>
              </a:rPr>
              <a:t>Emerging Techniques for SAGINs  ·  Seminar</a:t>
            </a:r>
            <a:endParaRPr lang="en-US" sz="1000" dirty="0"/>
          </a:p>
        </p:txBody>
      </p:sp>
      <p:sp>
        <p:nvSpPr>
          <p:cNvPr id="8" name="Text 6"/>
          <p:cNvSpPr/>
          <p:nvPr>
            <p:ph idx="106" type="title" hasCustomPrompt="1"/>
          </p:nvPr>
        </p:nvSpPr>
        <p:spPr>
          <a:xfrm>
            <a:off x="548640" y="566928"/>
            <a:ext cx="11094415" cy="566928"/>
          </a:xfrm>
          <a:prstGeom prst="rect">
            <a:avLst/>
          </a:prstGeom>
          <a:noFill/>
          <a:ln/>
        </p:spPr>
        <p:txBody>
          <a:bodyPr wrap="square" rtlCol="0"/>
          <a:lstStyle>
            <a:lvl1pPr algn="l" indent="0" marL="0">
              <a:buNone/>
              <a:defRPr lang="en-US" sz="3200" b="1" dirty="0">
                <a:solidFill>
                  <a:srgbClr val="0B1E3F"/>
                </a:solidFill>
                <a:latin typeface="+mj-lt" pitchFamily="34" charset="0"/>
                <a:ea typeface="+mj-lt" pitchFamily="34" charset="-122"/>
                <a:cs typeface="+mj-lt" pitchFamily="34" charset="-120"/>
              </a:defRPr>
            </a:lvl1pPr>
          </a:lstStyle>
          <a:p>
            <a:pPr algn="l" indent="0" marL="0">
              <a:buNone/>
            </a:pPr>
            <a:endParaRPr lang="en-US" sz="3200" dirty="0"/>
          </a:p>
        </p:txBody>
      </p:sp>
      <p:sp>
        <p:nvSpPr>
          <p:cNvPr id="9" name="Text 6"/>
          <p:cNvSpPr/>
          <p:nvPr>
            <p:ph idx="107" type="body" hasCustomPrompt="1"/>
          </p:nvPr>
        </p:nvSpPr>
        <p:spPr>
          <a:xfrm>
            <a:off x="548640" y="1152144"/>
            <a:ext cx="11094415" cy="420624"/>
          </a:xfrm>
          <a:prstGeom prst="rect">
            <a:avLst/>
          </a:prstGeom>
          <a:noFill/>
          <a:ln/>
        </p:spPr>
        <p:txBody>
          <a:bodyPr wrap="square" rtlCol="0"/>
          <a:lstStyle>
            <a:lvl1pPr algn="l" indent="0" marL="0">
              <a:buNone/>
              <a:defRPr lang="en-US" sz="1600" dirty="0">
                <a:solidFill>
                  <a:srgbClr val="5B6880"/>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_II">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9326880" cy="274320"/>
          </a:xfrm>
          <a:prstGeom prst="rect">
            <a:avLst/>
          </a:prstGeom>
          <a:noFill/>
          <a:ln/>
        </p:spPr>
        <p:txBody>
          <a:bodyPr wrap="square" lIns="0" tIns="0" rIns="0" bIns="0" rtlCol="0" anchor="ctr"/>
          <a:lstStyle/>
          <a:p>
            <a:pPr indent="0" marL="0">
              <a:buNone/>
            </a:pPr>
            <a:r>
              <a:rPr lang="en-US" sz="1200" b="1" spc="200" kern="0" dirty="0">
                <a:solidFill>
                  <a:srgbClr val="0B7F72"/>
                </a:solidFill>
              </a:rPr>
              <a:t>PART II  ·  POLARFORMING DESIGN IN SAGIN</a:t>
            </a:r>
            <a:endParaRPr lang="en-US" sz="1200" dirty="0"/>
          </a:p>
        </p:txBody>
      </p:sp>
      <p:sp>
        <p:nvSpPr>
          <p:cNvPr id="3" name="Text 1"/>
          <p:cNvSpPr/>
          <p:nvPr/>
        </p:nvSpPr>
        <p:spPr>
          <a:xfrm>
            <a:off x="1021384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a:t>
            </a:r>
            <a:endParaRPr lang="en-US" sz="900" dirty="0"/>
          </a:p>
        </p:txBody>
      </p:sp>
      <p:sp>
        <p:nvSpPr>
          <p:cNvPr id="4" name="Text 2"/>
          <p:cNvSpPr/>
          <p:nvPr/>
        </p:nvSpPr>
        <p:spPr>
          <a:xfrm>
            <a:off x="10579608" y="329184"/>
            <a:ext cx="292608" cy="292608"/>
          </a:xfrm>
          <a:prstGeom prst="ellipse">
            <a:avLst/>
          </a:prstGeom>
          <a:solidFill>
            <a:srgbClr val="0F9F8F"/>
          </a:solidFill>
          <a:ln w="6350">
            <a:solidFill>
              <a:srgbClr val="0F9F8F"/>
            </a:solidFill>
          </a:ln>
        </p:spPr>
        <p:txBody>
          <a:bodyPr wrap="square" lIns="0" tIns="0" rIns="0" bIns="0" rtlCol="0" anchor="ctr"/>
          <a:lstStyle/>
          <a:p>
            <a:pPr algn="ctr" indent="0" marL="0">
              <a:buNone/>
            </a:pPr>
            <a:r>
              <a:rPr lang="en-US" sz="900" b="1" dirty="0">
                <a:solidFill>
                  <a:srgbClr val="FFFFFF"/>
                </a:solidFill>
              </a:rPr>
              <a:t>II</a:t>
            </a:r>
            <a:endParaRPr lang="en-US" sz="900" dirty="0"/>
          </a:p>
        </p:txBody>
      </p:sp>
      <p:sp>
        <p:nvSpPr>
          <p:cNvPr id="5" name="Text 3"/>
          <p:cNvSpPr/>
          <p:nvPr/>
        </p:nvSpPr>
        <p:spPr>
          <a:xfrm>
            <a:off x="1094536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III</a:t>
            </a:r>
            <a:endParaRPr lang="en-US" sz="900" dirty="0"/>
          </a:p>
        </p:txBody>
      </p:sp>
      <p:sp>
        <p:nvSpPr>
          <p:cNvPr id="6" name="Text 4"/>
          <p:cNvSpPr/>
          <p:nvPr/>
        </p:nvSpPr>
        <p:spPr>
          <a:xfrm>
            <a:off x="1131112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IV</a:t>
            </a:r>
            <a:endParaRPr lang="en-US" sz="900" dirty="0"/>
          </a:p>
        </p:txBody>
      </p:sp>
      <p:sp>
        <p:nvSpPr>
          <p:cNvPr id="7" name="Text 5"/>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rgbClr val="5B6880"/>
                </a:solidFill>
              </a:rPr>
              <a:t>Emerging Techniques for SAGINs  ·  Seminar</a:t>
            </a:r>
            <a:endParaRPr lang="en-US" sz="1000" dirty="0"/>
          </a:p>
        </p:txBody>
      </p:sp>
      <p:sp>
        <p:nvSpPr>
          <p:cNvPr id="8" name="Text 6"/>
          <p:cNvSpPr/>
          <p:nvPr>
            <p:ph idx="106" type="title" hasCustomPrompt="1"/>
          </p:nvPr>
        </p:nvSpPr>
        <p:spPr>
          <a:xfrm>
            <a:off x="548640" y="566928"/>
            <a:ext cx="11094415" cy="566928"/>
          </a:xfrm>
          <a:prstGeom prst="rect">
            <a:avLst/>
          </a:prstGeom>
          <a:noFill/>
          <a:ln/>
        </p:spPr>
        <p:txBody>
          <a:bodyPr wrap="square" rtlCol="0"/>
          <a:lstStyle>
            <a:lvl1pPr algn="l" indent="0" marL="0">
              <a:buNone/>
              <a:defRPr lang="en-US" sz="3200" b="1" dirty="0">
                <a:solidFill>
                  <a:srgbClr val="0B1E3F"/>
                </a:solidFill>
                <a:latin typeface="+mj-lt" pitchFamily="34" charset="0"/>
                <a:ea typeface="+mj-lt" pitchFamily="34" charset="-122"/>
                <a:cs typeface="+mj-lt" pitchFamily="34" charset="-120"/>
              </a:defRPr>
            </a:lvl1pPr>
          </a:lstStyle>
          <a:p>
            <a:pPr algn="l" indent="0" marL="0">
              <a:buNone/>
            </a:pPr>
            <a:endParaRPr lang="en-US" sz="3200" dirty="0"/>
          </a:p>
        </p:txBody>
      </p:sp>
      <p:sp>
        <p:nvSpPr>
          <p:cNvPr id="9" name="Text 6"/>
          <p:cNvSpPr/>
          <p:nvPr>
            <p:ph idx="107" type="body" hasCustomPrompt="1"/>
          </p:nvPr>
        </p:nvSpPr>
        <p:spPr>
          <a:xfrm>
            <a:off x="548640" y="1152144"/>
            <a:ext cx="11094415" cy="420624"/>
          </a:xfrm>
          <a:prstGeom prst="rect">
            <a:avLst/>
          </a:prstGeom>
          <a:noFill/>
          <a:ln/>
        </p:spPr>
        <p:txBody>
          <a:bodyPr wrap="square" rtlCol="0"/>
          <a:lstStyle>
            <a:lvl1pPr algn="l" indent="0" marL="0">
              <a:buNone/>
              <a:defRPr lang="en-US" sz="1600" dirty="0">
                <a:solidFill>
                  <a:srgbClr val="5B6880"/>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III">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9326880" cy="274320"/>
          </a:xfrm>
          <a:prstGeom prst="rect">
            <a:avLst/>
          </a:prstGeom>
          <a:noFill/>
          <a:ln/>
        </p:spPr>
        <p:txBody>
          <a:bodyPr wrap="square" lIns="0" tIns="0" rIns="0" bIns="0" rtlCol="0" anchor="ctr"/>
          <a:lstStyle/>
          <a:p>
            <a:pPr indent="0" marL="0">
              <a:buNone/>
            </a:pPr>
            <a:r>
              <a:rPr lang="en-US" sz="1200" b="1" spc="200" kern="0" dirty="0">
                <a:solidFill>
                  <a:srgbClr val="5F37BE"/>
                </a:solidFill>
              </a:rPr>
              <a:t>PART III  ·  ATOMIC-TO-SPACE: QUANTUM RECEIVER FOR SAGINS</a:t>
            </a:r>
            <a:endParaRPr lang="en-US" sz="1200" dirty="0"/>
          </a:p>
        </p:txBody>
      </p:sp>
      <p:sp>
        <p:nvSpPr>
          <p:cNvPr id="3" name="Text 1"/>
          <p:cNvSpPr/>
          <p:nvPr/>
        </p:nvSpPr>
        <p:spPr>
          <a:xfrm>
            <a:off x="1021384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a:t>
            </a:r>
            <a:endParaRPr lang="en-US" sz="900" dirty="0"/>
          </a:p>
        </p:txBody>
      </p:sp>
      <p:sp>
        <p:nvSpPr>
          <p:cNvPr id="4" name="Text 2"/>
          <p:cNvSpPr/>
          <p:nvPr/>
        </p:nvSpPr>
        <p:spPr>
          <a:xfrm>
            <a:off x="1057960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a:t>
            </a:r>
            <a:endParaRPr lang="en-US" sz="900" dirty="0"/>
          </a:p>
        </p:txBody>
      </p:sp>
      <p:sp>
        <p:nvSpPr>
          <p:cNvPr id="5" name="Text 3"/>
          <p:cNvSpPr/>
          <p:nvPr/>
        </p:nvSpPr>
        <p:spPr>
          <a:xfrm>
            <a:off x="10945368" y="329184"/>
            <a:ext cx="292608" cy="292608"/>
          </a:xfrm>
          <a:prstGeom prst="ellipse">
            <a:avLst/>
          </a:prstGeom>
          <a:solidFill>
            <a:srgbClr val="7A4FD8"/>
          </a:solidFill>
          <a:ln w="6350">
            <a:solidFill>
              <a:srgbClr val="7A4FD8"/>
            </a:solidFill>
          </a:ln>
        </p:spPr>
        <p:txBody>
          <a:bodyPr wrap="square" lIns="0" tIns="0" rIns="0" bIns="0" rtlCol="0" anchor="ctr"/>
          <a:lstStyle/>
          <a:p>
            <a:pPr algn="ctr" indent="0" marL="0">
              <a:buNone/>
            </a:pPr>
            <a:r>
              <a:rPr lang="en-US" sz="900" b="1" dirty="0">
                <a:solidFill>
                  <a:srgbClr val="FFFFFF"/>
                </a:solidFill>
              </a:rPr>
              <a:t>III</a:t>
            </a:r>
            <a:endParaRPr lang="en-US" sz="900" dirty="0"/>
          </a:p>
        </p:txBody>
      </p:sp>
      <p:sp>
        <p:nvSpPr>
          <p:cNvPr id="6" name="Text 4"/>
          <p:cNvSpPr/>
          <p:nvPr/>
        </p:nvSpPr>
        <p:spPr>
          <a:xfrm>
            <a:off x="1131112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IV</a:t>
            </a:r>
            <a:endParaRPr lang="en-US" sz="900" dirty="0"/>
          </a:p>
        </p:txBody>
      </p:sp>
      <p:sp>
        <p:nvSpPr>
          <p:cNvPr id="7" name="Text 5"/>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rgbClr val="5B6880"/>
                </a:solidFill>
              </a:rPr>
              <a:t>Emerging Techniques for SAGINs  ·  Seminar</a:t>
            </a:r>
            <a:endParaRPr lang="en-US" sz="1000" dirty="0"/>
          </a:p>
        </p:txBody>
      </p:sp>
      <p:sp>
        <p:nvSpPr>
          <p:cNvPr id="8" name="Text 6"/>
          <p:cNvSpPr/>
          <p:nvPr>
            <p:ph idx="106" type="title" hasCustomPrompt="1"/>
          </p:nvPr>
        </p:nvSpPr>
        <p:spPr>
          <a:xfrm>
            <a:off x="548640" y="566928"/>
            <a:ext cx="11094415" cy="566928"/>
          </a:xfrm>
          <a:prstGeom prst="rect">
            <a:avLst/>
          </a:prstGeom>
          <a:noFill/>
          <a:ln/>
        </p:spPr>
        <p:txBody>
          <a:bodyPr wrap="square" rtlCol="0"/>
          <a:lstStyle>
            <a:lvl1pPr algn="l" indent="0" marL="0">
              <a:buNone/>
              <a:defRPr lang="en-US" sz="3200" b="1" dirty="0">
                <a:solidFill>
                  <a:srgbClr val="0B1E3F"/>
                </a:solidFill>
                <a:latin typeface="+mj-lt" pitchFamily="34" charset="0"/>
                <a:ea typeface="+mj-lt" pitchFamily="34" charset="-122"/>
                <a:cs typeface="+mj-lt" pitchFamily="34" charset="-120"/>
              </a:defRPr>
            </a:lvl1pPr>
          </a:lstStyle>
          <a:p>
            <a:pPr algn="l" indent="0" marL="0">
              <a:buNone/>
            </a:pPr>
            <a:endParaRPr lang="en-US" sz="3200" dirty="0"/>
          </a:p>
        </p:txBody>
      </p:sp>
      <p:sp>
        <p:nvSpPr>
          <p:cNvPr id="9" name="Text 6"/>
          <p:cNvSpPr/>
          <p:nvPr>
            <p:ph idx="107" type="body" hasCustomPrompt="1"/>
          </p:nvPr>
        </p:nvSpPr>
        <p:spPr>
          <a:xfrm>
            <a:off x="548640" y="1152144"/>
            <a:ext cx="11094415" cy="420624"/>
          </a:xfrm>
          <a:prstGeom prst="rect">
            <a:avLst/>
          </a:prstGeom>
          <a:noFill/>
          <a:ln/>
        </p:spPr>
        <p:txBody>
          <a:bodyPr wrap="square" rtlCol="0"/>
          <a:lstStyle>
            <a:lvl1pPr algn="l" indent="0" marL="0">
              <a:buNone/>
              <a:defRPr lang="en-US" sz="1600" dirty="0">
                <a:solidFill>
                  <a:srgbClr val="5B6880"/>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_IV">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9326880" cy="274320"/>
          </a:xfrm>
          <a:prstGeom prst="rect">
            <a:avLst/>
          </a:prstGeom>
          <a:noFill/>
          <a:ln/>
        </p:spPr>
        <p:txBody>
          <a:bodyPr wrap="square" lIns="0" tIns="0" rIns="0" bIns="0" rtlCol="0" anchor="ctr"/>
          <a:lstStyle/>
          <a:p>
            <a:pPr indent="0" marL="0">
              <a:buNone/>
            </a:pPr>
            <a:r>
              <a:rPr lang="en-US" sz="1200" b="1" spc="200" kern="0" dirty="0">
                <a:solidFill>
                  <a:srgbClr val="B85F12"/>
                </a:solidFill>
              </a:rPr>
              <a:t>PART IV  ·  MADRL AND RATE-SPLITTING MULTIPLE ACCESS FOR SAGIN</a:t>
            </a:r>
            <a:endParaRPr lang="en-US" sz="1200" dirty="0"/>
          </a:p>
        </p:txBody>
      </p:sp>
      <p:sp>
        <p:nvSpPr>
          <p:cNvPr id="3" name="Text 1"/>
          <p:cNvSpPr/>
          <p:nvPr/>
        </p:nvSpPr>
        <p:spPr>
          <a:xfrm>
            <a:off x="1021384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a:t>
            </a:r>
            <a:endParaRPr lang="en-US" sz="900" dirty="0"/>
          </a:p>
        </p:txBody>
      </p:sp>
      <p:sp>
        <p:nvSpPr>
          <p:cNvPr id="4" name="Text 2"/>
          <p:cNvSpPr/>
          <p:nvPr/>
        </p:nvSpPr>
        <p:spPr>
          <a:xfrm>
            <a:off x="1057960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a:t>
            </a:r>
            <a:endParaRPr lang="en-US" sz="900" dirty="0"/>
          </a:p>
        </p:txBody>
      </p:sp>
      <p:sp>
        <p:nvSpPr>
          <p:cNvPr id="5" name="Text 3"/>
          <p:cNvSpPr/>
          <p:nvPr/>
        </p:nvSpPr>
        <p:spPr>
          <a:xfrm>
            <a:off x="1094536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III</a:t>
            </a:r>
            <a:endParaRPr lang="en-US" sz="900" dirty="0"/>
          </a:p>
        </p:txBody>
      </p:sp>
      <p:sp>
        <p:nvSpPr>
          <p:cNvPr id="6" name="Text 4"/>
          <p:cNvSpPr/>
          <p:nvPr/>
        </p:nvSpPr>
        <p:spPr>
          <a:xfrm>
            <a:off x="11311128" y="329184"/>
            <a:ext cx="292608" cy="292608"/>
          </a:xfrm>
          <a:prstGeom prst="ellipse">
            <a:avLst/>
          </a:prstGeom>
          <a:solidFill>
            <a:srgbClr val="E07B22"/>
          </a:solidFill>
          <a:ln w="6350">
            <a:solidFill>
              <a:srgbClr val="E07B22"/>
            </a:solidFill>
          </a:ln>
        </p:spPr>
        <p:txBody>
          <a:bodyPr wrap="square" lIns="0" tIns="0" rIns="0" bIns="0" rtlCol="0" anchor="ctr"/>
          <a:lstStyle/>
          <a:p>
            <a:pPr algn="ctr" indent="0" marL="0">
              <a:buNone/>
            </a:pPr>
            <a:r>
              <a:rPr lang="en-US" sz="900" b="1" dirty="0">
                <a:solidFill>
                  <a:srgbClr val="FFFFFF"/>
                </a:solidFill>
              </a:rPr>
              <a:t>IV</a:t>
            </a:r>
            <a:endParaRPr lang="en-US" sz="900" dirty="0"/>
          </a:p>
        </p:txBody>
      </p:sp>
      <p:sp>
        <p:nvSpPr>
          <p:cNvPr id="7" name="Text 5"/>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rgbClr val="5B6880"/>
                </a:solidFill>
              </a:rPr>
              <a:t>Emerging Techniques for SAGINs  ·  Seminar</a:t>
            </a:r>
            <a:endParaRPr lang="en-US" sz="1000" dirty="0"/>
          </a:p>
        </p:txBody>
      </p:sp>
      <p:sp>
        <p:nvSpPr>
          <p:cNvPr id="8" name="Text 6"/>
          <p:cNvSpPr/>
          <p:nvPr>
            <p:ph idx="106" type="title" hasCustomPrompt="1"/>
          </p:nvPr>
        </p:nvSpPr>
        <p:spPr>
          <a:xfrm>
            <a:off x="548640" y="566928"/>
            <a:ext cx="11094415" cy="566928"/>
          </a:xfrm>
          <a:prstGeom prst="rect">
            <a:avLst/>
          </a:prstGeom>
          <a:noFill/>
          <a:ln/>
        </p:spPr>
        <p:txBody>
          <a:bodyPr wrap="square" rtlCol="0"/>
          <a:lstStyle>
            <a:lvl1pPr algn="l" indent="0" marL="0">
              <a:buNone/>
              <a:defRPr lang="en-US" sz="3200" b="1" dirty="0">
                <a:solidFill>
                  <a:srgbClr val="0B1E3F"/>
                </a:solidFill>
                <a:latin typeface="+mj-lt" pitchFamily="34" charset="0"/>
                <a:ea typeface="+mj-lt" pitchFamily="34" charset="-122"/>
                <a:cs typeface="+mj-lt" pitchFamily="34" charset="-120"/>
              </a:defRPr>
            </a:lvl1pPr>
          </a:lstStyle>
          <a:p>
            <a:pPr algn="l" indent="0" marL="0">
              <a:buNone/>
            </a:pPr>
            <a:endParaRPr lang="en-US" sz="3200" dirty="0"/>
          </a:p>
        </p:txBody>
      </p:sp>
      <p:sp>
        <p:nvSpPr>
          <p:cNvPr id="9" name="Text 6"/>
          <p:cNvSpPr/>
          <p:nvPr>
            <p:ph idx="107" type="body" hasCustomPrompt="1"/>
          </p:nvPr>
        </p:nvSpPr>
        <p:spPr>
          <a:xfrm>
            <a:off x="548640" y="1152144"/>
            <a:ext cx="11094415" cy="420624"/>
          </a:xfrm>
          <a:prstGeom prst="rect">
            <a:avLst/>
          </a:prstGeom>
          <a:noFill/>
          <a:ln/>
        </p:spPr>
        <p:txBody>
          <a:bodyPr wrap="square" rtlCol="0"/>
          <a:lstStyle>
            <a:lvl1pPr algn="l" indent="0" marL="0">
              <a:buNone/>
              <a:defRPr lang="en-US" sz="1600" dirty="0">
                <a:solidFill>
                  <a:srgbClr val="5B6880"/>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GENERAL">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9326880" cy="274320"/>
          </a:xfrm>
          <a:prstGeom prst="rect">
            <a:avLst/>
          </a:prstGeom>
          <a:noFill/>
          <a:ln/>
        </p:spPr>
        <p:txBody>
          <a:bodyPr wrap="square" rtlCol="0"/>
          <a:lstStyle>
            <a:lvl1pPr indent="0" marL="0">
              <a:buNone/>
              <a:defRPr lang="en-US" sz="1200" b="1" spc="200" kern="0" dirty="0">
                <a:solidFill>
                  <a:srgbClr val="B9821A"/>
                </a:solidFill>
              </a:defRPr>
            </a:lvl1pPr>
          </a:lstStyle>
          <a:p>
            <a:pPr indent="0" marL="0">
              <a:buNone/>
            </a:pPr>
            <a:endParaRPr lang="en-US" sz="1200" dirty="0"/>
          </a:p>
        </p:txBody>
      </p:sp>
      <p:sp>
        <p:nvSpPr>
          <p:cNvPr id="3" name="Text 0"/>
          <p:cNvSpPr/>
          <p:nvPr/>
        </p:nvSpPr>
        <p:spPr>
          <a:xfrm>
            <a:off x="1021384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a:t>
            </a:r>
            <a:endParaRPr lang="en-US" sz="900" dirty="0"/>
          </a:p>
        </p:txBody>
      </p:sp>
      <p:sp>
        <p:nvSpPr>
          <p:cNvPr id="4" name="Text 1"/>
          <p:cNvSpPr/>
          <p:nvPr/>
        </p:nvSpPr>
        <p:spPr>
          <a:xfrm>
            <a:off x="1057960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a:t>
            </a:r>
            <a:endParaRPr lang="en-US" sz="900" dirty="0"/>
          </a:p>
        </p:txBody>
      </p:sp>
      <p:sp>
        <p:nvSpPr>
          <p:cNvPr id="5" name="Text 2"/>
          <p:cNvSpPr/>
          <p:nvPr/>
        </p:nvSpPr>
        <p:spPr>
          <a:xfrm>
            <a:off x="1094536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III</a:t>
            </a:r>
            <a:endParaRPr lang="en-US" sz="900" dirty="0"/>
          </a:p>
        </p:txBody>
      </p:sp>
      <p:sp>
        <p:nvSpPr>
          <p:cNvPr id="6" name="Text 3"/>
          <p:cNvSpPr/>
          <p:nvPr/>
        </p:nvSpPr>
        <p:spPr>
          <a:xfrm>
            <a:off x="11311128" y="329184"/>
            <a:ext cx="292608" cy="292608"/>
          </a:xfrm>
          <a:prstGeom prst="ellipse">
            <a:avLst/>
          </a:prstGeom>
          <a:solidFill>
            <a:srgbClr val="E9EDF3"/>
          </a:solidFill>
          <a:ln w="6350">
            <a:solidFill>
              <a:srgbClr val="E9EDF3"/>
            </a:solidFill>
          </a:ln>
        </p:spPr>
        <p:txBody>
          <a:bodyPr wrap="square" lIns="0" tIns="0" rIns="0" bIns="0" rtlCol="0" anchor="ctr"/>
          <a:lstStyle/>
          <a:p>
            <a:pPr algn="ctr" indent="0" marL="0">
              <a:buNone/>
            </a:pPr>
            <a:r>
              <a:rPr lang="en-US" sz="900" b="1" dirty="0">
                <a:solidFill>
                  <a:srgbClr val="8C97AB"/>
                </a:solidFill>
              </a:rPr>
              <a:t>IV</a:t>
            </a:r>
            <a:endParaRPr lang="en-US" sz="900" dirty="0"/>
          </a:p>
        </p:txBody>
      </p:sp>
      <p:sp>
        <p:nvSpPr>
          <p:cNvPr id="7" name="Text 4"/>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rgbClr val="5B6880"/>
                </a:solidFill>
              </a:rPr>
              <a:t>Emerging Techniques for SAGINs  ·  Seminar</a:t>
            </a:r>
            <a:endParaRPr lang="en-US" sz="1000" dirty="0"/>
          </a:p>
        </p:txBody>
      </p:sp>
      <p:sp>
        <p:nvSpPr>
          <p:cNvPr id="8" name="Text 5"/>
          <p:cNvSpPr/>
          <p:nvPr>
            <p:ph idx="106" type="title" hasCustomPrompt="1"/>
          </p:nvPr>
        </p:nvSpPr>
        <p:spPr>
          <a:xfrm>
            <a:off x="548640" y="566928"/>
            <a:ext cx="11094415" cy="566928"/>
          </a:xfrm>
          <a:prstGeom prst="rect">
            <a:avLst/>
          </a:prstGeom>
          <a:noFill/>
          <a:ln/>
        </p:spPr>
        <p:txBody>
          <a:bodyPr wrap="square" rtlCol="0"/>
          <a:lstStyle>
            <a:lvl1pPr algn="l" indent="0" marL="0">
              <a:buNone/>
              <a:defRPr lang="en-US" sz="3200" b="1" dirty="0">
                <a:solidFill>
                  <a:srgbClr val="0B1E3F"/>
                </a:solidFill>
                <a:latin typeface="+mj-lt" pitchFamily="34" charset="0"/>
                <a:ea typeface="+mj-lt" pitchFamily="34" charset="-122"/>
                <a:cs typeface="+mj-lt" pitchFamily="34" charset="-120"/>
              </a:defRPr>
            </a:lvl1pPr>
          </a:lstStyle>
          <a:p>
            <a:pPr algn="l" indent="0" marL="0">
              <a:buNone/>
            </a:pPr>
            <a:endParaRPr lang="en-US" sz="3200" dirty="0"/>
          </a:p>
        </p:txBody>
      </p:sp>
      <p:sp>
        <p:nvSpPr>
          <p:cNvPr id="9" name="Text 5"/>
          <p:cNvSpPr/>
          <p:nvPr>
            <p:ph idx="107" type="body" hasCustomPrompt="1"/>
          </p:nvPr>
        </p:nvSpPr>
        <p:spPr>
          <a:xfrm>
            <a:off x="548640" y="1152144"/>
            <a:ext cx="11094415" cy="420624"/>
          </a:xfrm>
          <a:prstGeom prst="rect">
            <a:avLst/>
          </a:prstGeom>
          <a:noFill/>
          <a:ln/>
        </p:spPr>
        <p:txBody>
          <a:bodyPr wrap="square" rtlCol="0"/>
          <a:lstStyle>
            <a:lvl1pPr algn="l" indent="0" marL="0">
              <a:buNone/>
              <a:defRPr lang="en-US" sz="1600" dirty="0">
                <a:solidFill>
                  <a:srgbClr val="5B6880"/>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394960" y="1737360"/>
            <a:ext cx="6217920" cy="1188720"/>
          </a:xfrm>
          <a:prstGeom prst="rect">
            <a:avLst/>
          </a:prstGeom>
          <a:noFill/>
          <a:ln/>
        </p:spPr>
        <p:txBody>
          <a:bodyPr wrap="square" rtlCol="0"/>
          <a:lstStyle>
            <a:lvl1pPr algn="l" indent="0" marL="0">
              <a:buNone/>
              <a:defRPr lang="en-US" sz="5400" b="1" dirty="0">
                <a:solidFill>
                  <a:srgbClr val="FFFFFF"/>
                </a:solidFill>
                <a:latin typeface="+mj-lt" pitchFamily="34" charset="0"/>
                <a:ea typeface="+mj-lt" pitchFamily="34" charset="-122"/>
                <a:cs typeface="+mj-lt" pitchFamily="34" charset="-120"/>
              </a:defRPr>
            </a:lvl1pPr>
          </a:lstStyle>
          <a:p>
            <a:pPr algn="l" indent="0" marL="0">
              <a:buNone/>
            </a:pPr>
            <a:endParaRPr lang="en-US" sz="5400" dirty="0"/>
          </a:p>
        </p:txBody>
      </p:sp>
      <p:sp>
        <p:nvSpPr>
          <p:cNvPr id="3" name="Text 0"/>
          <p:cNvSpPr/>
          <p:nvPr>
            <p:ph idx="101" type="body" hasCustomPrompt="1"/>
          </p:nvPr>
        </p:nvSpPr>
        <p:spPr>
          <a:xfrm>
            <a:off x="5440680" y="3108960"/>
            <a:ext cx="6126480" cy="2011680"/>
          </a:xfrm>
          <a:prstGeom prst="rect">
            <a:avLst/>
          </a:prstGeom>
          <a:noFill/>
          <a:ln/>
        </p:spPr>
        <p:txBody>
          <a:bodyPr wrap="square" rtlCol="0"/>
          <a:lstStyle>
            <a:lvl1pPr algn="l" indent="0" marL="0">
              <a:buNone/>
              <a:defRPr lang="en-US" sz="1800" dirty="0">
                <a:solidFill>
                  <a:srgbClr val="D6E2F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7.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7.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7.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7.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8.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8.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8.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9.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9.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9.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0.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0.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0.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85800" y="1691640"/>
            <a:ext cx="7223760" cy="1965960"/>
          </a:xfrm>
          <a:prstGeom prst="rect">
            <a:avLst/>
          </a:prstGeom>
          <a:noFill/>
          <a:ln/>
        </p:spPr>
        <p:txBody>
          <a:bodyPr wrap="square" lIns="0" tIns="0" rIns="0" bIns="0" rtlCol="0" anchor="b"/>
          <a:lstStyle/>
          <a:p>
            <a:pPr algn="l" indent="0" marL="0">
              <a:buNone/>
            </a:pPr>
            <a:r>
              <a:rPr lang="en-US" sz="4000" b="1" dirty="0">
                <a:solidFill>
                  <a:srgbClr val="FFFFFF"/>
                </a:solidFill>
                <a:latin typeface="+mj-lt" pitchFamily="34" charset="0"/>
                <a:ea typeface="+mj-lt" pitchFamily="34" charset="-122"/>
                <a:cs typeface="+mj-lt" pitchFamily="34" charset="-120"/>
              </a:rPr>
              <a:t>Emerging Techniques for</a:t>
            </a:r>
            <a:br/>
            <a:pPr algn="l" indent="0" marL="0">
              <a:buNone/>
            </a:pPr>
            <a:r>
              <a:rPr lang="en-US" sz="4000" b="1" dirty="0">
                <a:solidFill>
                  <a:srgbClr val="FFFFFF"/>
                </a:solidFill>
                <a:latin typeface="+mj-lt" pitchFamily="34" charset="0"/>
                <a:ea typeface="+mj-lt" pitchFamily="34" charset="-122"/>
                <a:cs typeface="+mj-lt" pitchFamily="34" charset="-120"/>
              </a:rPr>
              <a:t>Space-Air-Ground Integrated Networks</a:t>
            </a:r>
            <a:endParaRPr lang="en-US" sz="4000" dirty="0"/>
          </a:p>
        </p:txBody>
      </p:sp>
      <p:sp>
        <p:nvSpPr>
          <p:cNvPr id="3" name="Text 1"/>
          <p:cNvSpPr/>
          <p:nvPr>
            <p:ph idx="102" type="body" hasCustomPrompt="1"/>
          </p:nvPr>
        </p:nvSpPr>
        <p:spPr>
          <a:xfrm>
            <a:off x="685800" y="3822192"/>
            <a:ext cx="7223760" cy="731520"/>
          </a:xfrm>
          <a:prstGeom prst="rect">
            <a:avLst/>
          </a:prstGeom>
          <a:noFill/>
          <a:ln/>
        </p:spPr>
        <p:txBody>
          <a:bodyPr wrap="square" lIns="0" tIns="0" rIns="0" bIns="0" rtlCol="0" anchor="t"/>
          <a:lstStyle/>
          <a:p>
            <a:pPr algn="l" indent="0" marL="0">
              <a:buNone/>
            </a:pPr>
            <a:r>
              <a:rPr lang="en-US" sz="1800" dirty="0">
                <a:solidFill>
                  <a:srgbClr val="A8D8FF"/>
                </a:solidFill>
              </a:rPr>
              <a:t>Polarforming  ·  Atomic Quantum Receivers  ·  MADRL and Rate-Splitting Multiple Access</a:t>
            </a:r>
            <a:endParaRPr lang="en-US" sz="1800" dirty="0"/>
          </a:p>
        </p:txBody>
      </p:sp>
      <p:sp>
        <p:nvSpPr>
          <p:cNvPr id="4" name="Text 1"/>
          <p:cNvSpPr/>
          <p:nvPr>
            <p:ph idx="103" type="body" hasCustomPrompt="1"/>
          </p:nvPr>
        </p:nvSpPr>
        <p:spPr>
          <a:xfrm>
            <a:off x="685800" y="4846320"/>
            <a:ext cx="6583680" cy="1188720"/>
          </a:xfrm>
          <a:prstGeom prst="rect">
            <a:avLst/>
          </a:prstGeom>
          <a:noFill/>
          <a:ln/>
        </p:spPr>
        <p:txBody>
          <a:bodyPr wrap="square" lIns="0" tIns="0" rIns="0" bIns="0" rtlCol="0" anchor="t"/>
          <a:lstStyle/>
          <a:p>
            <a:pPr algn="l" indent="0" marL="0">
              <a:buNone/>
            </a:pPr>
            <a:r>
              <a:rPr lang="en-US" sz="1800" b="1" dirty="0">
                <a:solidFill>
                  <a:srgbClr val="FFFFFF"/>
                </a:solidFill>
              </a:rPr>
              <a:t>Miao Zhang</a:t>
            </a:r>
            <a:endParaRPr lang="en-US" sz="1500" dirty="0"/>
          </a:p>
          <a:p>
            <a:pPr algn="l" indent="0" marL="0">
              <a:buNone/>
            </a:pPr>
            <a:r>
              <a:rPr lang="en-US" sz="1500" dirty="0">
                <a:solidFill>
                  <a:srgbClr val="D6E2F2"/>
                </a:solidFill>
              </a:rPr>
              <a:t>Department / Laboratory, University</a:t>
            </a:r>
            <a:endParaRPr lang="en-US" sz="1500" dirty="0"/>
          </a:p>
          <a:p>
            <a:pPr algn="l" indent="0" marL="0">
              <a:buNone/>
            </a:pPr>
            <a:r>
              <a:rPr lang="en-US" sz="1500" dirty="0">
                <a:solidFill>
                  <a:srgbClr val="D6E2F2"/>
                </a:solidFill>
              </a:rPr>
              <a:t>Seminar Series  ·  Month DD,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Outline</a:t>
            </a:r>
            <a:endParaRPr lang="en-US" sz="3200" dirty="0"/>
          </a:p>
        </p:txBody>
      </p:sp>
      <p:sp>
        <p:nvSpPr>
          <p:cNvPr id="3" name="Text 5"/>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Background first, then three optimization case studies that share one structure: system model, proposed design, results.</a:t>
            </a:r>
            <a:endParaRPr lang="en-US" sz="1600" dirty="0"/>
          </a:p>
        </p:txBody>
      </p:sp>
      <p:sp>
        <p:nvSpPr>
          <p:cNvPr id="5" name="Text 0"/>
          <p:cNvSpPr/>
          <p:nvPr>
            <p:ph idx="100" type="body" hasCustomPrompt="1"/>
          </p:nvPr>
        </p:nvSpPr>
        <p:spPr>
          <a:xfrm>
            <a:off x="548640" y="329184"/>
            <a:ext cx="9326880" cy="274320"/>
          </a:xfrm>
          <a:prstGeom prst="rect">
            <a:avLst/>
          </a:prstGeom>
          <a:noFill/>
          <a:ln/>
        </p:spPr>
        <p:txBody>
          <a:bodyPr wrap="square" lIns="0" tIns="0" rIns="0" bIns="0" rtlCol="0"/>
          <a:lstStyle/>
          <a:p>
            <a:pPr indent="0" marL="0">
              <a:buNone/>
            </a:pPr>
            <a:r>
              <a:rPr lang="en-US" sz="1200" b="1" spc="200" kern="0" dirty="0">
                <a:solidFill>
                  <a:srgbClr val="B9821A"/>
                </a:solidFill>
              </a:rPr>
              <a:t>ROADMAP</a:t>
            </a:r>
            <a:endParaRPr lang="en-US" sz="1200" dirty="0"/>
          </a:p>
        </p:txBody>
      </p:sp>
      <p:sp>
        <p:nvSpPr>
          <p:cNvPr id="6" name="outline-card-1"/>
          <p:cNvSpPr/>
          <p:nvPr/>
        </p:nvSpPr>
        <p:spPr>
          <a:xfrm>
            <a:off x="548640" y="1801368"/>
            <a:ext cx="2602154" cy="3886200"/>
          </a:xfrm>
          <a:prstGeom prst="roundRect">
            <a:avLst>
              <a:gd name="adj" fmla="val 3514"/>
            </a:avLst>
          </a:prstGeom>
          <a:solidFill>
            <a:srgbClr val="E8F2FC"/>
          </a:solidFill>
          <a:ln w="9525">
            <a:solidFill>
              <a:srgbClr val="E8F2FC"/>
            </a:solidFill>
            <a:prstDash val="solid"/>
          </a:ln>
        </p:spPr>
      </p:sp>
      <p:sp>
        <p:nvSpPr>
          <p:cNvPr id="7" name="icon-bg-2"/>
          <p:cNvSpPr/>
          <p:nvPr/>
        </p:nvSpPr>
        <p:spPr>
          <a:xfrm>
            <a:off x="777240" y="2029968"/>
            <a:ext cx="566928" cy="566928"/>
          </a:xfrm>
          <a:prstGeom prst="ellipse">
            <a:avLst/>
          </a:prstGeom>
          <a:solidFill>
            <a:schemeClr val="accent1"/>
          </a:solidFill>
          <a:ln w="6350">
            <a:solidFill>
              <a:schemeClr val="accent1"/>
            </a:solidFill>
            <a:prstDash val="solid"/>
          </a:ln>
        </p:spPr>
      </p:sp>
      <p:pic>
        <p:nvPicPr>
          <p:cNvPr id="8" name="icon-3" descr="Icon: world">    </p:cNvPr>
          <p:cNvPicPr>
            <a:picLocks noChangeAspect="1"/>
          </p:cNvPicPr>
          <p:nvPr/>
        </p:nvPicPr>
        <p:blipFill>
          <a:blip r:embed="rId1"/>
          <a:stretch>
            <a:fillRect/>
          </a:stretch>
        </p:blipFill>
        <p:spPr>
          <a:xfrm>
            <a:off x="901964" y="2154692"/>
            <a:ext cx="317480" cy="317480"/>
          </a:xfrm>
          <a:prstGeom prst="rect">
            <a:avLst/>
          </a:prstGeom>
        </p:spPr>
      </p:pic>
      <p:sp>
        <p:nvSpPr>
          <p:cNvPr id="9" name="outline-part-4"/>
          <p:cNvSpPr/>
          <p:nvPr/>
        </p:nvSpPr>
        <p:spPr>
          <a:xfrm>
            <a:off x="1481328" y="2130552"/>
            <a:ext cx="1504874" cy="365760"/>
          </a:xfrm>
          <a:prstGeom prst="rect">
            <a:avLst/>
          </a:prstGeom>
          <a:noFill/>
          <a:ln/>
        </p:spPr>
        <p:txBody>
          <a:bodyPr wrap="square" lIns="0" tIns="0" rIns="0" bIns="0" rtlCol="0" anchor="ctr"/>
          <a:lstStyle/>
          <a:p>
            <a:pPr indent="0" marL="0">
              <a:buNone/>
            </a:pPr>
            <a:r>
              <a:rPr lang="en-US" sz="1300" b="1" spc="300" kern="0" dirty="0">
                <a:solidFill>
                  <a:srgbClr val="1670B3"/>
                </a:solidFill>
              </a:rPr>
              <a:t>PART I</a:t>
            </a:r>
            <a:endParaRPr lang="en-US" sz="1300" dirty="0"/>
          </a:p>
        </p:txBody>
      </p:sp>
      <p:sp>
        <p:nvSpPr>
          <p:cNvPr id="10" name="outline-title-5"/>
          <p:cNvSpPr/>
          <p:nvPr/>
        </p:nvSpPr>
        <p:spPr>
          <a:xfrm>
            <a:off x="777240" y="2715768"/>
            <a:ext cx="2144954" cy="896112"/>
          </a:xfrm>
          <a:prstGeom prst="rect">
            <a:avLst/>
          </a:prstGeom>
          <a:noFill/>
          <a:ln/>
        </p:spPr>
        <p:txBody>
          <a:bodyPr wrap="square" lIns="0" tIns="0" rIns="0" bIns="0" rtlCol="0" anchor="t"/>
          <a:lstStyle/>
          <a:p>
            <a:pPr indent="0" marL="0">
              <a:buNone/>
            </a:pPr>
            <a:r>
              <a:rPr lang="en-US" sz="1800" b="1" dirty="0">
                <a:solidFill>
                  <a:srgbClr val="0B1E3F"/>
                </a:solidFill>
              </a:rPr>
              <a:t>Introduction</a:t>
            </a:r>
            <a:endParaRPr lang="en-US" sz="1800" dirty="0"/>
          </a:p>
        </p:txBody>
      </p:sp>
      <p:sp>
        <p:nvSpPr>
          <p:cNvPr id="11" name="outline-items-6"/>
          <p:cNvSpPr/>
          <p:nvPr/>
        </p:nvSpPr>
        <p:spPr>
          <a:xfrm>
            <a:off x="777240" y="3675888"/>
            <a:ext cx="219067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B2638"/>
                </a:solidFill>
              </a:rPr>
              <a:t>SAGIN</a:t>
            </a:r>
            <a:endParaRPr lang="en-US" sz="1400" dirty="0"/>
          </a:p>
          <a:p>
            <a:pPr marL="177800" indent="-177800">
              <a:spcAft>
                <a:spcPts val="400"/>
              </a:spcAft>
              <a:buSzPct val="100000"/>
              <a:buChar char="•"/>
            </a:pPr>
            <a:r>
              <a:rPr lang="en-US" sz="1400" dirty="0">
                <a:solidFill>
                  <a:srgbClr val="1B2638"/>
                </a:solidFill>
              </a:rPr>
              <a:t>Polarforming</a:t>
            </a:r>
            <a:endParaRPr lang="en-US" sz="1400" dirty="0"/>
          </a:p>
          <a:p>
            <a:pPr marL="177800" indent="-177800">
              <a:spcAft>
                <a:spcPts val="400"/>
              </a:spcAft>
              <a:buSzPct val="100000"/>
              <a:buChar char="•"/>
            </a:pPr>
            <a:r>
              <a:rPr lang="en-US" sz="1400" dirty="0">
                <a:solidFill>
                  <a:srgbClr val="1B2638"/>
                </a:solidFill>
              </a:rPr>
              <a:t>Atomic receivers</a:t>
            </a:r>
            <a:endParaRPr lang="en-US" sz="1400" dirty="0"/>
          </a:p>
          <a:p>
            <a:pPr marL="177800" indent="-177800">
              <a:spcAft>
                <a:spcPts val="400"/>
              </a:spcAft>
              <a:buSzPct val="100000"/>
              <a:buChar char="•"/>
            </a:pPr>
            <a:r>
              <a:rPr lang="en-US" sz="1400" dirty="0">
                <a:solidFill>
                  <a:srgbClr val="1B2638"/>
                </a:solidFill>
              </a:rPr>
              <a:t>RSMA</a:t>
            </a:r>
            <a:endParaRPr lang="en-US" sz="1400" dirty="0"/>
          </a:p>
          <a:p>
            <a:pPr marL="177800" indent="-177800">
              <a:spcAft>
                <a:spcPts val="400"/>
              </a:spcAft>
              <a:buSzPct val="100000"/>
              <a:buChar char="•"/>
            </a:pPr>
            <a:r>
              <a:rPr lang="en-US" sz="1400" dirty="0">
                <a:solidFill>
                  <a:srgbClr val="1B2638"/>
                </a:solidFill>
              </a:rPr>
              <a:t>MADRL</a:t>
            </a:r>
            <a:endParaRPr lang="en-US" sz="1400" dirty="0"/>
          </a:p>
        </p:txBody>
      </p:sp>
      <p:sp>
        <p:nvSpPr>
          <p:cNvPr id="12" name="outline-question-7"/>
          <p:cNvSpPr/>
          <p:nvPr/>
        </p:nvSpPr>
        <p:spPr>
          <a:xfrm>
            <a:off x="777240" y="5148072"/>
            <a:ext cx="2144954" cy="457200"/>
          </a:xfrm>
          <a:prstGeom prst="rect">
            <a:avLst/>
          </a:prstGeom>
          <a:noFill/>
          <a:ln/>
        </p:spPr>
        <p:txBody>
          <a:bodyPr wrap="square" lIns="0" tIns="0" rIns="0" bIns="0" rtlCol="0" anchor="t"/>
          <a:lstStyle/>
          <a:p>
            <a:pPr indent="0" marL="0">
              <a:buNone/>
            </a:pPr>
            <a:r>
              <a:rPr lang="en-US" sz="1400" i="1" dirty="0">
                <a:solidFill>
                  <a:srgbClr val="1670B3"/>
                </a:solidFill>
              </a:rPr>
              <a:t>Which tools fit which layer?</a:t>
            </a:r>
            <a:endParaRPr lang="en-US" sz="1400" dirty="0"/>
          </a:p>
        </p:txBody>
      </p:sp>
      <p:sp>
        <p:nvSpPr>
          <p:cNvPr id="13" name="outline-card-8"/>
          <p:cNvSpPr/>
          <p:nvPr/>
        </p:nvSpPr>
        <p:spPr>
          <a:xfrm>
            <a:off x="3379394" y="1801368"/>
            <a:ext cx="2602154" cy="3886200"/>
          </a:xfrm>
          <a:prstGeom prst="roundRect">
            <a:avLst>
              <a:gd name="adj" fmla="val 3514"/>
            </a:avLst>
          </a:prstGeom>
          <a:solidFill>
            <a:srgbClr val="E2F5F2"/>
          </a:solidFill>
          <a:ln w="9525">
            <a:solidFill>
              <a:srgbClr val="E2F5F2"/>
            </a:solidFill>
            <a:prstDash val="solid"/>
          </a:ln>
        </p:spPr>
      </p:sp>
      <p:sp>
        <p:nvSpPr>
          <p:cNvPr id="14" name="icon-bg-9"/>
          <p:cNvSpPr/>
          <p:nvPr/>
        </p:nvSpPr>
        <p:spPr>
          <a:xfrm>
            <a:off x="3607994" y="2029968"/>
            <a:ext cx="566928" cy="566928"/>
          </a:xfrm>
          <a:prstGeom prst="ellipse">
            <a:avLst/>
          </a:prstGeom>
          <a:solidFill>
            <a:schemeClr val="accent2"/>
          </a:solidFill>
          <a:ln w="6350">
            <a:solidFill>
              <a:schemeClr val="accent2"/>
            </a:solidFill>
            <a:prstDash val="solid"/>
          </a:ln>
        </p:spPr>
      </p:sp>
      <p:pic>
        <p:nvPicPr>
          <p:cNvPr id="15" name="icon-10" descr="Icon: antenna">    </p:cNvPr>
          <p:cNvPicPr>
            <a:picLocks noChangeAspect="1"/>
          </p:cNvPicPr>
          <p:nvPr/>
        </p:nvPicPr>
        <p:blipFill>
          <a:blip r:embed="rId2"/>
          <a:stretch>
            <a:fillRect/>
          </a:stretch>
        </p:blipFill>
        <p:spPr>
          <a:xfrm>
            <a:off x="3732718" y="2154692"/>
            <a:ext cx="317480" cy="317480"/>
          </a:xfrm>
          <a:prstGeom prst="rect">
            <a:avLst/>
          </a:prstGeom>
        </p:spPr>
      </p:pic>
      <p:sp>
        <p:nvSpPr>
          <p:cNvPr id="16" name="outline-part-11"/>
          <p:cNvSpPr/>
          <p:nvPr/>
        </p:nvSpPr>
        <p:spPr>
          <a:xfrm>
            <a:off x="4312082" y="2130552"/>
            <a:ext cx="1504874" cy="365760"/>
          </a:xfrm>
          <a:prstGeom prst="rect">
            <a:avLst/>
          </a:prstGeom>
          <a:noFill/>
          <a:ln/>
        </p:spPr>
        <p:txBody>
          <a:bodyPr wrap="square" lIns="0" tIns="0" rIns="0" bIns="0" rtlCol="0" anchor="ctr"/>
          <a:lstStyle/>
          <a:p>
            <a:pPr indent="0" marL="0">
              <a:buNone/>
            </a:pPr>
            <a:r>
              <a:rPr lang="en-US" sz="1300" b="1" spc="300" kern="0" dirty="0">
                <a:solidFill>
                  <a:srgbClr val="0B7F72"/>
                </a:solidFill>
              </a:rPr>
              <a:t>PART II</a:t>
            </a:r>
            <a:endParaRPr lang="en-US" sz="1300" dirty="0"/>
          </a:p>
        </p:txBody>
      </p:sp>
      <p:sp>
        <p:nvSpPr>
          <p:cNvPr id="17" name="outline-title-12"/>
          <p:cNvSpPr/>
          <p:nvPr/>
        </p:nvSpPr>
        <p:spPr>
          <a:xfrm>
            <a:off x="3607994" y="2715768"/>
            <a:ext cx="2144954" cy="896112"/>
          </a:xfrm>
          <a:prstGeom prst="rect">
            <a:avLst/>
          </a:prstGeom>
          <a:noFill/>
          <a:ln/>
        </p:spPr>
        <p:txBody>
          <a:bodyPr wrap="square" lIns="0" tIns="0" rIns="0" bIns="0" rtlCol="0" anchor="t"/>
          <a:lstStyle/>
          <a:p>
            <a:pPr indent="0" marL="0">
              <a:buNone/>
            </a:pPr>
            <a:r>
              <a:rPr lang="en-US" sz="1800" b="1" dirty="0">
                <a:solidFill>
                  <a:srgbClr val="0B1E3F"/>
                </a:solidFill>
              </a:rPr>
              <a:t>Polarforming Design in SAGIN</a:t>
            </a:r>
            <a:endParaRPr lang="en-US" sz="1800" dirty="0"/>
          </a:p>
        </p:txBody>
      </p:sp>
      <p:sp>
        <p:nvSpPr>
          <p:cNvPr id="18" name="outline-items-13"/>
          <p:cNvSpPr/>
          <p:nvPr/>
        </p:nvSpPr>
        <p:spPr>
          <a:xfrm>
            <a:off x="3607994" y="3675888"/>
            <a:ext cx="219067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B2638"/>
                </a:solidFill>
              </a:rPr>
              <a:t>System model</a:t>
            </a:r>
            <a:endParaRPr lang="en-US" sz="1400" dirty="0"/>
          </a:p>
          <a:p>
            <a:pPr marL="177800" indent="-177800">
              <a:spcAft>
                <a:spcPts val="400"/>
              </a:spcAft>
              <a:buSzPct val="100000"/>
              <a:buChar char="•"/>
            </a:pPr>
            <a:r>
              <a:rPr lang="en-US" sz="1400" dirty="0">
                <a:solidFill>
                  <a:srgbClr val="1B2638"/>
                </a:solidFill>
              </a:rPr>
              <a:t>Proposed design</a:t>
            </a:r>
            <a:endParaRPr lang="en-US" sz="1400" dirty="0"/>
          </a:p>
          <a:p>
            <a:pPr marL="177800" indent="-177800">
              <a:spcAft>
                <a:spcPts val="400"/>
              </a:spcAft>
              <a:buSzPct val="100000"/>
              <a:buChar char="•"/>
            </a:pPr>
            <a:r>
              <a:rPr lang="en-US" sz="1400" dirty="0">
                <a:solidFill>
                  <a:srgbClr val="1B2638"/>
                </a:solidFill>
              </a:rPr>
              <a:t>Simulation results</a:t>
            </a:r>
            <a:endParaRPr lang="en-US" sz="1400" dirty="0"/>
          </a:p>
        </p:txBody>
      </p:sp>
      <p:sp>
        <p:nvSpPr>
          <p:cNvPr id="19" name="outline-question-14"/>
          <p:cNvSpPr/>
          <p:nvPr/>
        </p:nvSpPr>
        <p:spPr>
          <a:xfrm>
            <a:off x="3607994" y="5148072"/>
            <a:ext cx="2144954" cy="457200"/>
          </a:xfrm>
          <a:prstGeom prst="rect">
            <a:avLst/>
          </a:prstGeom>
          <a:noFill/>
          <a:ln/>
        </p:spPr>
        <p:txBody>
          <a:bodyPr wrap="square" lIns="0" tIns="0" rIns="0" bIns="0" rtlCol="0" anchor="t"/>
          <a:lstStyle/>
          <a:p>
            <a:pPr indent="0" marL="0">
              <a:buNone/>
            </a:pPr>
            <a:r>
              <a:rPr lang="en-US" sz="1400" i="1" dirty="0">
                <a:solidFill>
                  <a:srgbClr val="0B7F72"/>
                </a:solidFill>
              </a:rPr>
              <a:t>Can antennas follow the channel's polarization?</a:t>
            </a:r>
            <a:endParaRPr lang="en-US" sz="1400" dirty="0"/>
          </a:p>
        </p:txBody>
      </p:sp>
      <p:sp>
        <p:nvSpPr>
          <p:cNvPr id="20" name="outline-card-15"/>
          <p:cNvSpPr/>
          <p:nvPr/>
        </p:nvSpPr>
        <p:spPr>
          <a:xfrm>
            <a:off x="6210148" y="1801368"/>
            <a:ext cx="2602154" cy="3886200"/>
          </a:xfrm>
          <a:prstGeom prst="roundRect">
            <a:avLst>
              <a:gd name="adj" fmla="val 3514"/>
            </a:avLst>
          </a:prstGeom>
          <a:solidFill>
            <a:srgbClr val="EFEAFC"/>
          </a:solidFill>
          <a:ln w="9525">
            <a:solidFill>
              <a:srgbClr val="EFEAFC"/>
            </a:solidFill>
            <a:prstDash val="solid"/>
          </a:ln>
        </p:spPr>
      </p:sp>
      <p:sp>
        <p:nvSpPr>
          <p:cNvPr id="21" name="icon-bg-16"/>
          <p:cNvSpPr/>
          <p:nvPr/>
        </p:nvSpPr>
        <p:spPr>
          <a:xfrm>
            <a:off x="6438748" y="2029968"/>
            <a:ext cx="566928" cy="566928"/>
          </a:xfrm>
          <a:prstGeom prst="ellipse">
            <a:avLst/>
          </a:prstGeom>
          <a:solidFill>
            <a:schemeClr val="accent3"/>
          </a:solidFill>
          <a:ln w="6350">
            <a:solidFill>
              <a:schemeClr val="accent3"/>
            </a:solidFill>
            <a:prstDash val="solid"/>
          </a:ln>
        </p:spPr>
      </p:sp>
      <p:pic>
        <p:nvPicPr>
          <p:cNvPr id="22" name="icon-17" descr="Icon: atom">    </p:cNvPr>
          <p:cNvPicPr>
            <a:picLocks noChangeAspect="1"/>
          </p:cNvPicPr>
          <p:nvPr/>
        </p:nvPicPr>
        <p:blipFill>
          <a:blip r:embed="rId3"/>
          <a:stretch>
            <a:fillRect/>
          </a:stretch>
        </p:blipFill>
        <p:spPr>
          <a:xfrm>
            <a:off x="6563472" y="2154692"/>
            <a:ext cx="317480" cy="317480"/>
          </a:xfrm>
          <a:prstGeom prst="rect">
            <a:avLst/>
          </a:prstGeom>
        </p:spPr>
      </p:pic>
      <p:sp>
        <p:nvSpPr>
          <p:cNvPr id="23" name="outline-part-18"/>
          <p:cNvSpPr/>
          <p:nvPr/>
        </p:nvSpPr>
        <p:spPr>
          <a:xfrm>
            <a:off x="7142836" y="2130552"/>
            <a:ext cx="1504874" cy="365760"/>
          </a:xfrm>
          <a:prstGeom prst="rect">
            <a:avLst/>
          </a:prstGeom>
          <a:noFill/>
          <a:ln/>
        </p:spPr>
        <p:txBody>
          <a:bodyPr wrap="square" lIns="0" tIns="0" rIns="0" bIns="0" rtlCol="0" anchor="ctr"/>
          <a:lstStyle/>
          <a:p>
            <a:pPr indent="0" marL="0">
              <a:buNone/>
            </a:pPr>
            <a:r>
              <a:rPr lang="en-US" sz="1300" b="1" spc="300" kern="0" dirty="0">
                <a:solidFill>
                  <a:srgbClr val="5F37BE"/>
                </a:solidFill>
              </a:rPr>
              <a:t>PART III</a:t>
            </a:r>
            <a:endParaRPr lang="en-US" sz="1300" dirty="0"/>
          </a:p>
        </p:txBody>
      </p:sp>
      <p:sp>
        <p:nvSpPr>
          <p:cNvPr id="24" name="outline-title-19"/>
          <p:cNvSpPr/>
          <p:nvPr/>
        </p:nvSpPr>
        <p:spPr>
          <a:xfrm>
            <a:off x="6438748" y="2715768"/>
            <a:ext cx="2144954" cy="896112"/>
          </a:xfrm>
          <a:prstGeom prst="rect">
            <a:avLst/>
          </a:prstGeom>
          <a:noFill/>
          <a:ln/>
        </p:spPr>
        <p:txBody>
          <a:bodyPr wrap="square" lIns="0" tIns="0" rIns="0" bIns="0" rtlCol="0" anchor="t"/>
          <a:lstStyle/>
          <a:p>
            <a:pPr indent="0" marL="0">
              <a:buNone/>
            </a:pPr>
            <a:r>
              <a:rPr lang="en-US" sz="1800" b="1" dirty="0">
                <a:solidFill>
                  <a:srgbClr val="0B1E3F"/>
                </a:solidFill>
              </a:rPr>
              <a:t>Atomic-to-Space: Quantum Receiver for SAGINs</a:t>
            </a:r>
            <a:endParaRPr lang="en-US" sz="1800" dirty="0"/>
          </a:p>
        </p:txBody>
      </p:sp>
      <p:sp>
        <p:nvSpPr>
          <p:cNvPr id="25" name="outline-items-20"/>
          <p:cNvSpPr/>
          <p:nvPr/>
        </p:nvSpPr>
        <p:spPr>
          <a:xfrm>
            <a:off x="6438748" y="3675888"/>
            <a:ext cx="219067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B2638"/>
                </a:solidFill>
              </a:rPr>
              <a:t>System model</a:t>
            </a:r>
            <a:endParaRPr lang="en-US" sz="1400" dirty="0"/>
          </a:p>
          <a:p>
            <a:pPr marL="177800" indent="-177800">
              <a:spcAft>
                <a:spcPts val="400"/>
              </a:spcAft>
              <a:buSzPct val="100000"/>
              <a:buChar char="•"/>
            </a:pPr>
            <a:r>
              <a:rPr lang="en-US" sz="1400" dirty="0">
                <a:solidFill>
                  <a:srgbClr val="1B2638"/>
                </a:solidFill>
              </a:rPr>
              <a:t>Proposed design</a:t>
            </a:r>
            <a:endParaRPr lang="en-US" sz="1400" dirty="0"/>
          </a:p>
          <a:p>
            <a:pPr marL="177800" indent="-177800">
              <a:spcAft>
                <a:spcPts val="400"/>
              </a:spcAft>
              <a:buSzPct val="100000"/>
              <a:buChar char="•"/>
            </a:pPr>
            <a:r>
              <a:rPr lang="en-US" sz="1400" dirty="0">
                <a:solidFill>
                  <a:srgbClr val="1B2638"/>
                </a:solidFill>
              </a:rPr>
              <a:t>Simulation results</a:t>
            </a:r>
            <a:endParaRPr lang="en-US" sz="1400" dirty="0"/>
          </a:p>
        </p:txBody>
      </p:sp>
      <p:sp>
        <p:nvSpPr>
          <p:cNvPr id="26" name="outline-question-21"/>
          <p:cNvSpPr/>
          <p:nvPr/>
        </p:nvSpPr>
        <p:spPr>
          <a:xfrm>
            <a:off x="6438748" y="5148072"/>
            <a:ext cx="2144954" cy="457200"/>
          </a:xfrm>
          <a:prstGeom prst="rect">
            <a:avLst/>
          </a:prstGeom>
          <a:noFill/>
          <a:ln/>
        </p:spPr>
        <p:txBody>
          <a:bodyPr wrap="square" lIns="0" tIns="0" rIns="0" bIns="0" rtlCol="0" anchor="t"/>
          <a:lstStyle/>
          <a:p>
            <a:pPr indent="0" marL="0">
              <a:buNone/>
            </a:pPr>
            <a:r>
              <a:rPr lang="en-US" sz="1400" i="1" dirty="0">
                <a:solidFill>
                  <a:srgbClr val="5F37BE"/>
                </a:solidFill>
              </a:rPr>
              <a:t>Can atoms hear weak satellite signals?</a:t>
            </a:r>
            <a:endParaRPr lang="en-US" sz="1400" dirty="0"/>
          </a:p>
        </p:txBody>
      </p:sp>
      <p:sp>
        <p:nvSpPr>
          <p:cNvPr id="27" name="outline-card-22"/>
          <p:cNvSpPr/>
          <p:nvPr/>
        </p:nvSpPr>
        <p:spPr>
          <a:xfrm>
            <a:off x="9040901" y="1801368"/>
            <a:ext cx="2602154" cy="3886200"/>
          </a:xfrm>
          <a:prstGeom prst="roundRect">
            <a:avLst>
              <a:gd name="adj" fmla="val 3514"/>
            </a:avLst>
          </a:prstGeom>
          <a:solidFill>
            <a:srgbClr val="FCEEE2"/>
          </a:solidFill>
          <a:ln w="9525">
            <a:solidFill>
              <a:srgbClr val="FCEEE2"/>
            </a:solidFill>
            <a:prstDash val="solid"/>
          </a:ln>
        </p:spPr>
      </p:sp>
      <p:sp>
        <p:nvSpPr>
          <p:cNvPr id="28" name="icon-bg-23"/>
          <p:cNvSpPr/>
          <p:nvPr/>
        </p:nvSpPr>
        <p:spPr>
          <a:xfrm>
            <a:off x="9269501" y="2029968"/>
            <a:ext cx="566928" cy="566928"/>
          </a:xfrm>
          <a:prstGeom prst="ellipse">
            <a:avLst/>
          </a:prstGeom>
          <a:solidFill>
            <a:schemeClr val="accent4"/>
          </a:solidFill>
          <a:ln w="6350">
            <a:solidFill>
              <a:schemeClr val="accent4"/>
            </a:solidFill>
            <a:prstDash val="solid"/>
          </a:ln>
        </p:spPr>
      </p:sp>
      <p:pic>
        <p:nvPicPr>
          <p:cNvPr id="29" name="icon-24" descr="Icon: brain">    </p:cNvPr>
          <p:cNvPicPr>
            <a:picLocks noChangeAspect="1"/>
          </p:cNvPicPr>
          <p:nvPr/>
        </p:nvPicPr>
        <p:blipFill>
          <a:blip r:embed="rId4"/>
          <a:stretch>
            <a:fillRect/>
          </a:stretch>
        </p:blipFill>
        <p:spPr>
          <a:xfrm>
            <a:off x="9394226" y="2154692"/>
            <a:ext cx="317480" cy="317480"/>
          </a:xfrm>
          <a:prstGeom prst="rect">
            <a:avLst/>
          </a:prstGeom>
        </p:spPr>
      </p:pic>
      <p:sp>
        <p:nvSpPr>
          <p:cNvPr id="30" name="outline-part-25"/>
          <p:cNvSpPr/>
          <p:nvPr/>
        </p:nvSpPr>
        <p:spPr>
          <a:xfrm>
            <a:off x="9973589" y="2130552"/>
            <a:ext cx="1504874" cy="365760"/>
          </a:xfrm>
          <a:prstGeom prst="rect">
            <a:avLst/>
          </a:prstGeom>
          <a:noFill/>
          <a:ln/>
        </p:spPr>
        <p:txBody>
          <a:bodyPr wrap="square" lIns="0" tIns="0" rIns="0" bIns="0" rtlCol="0" anchor="ctr"/>
          <a:lstStyle/>
          <a:p>
            <a:pPr indent="0" marL="0">
              <a:buNone/>
            </a:pPr>
            <a:r>
              <a:rPr lang="en-US" sz="1300" b="1" spc="300" kern="0" dirty="0">
                <a:solidFill>
                  <a:srgbClr val="B85F12"/>
                </a:solidFill>
              </a:rPr>
              <a:t>PART IV</a:t>
            </a:r>
            <a:endParaRPr lang="en-US" sz="1300" dirty="0"/>
          </a:p>
        </p:txBody>
      </p:sp>
      <p:sp>
        <p:nvSpPr>
          <p:cNvPr id="31" name="outline-title-26"/>
          <p:cNvSpPr/>
          <p:nvPr/>
        </p:nvSpPr>
        <p:spPr>
          <a:xfrm>
            <a:off x="9269501" y="2715768"/>
            <a:ext cx="2144954" cy="896112"/>
          </a:xfrm>
          <a:prstGeom prst="rect">
            <a:avLst/>
          </a:prstGeom>
          <a:noFill/>
          <a:ln/>
        </p:spPr>
        <p:txBody>
          <a:bodyPr wrap="square" lIns="0" tIns="0" rIns="0" bIns="0" rtlCol="0" anchor="t"/>
          <a:lstStyle/>
          <a:p>
            <a:pPr indent="0" marL="0">
              <a:buNone/>
            </a:pPr>
            <a:r>
              <a:rPr lang="en-US" sz="1800" b="1" dirty="0">
                <a:solidFill>
                  <a:srgbClr val="0B1E3F"/>
                </a:solidFill>
              </a:rPr>
              <a:t>MADRL and Rate-Splitting Multiple Access for SAGIN</a:t>
            </a:r>
            <a:endParaRPr lang="en-US" sz="1800" dirty="0"/>
          </a:p>
        </p:txBody>
      </p:sp>
      <p:sp>
        <p:nvSpPr>
          <p:cNvPr id="32" name="outline-items-27"/>
          <p:cNvSpPr/>
          <p:nvPr/>
        </p:nvSpPr>
        <p:spPr>
          <a:xfrm>
            <a:off x="9269501" y="3675888"/>
            <a:ext cx="2190674" cy="137160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rgbClr val="1B2638"/>
                </a:solidFill>
              </a:rPr>
              <a:t>System model</a:t>
            </a:r>
            <a:endParaRPr lang="en-US" sz="1400" dirty="0"/>
          </a:p>
          <a:p>
            <a:pPr marL="177800" indent="-177800">
              <a:spcAft>
                <a:spcPts val="400"/>
              </a:spcAft>
              <a:buSzPct val="100000"/>
              <a:buChar char="•"/>
            </a:pPr>
            <a:r>
              <a:rPr lang="en-US" sz="1400" dirty="0">
                <a:solidFill>
                  <a:srgbClr val="1B2638"/>
                </a:solidFill>
              </a:rPr>
              <a:t>Proposed design</a:t>
            </a:r>
            <a:endParaRPr lang="en-US" sz="1400" dirty="0"/>
          </a:p>
          <a:p>
            <a:pPr marL="177800" indent="-177800">
              <a:spcAft>
                <a:spcPts val="400"/>
              </a:spcAft>
              <a:buSzPct val="100000"/>
              <a:buChar char="•"/>
            </a:pPr>
            <a:r>
              <a:rPr lang="en-US" sz="1400" dirty="0">
                <a:solidFill>
                  <a:srgbClr val="1B2638"/>
                </a:solidFill>
              </a:rPr>
              <a:t>Simulation results</a:t>
            </a:r>
            <a:endParaRPr lang="en-US" sz="1400" dirty="0"/>
          </a:p>
        </p:txBody>
      </p:sp>
      <p:sp>
        <p:nvSpPr>
          <p:cNvPr id="33" name="outline-question-28"/>
          <p:cNvSpPr/>
          <p:nvPr/>
        </p:nvSpPr>
        <p:spPr>
          <a:xfrm>
            <a:off x="9269501" y="5148072"/>
            <a:ext cx="2144954" cy="457200"/>
          </a:xfrm>
          <a:prstGeom prst="rect">
            <a:avLst/>
          </a:prstGeom>
          <a:noFill/>
          <a:ln/>
        </p:spPr>
        <p:txBody>
          <a:bodyPr wrap="square" lIns="0" tIns="0" rIns="0" bIns="0" rtlCol="0" anchor="t"/>
          <a:lstStyle/>
          <a:p>
            <a:pPr indent="0" marL="0">
              <a:buNone/>
            </a:pPr>
            <a:r>
              <a:rPr lang="en-US" sz="1400" i="1" dirty="0">
                <a:solidFill>
                  <a:srgbClr val="B85F12"/>
                </a:solidFill>
              </a:rPr>
              <a:t>Can UAVs learn to share spectrum with RSMA?</a:t>
            </a:r>
            <a:endParaRPr lang="en-US" sz="1400" dirty="0"/>
          </a:p>
        </p:txBody>
      </p:sp>
      <p:sp>
        <p:nvSpPr>
          <p:cNvPr id="34" name="outline-footer-29"/>
          <p:cNvSpPr/>
          <p:nvPr/>
        </p:nvSpPr>
        <p:spPr>
          <a:xfrm>
            <a:off x="548640" y="5870448"/>
            <a:ext cx="11094415" cy="329184"/>
          </a:xfrm>
          <a:prstGeom prst="rect">
            <a:avLst/>
          </a:prstGeom>
          <a:noFill/>
          <a:ln/>
        </p:spPr>
        <p:txBody>
          <a:bodyPr wrap="square" lIns="0" tIns="0" rIns="0" bIns="0" rtlCol="0" anchor="ctr"/>
          <a:lstStyle/>
          <a:p>
            <a:pPr indent="0" marL="0">
              <a:buNone/>
            </a:pPr>
            <a:r>
              <a:rPr lang="en-US" sz="1400" dirty="0">
                <a:solidFill>
                  <a:srgbClr val="5B6880"/>
                </a:solidFill>
              </a:rPr>
              <a:t>Then: </a:t>
            </a:r>
            <a:pPr indent="0" marL="0">
              <a:buNone/>
            </a:pPr>
            <a:r>
              <a:rPr lang="en-US" sz="1400" b="1" dirty="0">
                <a:solidFill>
                  <a:srgbClr val="5B6880"/>
                </a:solidFill>
              </a:rPr>
              <a:t>conclusion &amp; future directions</a:t>
            </a:r>
            <a:pPr indent="0" marL="0">
              <a:buNone/>
            </a:pPr>
            <a:r>
              <a:rPr lang="en-US" sz="1400" dirty="0">
                <a:solidFill>
                  <a:srgbClr val="5B6880"/>
                </a:solidFill>
              </a:rPr>
              <a:t>, references, and Q&amp;A</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685800" y="3090672"/>
            <a:ext cx="6949440" cy="1417320"/>
          </a:xfrm>
          <a:prstGeom prst="rect">
            <a:avLst/>
          </a:prstGeom>
          <a:noFill/>
          <a:ln/>
        </p:spPr>
        <p:txBody>
          <a:bodyPr wrap="square" lIns="0" tIns="0" rIns="0" bIns="0" rtlCol="0" anchor="t"/>
          <a:lstStyle/>
          <a:p>
            <a:pPr algn="l" indent="0" marL="0">
              <a:buNone/>
            </a:pPr>
            <a:r>
              <a:rPr lang="en-US" sz="3800" b="1" dirty="0">
                <a:solidFill>
                  <a:srgbClr val="FFFFFF"/>
                </a:solidFill>
                <a:latin typeface="+mj-lt" pitchFamily="34" charset="0"/>
                <a:ea typeface="+mj-lt" pitchFamily="34" charset="-122"/>
                <a:cs typeface="+mj-lt" pitchFamily="34" charset="-120"/>
              </a:rPr>
              <a:t>Introduction</a:t>
            </a:r>
            <a:endParaRPr lang="en-US" sz="3800" dirty="0"/>
          </a:p>
        </p:txBody>
      </p:sp>
      <p:sp>
        <p:nvSpPr>
          <p:cNvPr id="3" name="Text 2"/>
          <p:cNvSpPr/>
          <p:nvPr>
            <p:ph idx="103" type="body" hasCustomPrompt="1"/>
          </p:nvPr>
        </p:nvSpPr>
        <p:spPr>
          <a:xfrm>
            <a:off x="731520" y="4617720"/>
            <a:ext cx="6766560" cy="914400"/>
          </a:xfrm>
          <a:prstGeom prst="rect">
            <a:avLst/>
          </a:prstGeom>
          <a:noFill/>
          <a:ln/>
        </p:spPr>
        <p:txBody>
          <a:bodyPr wrap="square" lIns="0" tIns="0" rIns="0" bIns="0" rtlCol="0" anchor="t"/>
          <a:lstStyle/>
          <a:p>
            <a:pPr algn="l" indent="0" marL="0">
              <a:buNone/>
            </a:pPr>
            <a:r>
              <a:rPr lang="en-US" sz="1600" dirty="0">
                <a:solidFill>
                  <a:srgbClr val="BFD0E6"/>
                </a:solidFill>
              </a:rPr>
              <a:t>SAGIN  ·  Polarforming  ·  Atomic receivers  ·  RSMA  ·  MADRL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Space-Air-Ground Integrated Network (SAGIN)</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Satellites, aerial platforms and terrestrial networks merged into one system for seamless, global 6G coverage [1].</a:t>
            </a:r>
            <a:endParaRPr lang="en-US" sz="1600" dirty="0"/>
          </a:p>
        </p:txBody>
      </p:sp>
      <p:sp>
        <p:nvSpPr>
          <p:cNvPr id="5" name="icon-bg-30"/>
          <p:cNvSpPr/>
          <p:nvPr/>
        </p:nvSpPr>
        <p:spPr>
          <a:xfrm>
            <a:off x="548640" y="1819656"/>
            <a:ext cx="420624" cy="420624"/>
          </a:xfrm>
          <a:prstGeom prst="ellipse">
            <a:avLst/>
          </a:prstGeom>
          <a:solidFill>
            <a:schemeClr val="accent1"/>
          </a:solidFill>
          <a:ln w="6350">
            <a:solidFill>
              <a:schemeClr val="accent1"/>
            </a:solidFill>
            <a:prstDash val="solid"/>
          </a:ln>
        </p:spPr>
      </p:sp>
      <p:pic>
        <p:nvPicPr>
          <p:cNvPr id="6" name="icon-31" descr="Icon: satellite">    </p:cNvPr>
          <p:cNvPicPr>
            <a:picLocks noChangeAspect="1"/>
          </p:cNvPicPr>
          <p:nvPr/>
        </p:nvPicPr>
        <p:blipFill>
          <a:blip r:embed="rId1"/>
          <a:stretch>
            <a:fillRect/>
          </a:stretch>
        </p:blipFill>
        <p:spPr>
          <a:xfrm>
            <a:off x="641177" y="1912193"/>
            <a:ext cx="235549" cy="235549"/>
          </a:xfrm>
          <a:prstGeom prst="rect">
            <a:avLst/>
          </a:prstGeom>
        </p:spPr>
      </p:pic>
      <p:sp>
        <p:nvSpPr>
          <p:cNvPr id="7" name="row-text-32"/>
          <p:cNvSpPr/>
          <p:nvPr/>
        </p:nvSpPr>
        <p:spPr>
          <a:xfrm>
            <a:off x="1133856" y="1783080"/>
            <a:ext cx="4764024" cy="768096"/>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Space layer</a:t>
            </a:r>
            <a:endParaRPr lang="en-US" sz="1500" dirty="0"/>
          </a:p>
          <a:p>
            <a:pPr indent="0" marL="0">
              <a:spcAft>
                <a:spcPts val="200"/>
              </a:spcAft>
              <a:buNone/>
            </a:pPr>
            <a:r>
              <a:rPr lang="en-US" sz="1400" dirty="0">
                <a:solidFill>
                  <a:srgbClr val="1B2638"/>
                </a:solidFill>
              </a:rPr>
              <a:t>GEO/MEO/LEO satellites and mega-constellations: global coverage, backhaul and broadcasting.</a:t>
            </a:r>
            <a:endParaRPr lang="en-US" sz="1500" dirty="0"/>
          </a:p>
        </p:txBody>
      </p:sp>
      <p:sp>
        <p:nvSpPr>
          <p:cNvPr id="8" name="icon-bg-33"/>
          <p:cNvSpPr/>
          <p:nvPr/>
        </p:nvSpPr>
        <p:spPr>
          <a:xfrm>
            <a:off x="548640" y="2624328"/>
            <a:ext cx="420624" cy="420624"/>
          </a:xfrm>
          <a:prstGeom prst="ellipse">
            <a:avLst/>
          </a:prstGeom>
          <a:solidFill>
            <a:schemeClr val="accent1"/>
          </a:solidFill>
          <a:ln w="6350">
            <a:solidFill>
              <a:schemeClr val="accent1"/>
            </a:solidFill>
            <a:prstDash val="solid"/>
          </a:ln>
        </p:spPr>
      </p:sp>
      <p:pic>
        <p:nvPicPr>
          <p:cNvPr id="9" name="icon-34" descr="Icon: drone">    </p:cNvPr>
          <p:cNvPicPr>
            <a:picLocks noChangeAspect="1"/>
          </p:cNvPicPr>
          <p:nvPr/>
        </p:nvPicPr>
        <p:blipFill>
          <a:blip r:embed="rId2"/>
          <a:stretch>
            <a:fillRect/>
          </a:stretch>
        </p:blipFill>
        <p:spPr>
          <a:xfrm>
            <a:off x="641177" y="2716865"/>
            <a:ext cx="235549" cy="235549"/>
          </a:xfrm>
          <a:prstGeom prst="rect">
            <a:avLst/>
          </a:prstGeom>
        </p:spPr>
      </p:pic>
      <p:sp>
        <p:nvSpPr>
          <p:cNvPr id="10" name="row-text-35"/>
          <p:cNvSpPr/>
          <p:nvPr/>
        </p:nvSpPr>
        <p:spPr>
          <a:xfrm>
            <a:off x="1133856" y="2587752"/>
            <a:ext cx="4764024" cy="768096"/>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Air layer</a:t>
            </a:r>
            <a:endParaRPr lang="en-US" sz="1500" dirty="0"/>
          </a:p>
          <a:p>
            <a:pPr indent="0" marL="0">
              <a:spcAft>
                <a:spcPts val="200"/>
              </a:spcAft>
              <a:buNone/>
            </a:pPr>
            <a:r>
              <a:rPr lang="en-US" sz="1400" dirty="0">
                <a:solidFill>
                  <a:srgbClr val="1B2638"/>
                </a:solidFill>
              </a:rPr>
              <a:t>HAPs, airships and UAVs: flexible on-demand coverage, relaying and edge computing.</a:t>
            </a:r>
            <a:endParaRPr lang="en-US" sz="1500" dirty="0"/>
          </a:p>
        </p:txBody>
      </p:sp>
      <p:sp>
        <p:nvSpPr>
          <p:cNvPr id="11" name="icon-bg-36"/>
          <p:cNvSpPr/>
          <p:nvPr/>
        </p:nvSpPr>
        <p:spPr>
          <a:xfrm>
            <a:off x="548640" y="3429000"/>
            <a:ext cx="420624" cy="420624"/>
          </a:xfrm>
          <a:prstGeom prst="ellipse">
            <a:avLst/>
          </a:prstGeom>
          <a:solidFill>
            <a:schemeClr val="accent1"/>
          </a:solidFill>
          <a:ln w="6350">
            <a:solidFill>
              <a:schemeClr val="accent1"/>
            </a:solidFill>
            <a:prstDash val="solid"/>
          </a:ln>
        </p:spPr>
      </p:sp>
      <p:pic>
        <p:nvPicPr>
          <p:cNvPr id="12" name="icon-37" descr="Icon: building broadcast tower">    </p:cNvPr>
          <p:cNvPicPr>
            <a:picLocks noChangeAspect="1"/>
          </p:cNvPicPr>
          <p:nvPr/>
        </p:nvPicPr>
        <p:blipFill>
          <a:blip r:embed="rId3"/>
          <a:stretch>
            <a:fillRect/>
          </a:stretch>
        </p:blipFill>
        <p:spPr>
          <a:xfrm>
            <a:off x="641177" y="3521537"/>
            <a:ext cx="235549" cy="235549"/>
          </a:xfrm>
          <a:prstGeom prst="rect">
            <a:avLst/>
          </a:prstGeom>
        </p:spPr>
      </p:pic>
      <p:sp>
        <p:nvSpPr>
          <p:cNvPr id="13" name="row-text-38"/>
          <p:cNvSpPr/>
          <p:nvPr/>
        </p:nvSpPr>
        <p:spPr>
          <a:xfrm>
            <a:off x="1133856" y="3392424"/>
            <a:ext cx="4764024" cy="768096"/>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Ground layer</a:t>
            </a:r>
            <a:endParaRPr lang="en-US" sz="1500" dirty="0"/>
          </a:p>
          <a:p>
            <a:pPr indent="0" marL="0">
              <a:spcAft>
                <a:spcPts val="200"/>
              </a:spcAft>
              <a:buNone/>
            </a:pPr>
            <a:r>
              <a:rPr lang="en-US" sz="1400" dirty="0">
                <a:solidFill>
                  <a:srgbClr val="1B2638"/>
                </a:solidFill>
              </a:rPr>
              <a:t>Cellular BSs, gateways, IoT devices, vehicles and ships: high capacity and low latency.</a:t>
            </a:r>
            <a:endParaRPr lang="en-US" sz="1500" dirty="0"/>
          </a:p>
        </p:txBody>
      </p:sp>
      <p:sp>
        <p:nvSpPr>
          <p:cNvPr id="14" name="label-39"/>
          <p:cNvSpPr/>
          <p:nvPr/>
        </p:nvSpPr>
        <p:spPr>
          <a:xfrm>
            <a:off x="548640" y="4224528"/>
            <a:ext cx="5349240" cy="292608"/>
          </a:xfrm>
          <a:prstGeom prst="rect">
            <a:avLst/>
          </a:prstGeom>
          <a:noFill/>
          <a:ln/>
        </p:spPr>
        <p:txBody>
          <a:bodyPr wrap="square" lIns="0" tIns="0" rIns="0" bIns="0" rtlCol="0" anchor="ctr"/>
          <a:lstStyle/>
          <a:p>
            <a:pPr indent="0" marL="0">
              <a:buNone/>
            </a:pPr>
            <a:r>
              <a:rPr lang="en-US" sz="1500" b="1" dirty="0">
                <a:solidFill>
                  <a:srgbClr val="0B1E3F"/>
                </a:solidFill>
              </a:rPr>
              <a:t>Key challenges</a:t>
            </a:r>
            <a:endParaRPr lang="en-US" sz="1500" dirty="0"/>
          </a:p>
        </p:txBody>
      </p:sp>
      <p:sp>
        <p:nvSpPr>
          <p:cNvPr id="15" name="chip-40"/>
          <p:cNvSpPr/>
          <p:nvPr/>
        </p:nvSpPr>
        <p:spPr>
          <a:xfrm>
            <a:off x="548640" y="4590288"/>
            <a:ext cx="1260958" cy="310896"/>
          </a:xfrm>
          <a:prstGeom prst="roundRect">
            <a:avLst>
              <a:gd name="adj" fmla="val 50000"/>
            </a:avLst>
          </a:prstGeom>
          <a:solidFill>
            <a:srgbClr val="E8F2FC"/>
          </a:solidFill>
          <a:ln w="9525">
            <a:solidFill>
              <a:srgbClr val="E8F2FC"/>
            </a:solidFill>
          </a:ln>
        </p:spPr>
        <p:txBody>
          <a:bodyPr wrap="square" lIns="0" tIns="0" rIns="0" bIns="0" rtlCol="0" anchor="ctr"/>
          <a:lstStyle/>
          <a:p>
            <a:pPr algn="ctr" indent="0" marL="0">
              <a:buNone/>
            </a:pPr>
            <a:r>
              <a:rPr lang="en-US" sz="1300" dirty="0">
                <a:solidFill>
                  <a:srgbClr val="1670B3"/>
                </a:solidFill>
              </a:rPr>
              <a:t>Heterogeneity</a:t>
            </a:r>
            <a:endParaRPr lang="en-US" sz="1300" dirty="0"/>
          </a:p>
        </p:txBody>
      </p:sp>
      <p:sp>
        <p:nvSpPr>
          <p:cNvPr id="16" name="chip-41"/>
          <p:cNvSpPr/>
          <p:nvPr/>
        </p:nvSpPr>
        <p:spPr>
          <a:xfrm>
            <a:off x="1919326" y="4590288"/>
            <a:ext cx="1260958" cy="310896"/>
          </a:xfrm>
          <a:prstGeom prst="roundRect">
            <a:avLst>
              <a:gd name="adj" fmla="val 50000"/>
            </a:avLst>
          </a:prstGeom>
          <a:solidFill>
            <a:srgbClr val="E8F2FC"/>
          </a:solidFill>
          <a:ln w="9525">
            <a:solidFill>
              <a:srgbClr val="E8F2FC"/>
            </a:solidFill>
          </a:ln>
        </p:spPr>
        <p:txBody>
          <a:bodyPr wrap="square" lIns="0" tIns="0" rIns="0" bIns="0" rtlCol="0" anchor="ctr"/>
          <a:lstStyle/>
          <a:p>
            <a:pPr algn="ctr" indent="0" marL="0">
              <a:buNone/>
            </a:pPr>
            <a:r>
              <a:rPr lang="en-US" sz="1300" dirty="0">
                <a:solidFill>
                  <a:srgbClr val="1670B3"/>
                </a:solidFill>
              </a:rPr>
              <a:t>High mobility</a:t>
            </a:r>
            <a:endParaRPr lang="en-US" sz="1300" dirty="0"/>
          </a:p>
        </p:txBody>
      </p:sp>
      <p:sp>
        <p:nvSpPr>
          <p:cNvPr id="17" name="chip-42"/>
          <p:cNvSpPr/>
          <p:nvPr/>
        </p:nvSpPr>
        <p:spPr>
          <a:xfrm>
            <a:off x="3290011" y="4590288"/>
            <a:ext cx="1792224" cy="310896"/>
          </a:xfrm>
          <a:prstGeom prst="roundRect">
            <a:avLst>
              <a:gd name="adj" fmla="val 50000"/>
            </a:avLst>
          </a:prstGeom>
          <a:solidFill>
            <a:srgbClr val="E8F2FC"/>
          </a:solidFill>
          <a:ln w="9525">
            <a:solidFill>
              <a:srgbClr val="E8F2FC"/>
            </a:solidFill>
          </a:ln>
        </p:spPr>
        <p:txBody>
          <a:bodyPr wrap="square" lIns="0" tIns="0" rIns="0" bIns="0" rtlCol="0" anchor="ctr"/>
          <a:lstStyle/>
          <a:p>
            <a:pPr algn="ctr" indent="0" marL="0">
              <a:buNone/>
            </a:pPr>
            <a:r>
              <a:rPr lang="en-US" sz="1300" dirty="0">
                <a:solidFill>
                  <a:srgbClr val="1670B3"/>
                </a:solidFill>
              </a:rPr>
              <a:t>Long delay &amp; Doppler</a:t>
            </a:r>
            <a:endParaRPr lang="en-US" sz="1300" dirty="0"/>
          </a:p>
        </p:txBody>
      </p:sp>
      <p:sp>
        <p:nvSpPr>
          <p:cNvPr id="18" name="chip-43"/>
          <p:cNvSpPr/>
          <p:nvPr/>
        </p:nvSpPr>
        <p:spPr>
          <a:xfrm>
            <a:off x="548640" y="4992624"/>
            <a:ext cx="1944014" cy="310896"/>
          </a:xfrm>
          <a:prstGeom prst="roundRect">
            <a:avLst>
              <a:gd name="adj" fmla="val 50000"/>
            </a:avLst>
          </a:prstGeom>
          <a:solidFill>
            <a:srgbClr val="E8F2FC"/>
          </a:solidFill>
          <a:ln w="9525">
            <a:solidFill>
              <a:srgbClr val="E8F2FC"/>
            </a:solidFill>
          </a:ln>
        </p:spPr>
        <p:txBody>
          <a:bodyPr wrap="square" lIns="0" tIns="0" rIns="0" bIns="0" rtlCol="0" anchor="ctr"/>
          <a:lstStyle/>
          <a:p>
            <a:pPr algn="ctr" indent="0" marL="0">
              <a:buNone/>
            </a:pPr>
            <a:r>
              <a:rPr lang="en-US" sz="1300" dirty="0">
                <a:solidFill>
                  <a:srgbClr val="1670B3"/>
                </a:solidFill>
              </a:rPr>
              <a:t>Limited on-board power</a:t>
            </a:r>
            <a:endParaRPr lang="en-US" sz="1300" dirty="0"/>
          </a:p>
        </p:txBody>
      </p:sp>
      <p:sp>
        <p:nvSpPr>
          <p:cNvPr id="19" name="chip-44"/>
          <p:cNvSpPr/>
          <p:nvPr/>
        </p:nvSpPr>
        <p:spPr>
          <a:xfrm>
            <a:off x="2602382" y="4992624"/>
            <a:ext cx="1488643" cy="310896"/>
          </a:xfrm>
          <a:prstGeom prst="roundRect">
            <a:avLst>
              <a:gd name="adj" fmla="val 50000"/>
            </a:avLst>
          </a:prstGeom>
          <a:solidFill>
            <a:srgbClr val="E8F2FC"/>
          </a:solidFill>
          <a:ln w="9525">
            <a:solidFill>
              <a:srgbClr val="E8F2FC"/>
            </a:solidFill>
          </a:ln>
        </p:spPr>
        <p:txBody>
          <a:bodyPr wrap="square" lIns="0" tIns="0" rIns="0" bIns="0" rtlCol="0" anchor="ctr"/>
          <a:lstStyle/>
          <a:p>
            <a:pPr algn="ctr" indent="0" marL="0">
              <a:buNone/>
            </a:pPr>
            <a:r>
              <a:rPr lang="en-US" sz="1300" dirty="0">
                <a:solidFill>
                  <a:srgbClr val="1670B3"/>
                </a:solidFill>
              </a:rPr>
              <a:t>Severe path loss</a:t>
            </a:r>
            <a:endParaRPr lang="en-US" sz="1300" dirty="0"/>
          </a:p>
        </p:txBody>
      </p:sp>
      <p:sp>
        <p:nvSpPr>
          <p:cNvPr id="20" name="icon-bg-45"/>
          <p:cNvSpPr/>
          <p:nvPr/>
        </p:nvSpPr>
        <p:spPr>
          <a:xfrm>
            <a:off x="548640" y="5541264"/>
            <a:ext cx="420624" cy="420624"/>
          </a:xfrm>
          <a:prstGeom prst="ellipse">
            <a:avLst/>
          </a:prstGeom>
          <a:solidFill>
            <a:schemeClr val="accent1"/>
          </a:solidFill>
          <a:ln w="6350">
            <a:solidFill>
              <a:schemeClr val="accent1"/>
            </a:solidFill>
            <a:prstDash val="solid"/>
          </a:ln>
        </p:spPr>
      </p:sp>
      <p:pic>
        <p:nvPicPr>
          <p:cNvPr id="21" name="icon-46" descr="Icon: target">    </p:cNvPr>
          <p:cNvPicPr>
            <a:picLocks noChangeAspect="1"/>
          </p:cNvPicPr>
          <p:nvPr/>
        </p:nvPicPr>
        <p:blipFill>
          <a:blip r:embed="rId4"/>
          <a:stretch>
            <a:fillRect/>
          </a:stretch>
        </p:blipFill>
        <p:spPr>
          <a:xfrm>
            <a:off x="641177" y="5633801"/>
            <a:ext cx="235549" cy="235549"/>
          </a:xfrm>
          <a:prstGeom prst="rect">
            <a:avLst/>
          </a:prstGeom>
        </p:spPr>
      </p:pic>
      <p:sp>
        <p:nvSpPr>
          <p:cNvPr id="22" name="takeaway-47"/>
          <p:cNvSpPr/>
          <p:nvPr/>
        </p:nvSpPr>
        <p:spPr>
          <a:xfrm>
            <a:off x="1133856" y="5468112"/>
            <a:ext cx="4764024" cy="566928"/>
          </a:xfrm>
          <a:prstGeom prst="rect">
            <a:avLst/>
          </a:prstGeom>
          <a:noFill/>
          <a:ln/>
        </p:spPr>
        <p:txBody>
          <a:bodyPr wrap="square" lIns="0" tIns="0" rIns="0" bIns="0" rtlCol="0" anchor="ctr"/>
          <a:lstStyle/>
          <a:p>
            <a:pPr indent="0" marL="0">
              <a:buNone/>
            </a:pPr>
            <a:r>
              <a:rPr lang="en-US" sz="1400" i="1" dirty="0">
                <a:solidFill>
                  <a:srgbClr val="1670B3"/>
                </a:solidFill>
              </a:rPr>
              <a:t>Cross-layer optimization: beamforming, access, trajectory and resource allocation must be designed jointly.</a:t>
            </a:r>
            <a:endParaRPr lang="en-US" sz="1400" dirty="0"/>
          </a:p>
        </p:txBody>
      </p:sp>
      <p:pic>
        <p:nvPicPr>
          <p:cNvPr id="23" name="figure-48" descr="Layered SAGIN architecture: GEO and LEO satellites with inter-satellite links, a HAP and UAVs in the air layer, and base station, gateway, users, vehicle and ship on the ground.">    </p:cNvPr>
          <p:cNvPicPr>
            <a:picLocks noChangeAspect="1"/>
          </p:cNvPicPr>
          <p:nvPr/>
        </p:nvPicPr>
        <p:blipFill>
          <a:blip r:embed="rId5"/>
          <a:stretch>
            <a:fillRect/>
          </a:stretch>
        </p:blipFill>
        <p:spPr>
          <a:xfrm>
            <a:off x="6153912" y="1783080"/>
            <a:ext cx="5486400" cy="4297680"/>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Polarforming: Reconfigurable Antenna Polarization</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Adapt each antenna's polarization to the channel, just as beamforming adapts its phase and amplitude [2].</a:t>
            </a:r>
            <a:endParaRPr lang="en-US" sz="1600" dirty="0"/>
          </a:p>
        </p:txBody>
      </p:sp>
      <p:pic>
        <p:nvPicPr>
          <p:cNvPr id="5" name="figure-49" descr="Phase-shifter-based polarization-reconfigurable antenna, reachable polarization states, and polarization mismatch under Faraday rotation with and without polarforming.">    </p:cNvPr>
          <p:cNvPicPr>
            <a:picLocks noChangeAspect="1"/>
          </p:cNvPicPr>
          <p:nvPr/>
        </p:nvPicPr>
        <p:blipFill>
          <a:blip r:embed="rId1"/>
          <a:stretch>
            <a:fillRect/>
          </a:stretch>
        </p:blipFill>
        <p:spPr>
          <a:xfrm>
            <a:off x="548640" y="1783080"/>
            <a:ext cx="5486400" cy="4297680"/>
          </a:xfrm>
          <a:prstGeom prst="rect">
            <a:avLst/>
          </a:prstGeom>
        </p:spPr>
      </p:pic>
      <p:sp>
        <p:nvSpPr>
          <p:cNvPr id="6" name="icon-bg-50"/>
          <p:cNvSpPr/>
          <p:nvPr/>
        </p:nvSpPr>
        <p:spPr>
          <a:xfrm>
            <a:off x="6355080" y="1819656"/>
            <a:ext cx="420624" cy="420624"/>
          </a:xfrm>
          <a:prstGeom prst="ellipse">
            <a:avLst/>
          </a:prstGeom>
          <a:solidFill>
            <a:schemeClr val="accent1"/>
          </a:solidFill>
          <a:ln w="6350">
            <a:solidFill>
              <a:schemeClr val="accent1"/>
            </a:solidFill>
            <a:prstDash val="solid"/>
          </a:ln>
        </p:spPr>
      </p:sp>
      <p:pic>
        <p:nvPicPr>
          <p:cNvPr id="7" name="icon-51" descr="Icon: adjustments">    </p:cNvPr>
          <p:cNvPicPr>
            <a:picLocks noChangeAspect="1"/>
          </p:cNvPicPr>
          <p:nvPr/>
        </p:nvPicPr>
        <p:blipFill>
          <a:blip r:embed="rId2"/>
          <a:stretch>
            <a:fillRect/>
          </a:stretch>
        </p:blipFill>
        <p:spPr>
          <a:xfrm>
            <a:off x="6447617" y="1912193"/>
            <a:ext cx="235549" cy="235549"/>
          </a:xfrm>
          <a:prstGeom prst="rect">
            <a:avLst/>
          </a:prstGeom>
        </p:spPr>
      </p:pic>
      <p:sp>
        <p:nvSpPr>
          <p:cNvPr id="8" name="row-text-52"/>
          <p:cNvSpPr/>
          <p:nvPr/>
        </p:nvSpPr>
        <p:spPr>
          <a:xfrm>
            <a:off x="6940296" y="1783080"/>
            <a:ext cx="4700016"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How it works</a:t>
            </a:r>
            <a:endParaRPr lang="en-US" sz="1500" dirty="0"/>
          </a:p>
          <a:p>
            <a:pPr indent="0" marL="0">
              <a:spcAft>
                <a:spcPts val="200"/>
              </a:spcAft>
              <a:buNone/>
            </a:pPr>
            <a:r>
              <a:rPr lang="en-US" sz="1400" dirty="0">
                <a:solidFill>
                  <a:srgbClr val="1B2638"/>
                </a:solidFill>
              </a:rPr>
              <a:t>A dual-polarized element fed through phase shifters synthesizes linear, circular or elliptical polarization.</a:t>
            </a:r>
            <a:endParaRPr lang="en-US" sz="1500" dirty="0"/>
          </a:p>
        </p:txBody>
      </p:sp>
      <p:sp>
        <p:nvSpPr>
          <p:cNvPr id="9" name="icon-bg-53"/>
          <p:cNvSpPr/>
          <p:nvPr/>
        </p:nvSpPr>
        <p:spPr>
          <a:xfrm>
            <a:off x="6355080" y="2679192"/>
            <a:ext cx="420624" cy="420624"/>
          </a:xfrm>
          <a:prstGeom prst="ellipse">
            <a:avLst/>
          </a:prstGeom>
          <a:solidFill>
            <a:schemeClr val="accent1"/>
          </a:solidFill>
          <a:ln w="6350">
            <a:solidFill>
              <a:schemeClr val="accent1"/>
            </a:solidFill>
            <a:prstDash val="solid"/>
          </a:ln>
        </p:spPr>
      </p:sp>
      <p:pic>
        <p:nvPicPr>
          <p:cNvPr id="10" name="icon-54" descr="Icon: rotate">    </p:cNvPr>
          <p:cNvPicPr>
            <a:picLocks noChangeAspect="1"/>
          </p:cNvPicPr>
          <p:nvPr/>
        </p:nvPicPr>
        <p:blipFill>
          <a:blip r:embed="rId3"/>
          <a:stretch>
            <a:fillRect/>
          </a:stretch>
        </p:blipFill>
        <p:spPr>
          <a:xfrm>
            <a:off x="6447617" y="2771729"/>
            <a:ext cx="235549" cy="235549"/>
          </a:xfrm>
          <a:prstGeom prst="rect">
            <a:avLst/>
          </a:prstGeom>
        </p:spPr>
      </p:pic>
      <p:sp>
        <p:nvSpPr>
          <p:cNvPr id="11" name="row-text-55"/>
          <p:cNvSpPr/>
          <p:nvPr/>
        </p:nvSpPr>
        <p:spPr>
          <a:xfrm>
            <a:off x="6940296" y="2642616"/>
            <a:ext cx="4700016"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Why it matters</a:t>
            </a:r>
            <a:endParaRPr lang="en-US" sz="1500" dirty="0"/>
          </a:p>
          <a:p>
            <a:pPr indent="0" marL="0">
              <a:spcAft>
                <a:spcPts val="200"/>
              </a:spcAft>
              <a:buNone/>
            </a:pPr>
            <a:r>
              <a:rPr lang="en-US" sz="1400" dirty="0">
                <a:solidFill>
                  <a:srgbClr val="1B2638"/>
                </a:solidFill>
              </a:rPr>
              <a:t>Faraday rotation, platform attitude and scattering cause polarization mismatch; at 90° a fixed antenna loses the link.</a:t>
            </a:r>
            <a:endParaRPr lang="en-US" sz="1500" dirty="0"/>
          </a:p>
        </p:txBody>
      </p:sp>
      <p:sp>
        <p:nvSpPr>
          <p:cNvPr id="12" name="icon-bg-56"/>
          <p:cNvSpPr/>
          <p:nvPr/>
        </p:nvSpPr>
        <p:spPr>
          <a:xfrm>
            <a:off x="6355080" y="3538728"/>
            <a:ext cx="420624" cy="420624"/>
          </a:xfrm>
          <a:prstGeom prst="ellipse">
            <a:avLst/>
          </a:prstGeom>
          <a:solidFill>
            <a:schemeClr val="accent1"/>
          </a:solidFill>
          <a:ln w="6350">
            <a:solidFill>
              <a:schemeClr val="accent1"/>
            </a:solidFill>
            <a:prstDash val="solid"/>
          </a:ln>
        </p:spPr>
      </p:sp>
      <p:pic>
        <p:nvPicPr>
          <p:cNvPr id="13" name="icon-57" descr="Icon: shield check">    </p:cNvPr>
          <p:cNvPicPr>
            <a:picLocks noChangeAspect="1"/>
          </p:cNvPicPr>
          <p:nvPr/>
        </p:nvPicPr>
        <p:blipFill>
          <a:blip r:embed="rId4"/>
          <a:stretch>
            <a:fillRect/>
          </a:stretch>
        </p:blipFill>
        <p:spPr>
          <a:xfrm>
            <a:off x="6447617" y="3631265"/>
            <a:ext cx="235549" cy="235549"/>
          </a:xfrm>
          <a:prstGeom prst="rect">
            <a:avLst/>
          </a:prstGeom>
        </p:spPr>
      </p:pic>
      <p:sp>
        <p:nvSpPr>
          <p:cNvPr id="14" name="row-text-58"/>
          <p:cNvSpPr/>
          <p:nvPr/>
        </p:nvSpPr>
        <p:spPr>
          <a:xfrm>
            <a:off x="6940296" y="3502152"/>
            <a:ext cx="4700016"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What it buys</a:t>
            </a:r>
            <a:endParaRPr lang="en-US" sz="1500" dirty="0"/>
          </a:p>
          <a:p>
            <a:pPr indent="0" marL="0">
              <a:spcAft>
                <a:spcPts val="200"/>
              </a:spcAft>
              <a:buNone/>
            </a:pPr>
            <a:r>
              <a:rPr lang="en-US" sz="1400" dirty="0">
                <a:solidFill>
                  <a:srgbClr val="1B2638"/>
                </a:solidFill>
              </a:rPr>
              <a:t>Full polarization diversity (order 2 per dual-polarized antenna) and robustness to depolarization [2].</a:t>
            </a:r>
            <a:endParaRPr lang="en-US" sz="1500" dirty="0"/>
          </a:p>
        </p:txBody>
      </p:sp>
      <p:sp>
        <p:nvSpPr>
          <p:cNvPr id="15" name="math-card-59"/>
          <p:cNvSpPr/>
          <p:nvPr/>
        </p:nvSpPr>
        <p:spPr>
          <a:xfrm>
            <a:off x="6355080" y="4416552"/>
            <a:ext cx="5285232" cy="1106424"/>
          </a:xfrm>
          <a:prstGeom prst="roundRect">
            <a:avLst>
              <a:gd name="adj" fmla="val 8264"/>
            </a:avLst>
          </a:prstGeom>
          <a:solidFill>
            <a:srgbClr val="F6F8FB"/>
          </a:solidFill>
          <a:ln w="9525">
            <a:solidFill>
              <a:srgbClr val="E1E7EF"/>
            </a:solidFill>
            <a:prstDash val="solid"/>
          </a:ln>
        </p:spPr>
      </p:sp>
      <p:sp>
        <p:nvSpPr>
          <p:cNvPr id="16" name="math-label-60"/>
          <p:cNvSpPr/>
          <p:nvPr/>
        </p:nvSpPr>
        <p:spPr>
          <a:xfrm>
            <a:off x="6537960" y="4517136"/>
            <a:ext cx="4919472" cy="237744"/>
          </a:xfrm>
          <a:prstGeom prst="rect">
            <a:avLst/>
          </a:prstGeom>
          <a:noFill/>
          <a:ln/>
        </p:spPr>
        <p:txBody>
          <a:bodyPr wrap="square" lIns="0" tIns="0" rIns="0" bIns="0" rtlCol="0" anchor="ctr"/>
          <a:lstStyle/>
          <a:p>
            <a:pPr indent="0" marL="0">
              <a:buNone/>
            </a:pPr>
            <a:r>
              <a:rPr lang="en-US" sz="1250" b="1" dirty="0">
                <a:solidFill>
                  <a:srgbClr val="1670B3"/>
                </a:solidFill>
              </a:rPr>
              <a:t>Polarforming (Jones) vector of one antenna</a:t>
            </a:r>
            <a:endParaRPr lang="en-US" sz="1250" dirty="0"/>
          </a:p>
        </p:txBody>
      </p:sp>
      <p:pic>
        <p:nvPicPr>
          <p:cNvPr id="17" name="eq-int_pf-61" descr="LaTeX: \mathbf{p}(\alpha,\delta)=\begin{bmatrix}\cos\alpha\\ \sin\alpha\, e^{j\delta}\end{bmatrix}">    </p:cNvPr>
          <p:cNvPicPr>
            <a:picLocks noChangeAspect="1"/>
          </p:cNvPicPr>
          <p:nvPr/>
        </p:nvPicPr>
        <p:blipFill>
          <a:blip r:embed="rId5"/>
          <a:stretch>
            <a:fillRect/>
          </a:stretch>
        </p:blipFill>
        <p:spPr>
          <a:xfrm>
            <a:off x="6537960" y="4818888"/>
            <a:ext cx="1986808" cy="576072"/>
          </a:xfrm>
          <a:prstGeom prst="rect">
            <a:avLst/>
          </a:prstGeom>
        </p:spPr>
      </p:pic>
      <p:sp>
        <p:nvSpPr>
          <p:cNvPr id="18" name="note-62"/>
          <p:cNvSpPr/>
          <p:nvPr/>
        </p:nvSpPr>
        <p:spPr>
          <a:xfrm>
            <a:off x="6355080" y="5614416"/>
            <a:ext cx="5285232" cy="475488"/>
          </a:xfrm>
          <a:prstGeom prst="rect">
            <a:avLst/>
          </a:prstGeom>
          <a:noFill/>
          <a:ln/>
        </p:spPr>
        <p:txBody>
          <a:bodyPr wrap="square" lIns="0" tIns="0" rIns="0" bIns="0" rtlCol="0" anchor="t"/>
          <a:lstStyle/>
          <a:p>
            <a:pPr indent="0" marL="0">
              <a:buNone/>
            </a:pPr>
            <a:r>
              <a:rPr lang="en-US" sz="1400" b="1" dirty="0">
                <a:solidFill>
                  <a:srgbClr val="1B2638"/>
                </a:solidFill>
              </a:rPr>
              <a:t>In SAGIN:</a:t>
            </a:r>
            <a:pPr indent="0" marL="0">
              <a:buNone/>
            </a:pPr>
            <a:r>
              <a:rPr lang="en-US" sz="1400" dirty="0">
                <a:solidFill>
                  <a:srgbClr val="1B2638"/>
                </a:solidFill>
              </a:rPr>
              <a:t> track ionospheric rotation on satellite links and attitude changes of UAV and handheld terminals.</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Atomic (Rydberg) Quantum Receivers</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Highly excited atoms in a vapor cell act as the antenna: an RF field changes how the atoms absorb laser light [3].</a:t>
            </a:r>
            <a:endParaRPr lang="en-US" sz="1600" dirty="0"/>
          </a:p>
        </p:txBody>
      </p:sp>
      <p:sp>
        <p:nvSpPr>
          <p:cNvPr id="5" name="icon-bg-63"/>
          <p:cNvSpPr/>
          <p:nvPr/>
        </p:nvSpPr>
        <p:spPr>
          <a:xfrm>
            <a:off x="548640" y="1819656"/>
            <a:ext cx="420624" cy="420624"/>
          </a:xfrm>
          <a:prstGeom prst="ellipse">
            <a:avLst/>
          </a:prstGeom>
          <a:solidFill>
            <a:schemeClr val="accent1"/>
          </a:solidFill>
          <a:ln w="6350">
            <a:solidFill>
              <a:schemeClr val="accent1"/>
            </a:solidFill>
            <a:prstDash val="solid"/>
          </a:ln>
        </p:spPr>
      </p:sp>
      <p:pic>
        <p:nvPicPr>
          <p:cNvPr id="6" name="icon-64" descr="Icon: atom">    </p:cNvPr>
          <p:cNvPicPr>
            <a:picLocks noChangeAspect="1"/>
          </p:cNvPicPr>
          <p:nvPr/>
        </p:nvPicPr>
        <p:blipFill>
          <a:blip r:embed="rId1"/>
          <a:stretch>
            <a:fillRect/>
          </a:stretch>
        </p:blipFill>
        <p:spPr>
          <a:xfrm>
            <a:off x="641177" y="1912193"/>
            <a:ext cx="235549" cy="235549"/>
          </a:xfrm>
          <a:prstGeom prst="rect">
            <a:avLst/>
          </a:prstGeom>
        </p:spPr>
      </p:pic>
      <p:sp>
        <p:nvSpPr>
          <p:cNvPr id="7" name="row-text-65"/>
          <p:cNvSpPr/>
          <p:nvPr/>
        </p:nvSpPr>
        <p:spPr>
          <a:xfrm>
            <a:off x="1133856" y="1783080"/>
            <a:ext cx="4764024"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Principle</a:t>
            </a:r>
            <a:endParaRPr lang="en-US" sz="1500" dirty="0"/>
          </a:p>
          <a:p>
            <a:pPr indent="0" marL="0">
              <a:spcAft>
                <a:spcPts val="200"/>
              </a:spcAft>
              <a:buNone/>
            </a:pPr>
            <a:r>
              <a:rPr lang="en-US" sz="1400" dirty="0">
                <a:solidFill>
                  <a:srgbClr val="1B2638"/>
                </a:solidFill>
              </a:rPr>
              <a:t>Probe and coupling lasers create EIT; a resonant RF field splits the line (Autler–Townes) in proportion to |E|.</a:t>
            </a:r>
            <a:endParaRPr lang="en-US" sz="1500" dirty="0"/>
          </a:p>
        </p:txBody>
      </p:sp>
      <p:sp>
        <p:nvSpPr>
          <p:cNvPr id="8" name="icon-bg-66"/>
          <p:cNvSpPr/>
          <p:nvPr/>
        </p:nvSpPr>
        <p:spPr>
          <a:xfrm>
            <a:off x="548640" y="2679192"/>
            <a:ext cx="420624" cy="420624"/>
          </a:xfrm>
          <a:prstGeom prst="ellipse">
            <a:avLst/>
          </a:prstGeom>
          <a:solidFill>
            <a:schemeClr val="accent1"/>
          </a:solidFill>
          <a:ln w="6350">
            <a:solidFill>
              <a:schemeClr val="accent1"/>
            </a:solidFill>
            <a:prstDash val="solid"/>
          </a:ln>
        </p:spPr>
      </p:sp>
      <p:pic>
        <p:nvPicPr>
          <p:cNvPr id="9" name="icon-67" descr="Icon: wave sine">    </p:cNvPr>
          <p:cNvPicPr>
            <a:picLocks noChangeAspect="1"/>
          </p:cNvPicPr>
          <p:nvPr/>
        </p:nvPicPr>
        <p:blipFill>
          <a:blip r:embed="rId2"/>
          <a:stretch>
            <a:fillRect/>
          </a:stretch>
        </p:blipFill>
        <p:spPr>
          <a:xfrm>
            <a:off x="641177" y="2771729"/>
            <a:ext cx="235549" cy="235549"/>
          </a:xfrm>
          <a:prstGeom prst="rect">
            <a:avLst/>
          </a:prstGeom>
        </p:spPr>
      </p:pic>
      <p:sp>
        <p:nvSpPr>
          <p:cNvPr id="10" name="row-text-68"/>
          <p:cNvSpPr/>
          <p:nvPr/>
        </p:nvSpPr>
        <p:spPr>
          <a:xfrm>
            <a:off x="1133856" y="2642616"/>
            <a:ext cx="4764024"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Superheterodyne</a:t>
            </a:r>
            <a:endParaRPr lang="en-US" sz="1500" dirty="0"/>
          </a:p>
          <a:p>
            <a:pPr indent="0" marL="0">
              <a:spcAft>
                <a:spcPts val="200"/>
              </a:spcAft>
              <a:buNone/>
            </a:pPr>
            <a:r>
              <a:rPr lang="en-US" sz="1400" dirty="0">
                <a:solidFill>
                  <a:srgbClr val="1B2638"/>
                </a:solidFill>
              </a:rPr>
              <a:t>A local-oscillator field adds phase readout; measured sensitivity 55 nV cm</a:t>
            </a:r>
            <a:pPr indent="0" marL="0">
              <a:spcAft>
                <a:spcPts val="200"/>
              </a:spcAft>
              <a:buNone/>
            </a:pPr>
            <a:r>
              <a:rPr lang="en-US" sz="1400" baseline="30000" dirty="0">
                <a:solidFill>
                  <a:srgbClr val="1B2638"/>
                </a:solidFill>
                <a:latin typeface="+mj-lt" pitchFamily="34" charset="0"/>
                <a:ea typeface="+mj-lt" pitchFamily="34" charset="-122"/>
                <a:cs typeface="+mj-lt" pitchFamily="34" charset="-120"/>
              </a:rPr>
              <a:t>-1</a:t>
            </a:r>
            <a:pPr indent="0" marL="0">
              <a:spcAft>
                <a:spcPts val="200"/>
              </a:spcAft>
              <a:buNone/>
            </a:pPr>
            <a:r>
              <a:rPr lang="en-US" sz="1400" dirty="0">
                <a:solidFill>
                  <a:srgbClr val="1B2638"/>
                </a:solidFill>
              </a:rPr>
              <a:t> Hz</a:t>
            </a:r>
            <a:pPr indent="0" marL="0">
              <a:spcAft>
                <a:spcPts val="200"/>
              </a:spcAft>
              <a:buNone/>
            </a:pPr>
            <a:r>
              <a:rPr lang="en-US" sz="1400" baseline="30000" dirty="0">
                <a:solidFill>
                  <a:srgbClr val="1B2638"/>
                </a:solidFill>
                <a:latin typeface="+mj-lt" pitchFamily="34" charset="0"/>
                <a:ea typeface="+mj-lt" pitchFamily="34" charset="-122"/>
                <a:cs typeface="+mj-lt" pitchFamily="34" charset="-120"/>
              </a:rPr>
              <a:t>-1/2</a:t>
            </a:r>
            <a:pPr indent="0" marL="0">
              <a:spcAft>
                <a:spcPts val="200"/>
              </a:spcAft>
              <a:buNone/>
            </a:pPr>
            <a:r>
              <a:rPr lang="en-US" sz="1400" dirty="0">
                <a:solidFill>
                  <a:srgbClr val="1B2638"/>
                </a:solidFill>
              </a:rPr>
              <a:t> [4].</a:t>
            </a:r>
            <a:endParaRPr lang="en-US" sz="1500" dirty="0"/>
          </a:p>
        </p:txBody>
      </p:sp>
      <p:sp>
        <p:nvSpPr>
          <p:cNvPr id="11" name="icon-bg-69"/>
          <p:cNvSpPr/>
          <p:nvPr/>
        </p:nvSpPr>
        <p:spPr>
          <a:xfrm>
            <a:off x="548640" y="3538728"/>
            <a:ext cx="420624" cy="420624"/>
          </a:xfrm>
          <a:prstGeom prst="ellipse">
            <a:avLst/>
          </a:prstGeom>
          <a:solidFill>
            <a:schemeClr val="accent1"/>
          </a:solidFill>
          <a:ln w="6350">
            <a:solidFill>
              <a:schemeClr val="accent1"/>
            </a:solidFill>
            <a:prstDash val="solid"/>
          </a:ln>
        </p:spPr>
      </p:sp>
      <p:pic>
        <p:nvPicPr>
          <p:cNvPr id="12" name="icon-70" descr="Icon: gauge">    </p:cNvPr>
          <p:cNvPicPr>
            <a:picLocks noChangeAspect="1"/>
          </p:cNvPicPr>
          <p:nvPr/>
        </p:nvPicPr>
        <p:blipFill>
          <a:blip r:embed="rId3"/>
          <a:stretch>
            <a:fillRect/>
          </a:stretch>
        </p:blipFill>
        <p:spPr>
          <a:xfrm>
            <a:off x="641177" y="3631265"/>
            <a:ext cx="235549" cy="235549"/>
          </a:xfrm>
          <a:prstGeom prst="rect">
            <a:avLst/>
          </a:prstGeom>
        </p:spPr>
      </p:pic>
      <p:sp>
        <p:nvSpPr>
          <p:cNvPr id="13" name="row-text-71"/>
          <p:cNvSpPr/>
          <p:nvPr/>
        </p:nvSpPr>
        <p:spPr>
          <a:xfrm>
            <a:off x="1133856" y="3502152"/>
            <a:ext cx="4764024"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Advantages</a:t>
            </a:r>
            <a:endParaRPr lang="en-US" sz="1500" dirty="0"/>
          </a:p>
          <a:p>
            <a:pPr indent="0" marL="0">
              <a:spcAft>
                <a:spcPts val="200"/>
              </a:spcAft>
              <a:buNone/>
            </a:pPr>
            <a:r>
              <a:rPr lang="en-US" sz="1400" dirty="0">
                <a:solidFill>
                  <a:srgbClr val="1B2638"/>
                </a:solidFill>
              </a:rPr>
              <a:t>SI-traceable, tunable from MHz to THz, and the sensor size is not tied to the wavelength.</a:t>
            </a:r>
            <a:endParaRPr lang="en-US" sz="1500" dirty="0"/>
          </a:p>
        </p:txBody>
      </p:sp>
      <p:sp>
        <p:nvSpPr>
          <p:cNvPr id="14" name="math-card-72"/>
          <p:cNvSpPr/>
          <p:nvPr/>
        </p:nvSpPr>
        <p:spPr>
          <a:xfrm>
            <a:off x="548640" y="4416552"/>
            <a:ext cx="5349240" cy="1050006"/>
          </a:xfrm>
          <a:prstGeom prst="roundRect">
            <a:avLst>
              <a:gd name="adj" fmla="val 8709"/>
            </a:avLst>
          </a:prstGeom>
          <a:solidFill>
            <a:srgbClr val="F6F8FB"/>
          </a:solidFill>
          <a:ln w="9525">
            <a:solidFill>
              <a:srgbClr val="E1E7EF"/>
            </a:solidFill>
            <a:prstDash val="solid"/>
          </a:ln>
        </p:spPr>
      </p:sp>
      <p:sp>
        <p:nvSpPr>
          <p:cNvPr id="15" name="math-label-73"/>
          <p:cNvSpPr/>
          <p:nvPr/>
        </p:nvSpPr>
        <p:spPr>
          <a:xfrm>
            <a:off x="731520" y="4517136"/>
            <a:ext cx="4983480" cy="237744"/>
          </a:xfrm>
          <a:prstGeom prst="rect">
            <a:avLst/>
          </a:prstGeom>
          <a:noFill/>
          <a:ln/>
        </p:spPr>
        <p:txBody>
          <a:bodyPr wrap="square" lIns="0" tIns="0" rIns="0" bIns="0" rtlCol="0" anchor="ctr"/>
          <a:lstStyle/>
          <a:p>
            <a:pPr indent="0" marL="0">
              <a:buNone/>
            </a:pPr>
            <a:r>
              <a:rPr lang="en-US" sz="1250" b="1" dirty="0">
                <a:solidFill>
                  <a:srgbClr val="1670B3"/>
                </a:solidFill>
              </a:rPr>
              <a:t>Field from the measured splitting (SI-traceable)</a:t>
            </a:r>
            <a:endParaRPr lang="en-US" sz="1250" dirty="0"/>
          </a:p>
        </p:txBody>
      </p:sp>
      <p:pic>
        <p:nvPicPr>
          <p:cNvPr id="16" name="eq-int_at-74" descr="LaTeX: |E_{\mathrm{RF}}|=\frac{2\pi\hbar}{\wp}\,\Delta f_{\mathrm{AT}}">    </p:cNvPr>
          <p:cNvPicPr>
            <a:picLocks noChangeAspect="1"/>
          </p:cNvPicPr>
          <p:nvPr/>
        </p:nvPicPr>
        <p:blipFill>
          <a:blip r:embed="rId4"/>
          <a:stretch>
            <a:fillRect/>
          </a:stretch>
        </p:blipFill>
        <p:spPr>
          <a:xfrm>
            <a:off x="731520" y="4818888"/>
            <a:ext cx="1915394" cy="519654"/>
          </a:xfrm>
          <a:prstGeom prst="rect">
            <a:avLst/>
          </a:prstGeom>
        </p:spPr>
      </p:pic>
      <p:sp>
        <p:nvSpPr>
          <p:cNvPr id="17" name="note-75"/>
          <p:cNvSpPr/>
          <p:nvPr/>
        </p:nvSpPr>
        <p:spPr>
          <a:xfrm>
            <a:off x="548640" y="5557998"/>
            <a:ext cx="5349240" cy="475488"/>
          </a:xfrm>
          <a:prstGeom prst="rect">
            <a:avLst/>
          </a:prstGeom>
          <a:noFill/>
          <a:ln/>
        </p:spPr>
        <p:txBody>
          <a:bodyPr wrap="square" lIns="0" tIns="0" rIns="0" bIns="0" rtlCol="0" anchor="t"/>
          <a:lstStyle/>
          <a:p>
            <a:pPr indent="0" marL="0">
              <a:buNone/>
            </a:pPr>
            <a:r>
              <a:rPr lang="en-US" sz="1400" b="1" dirty="0">
                <a:solidFill>
                  <a:srgbClr val="1B2638"/>
                </a:solidFill>
              </a:rPr>
              <a:t>In SAGIN:</a:t>
            </a:r>
            <a:pPr indent="0" marL="0">
              <a:buNone/>
            </a:pPr>
            <a:r>
              <a:rPr lang="en-US" sz="1400" dirty="0">
                <a:solidFill>
                  <a:srgbClr val="1B2638"/>
                </a:solidFill>
              </a:rPr>
              <a:t> detect very weak signals on long space–ground links; one vapor cell can serve several bands.</a:t>
            </a:r>
            <a:endParaRPr lang="en-US" sz="1400" dirty="0"/>
          </a:p>
        </p:txBody>
      </p:sp>
      <p:pic>
        <p:nvPicPr>
          <p:cNvPr id="18" name="figure-76" descr="Rydberg atomic receiver: cesium vapor cell with probe and coupling lasers, signal and local-oscillator fields, four-level ladder, and EIT versus Autler-Townes split transmission spectra.">    </p:cNvPr>
          <p:cNvPicPr>
            <a:picLocks noChangeAspect="1"/>
          </p:cNvPicPr>
          <p:nvPr/>
        </p:nvPicPr>
        <p:blipFill>
          <a:blip r:embed="rId5"/>
          <a:stretch>
            <a:fillRect/>
          </a:stretch>
        </p:blipFill>
        <p:spPr>
          <a:xfrm>
            <a:off x="6153912" y="1783080"/>
            <a:ext cx="5486400" cy="4297680"/>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Rate-Splitting Multiple Access (RSMA)</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Split messages into common and private parts, so interference is partly decoded and partly treated as noise [5], [6].</a:t>
            </a:r>
            <a:endParaRPr lang="en-US" sz="1600" dirty="0"/>
          </a:p>
        </p:txBody>
      </p:sp>
      <p:pic>
        <p:nvPicPr>
          <p:cNvPr id="5" name="figure-77" descr="RSMA transmitter and receivers: messages split into common and private parts, common stream decoded first by all users and removed by SIC.">    </p:cNvPr>
          <p:cNvPicPr>
            <a:picLocks noChangeAspect="1"/>
          </p:cNvPicPr>
          <p:nvPr/>
        </p:nvPicPr>
        <p:blipFill>
          <a:blip r:embed="rId1"/>
          <a:stretch>
            <a:fillRect/>
          </a:stretch>
        </p:blipFill>
        <p:spPr>
          <a:xfrm>
            <a:off x="548640" y="1783080"/>
            <a:ext cx="5486400" cy="4297680"/>
          </a:xfrm>
          <a:prstGeom prst="rect">
            <a:avLst/>
          </a:prstGeom>
        </p:spPr>
      </p:pic>
      <p:sp>
        <p:nvSpPr>
          <p:cNvPr id="6" name="icon-bg-78"/>
          <p:cNvSpPr/>
          <p:nvPr/>
        </p:nvSpPr>
        <p:spPr>
          <a:xfrm>
            <a:off x="6355080" y="1819656"/>
            <a:ext cx="420624" cy="420624"/>
          </a:xfrm>
          <a:prstGeom prst="ellipse">
            <a:avLst/>
          </a:prstGeom>
          <a:solidFill>
            <a:schemeClr val="accent1"/>
          </a:solidFill>
          <a:ln w="6350">
            <a:solidFill>
              <a:schemeClr val="accent1"/>
            </a:solidFill>
            <a:prstDash val="solid"/>
          </a:ln>
        </p:spPr>
      </p:sp>
      <p:pic>
        <p:nvPicPr>
          <p:cNvPr id="7" name="icon-79" descr="Icon: arrows split">    </p:cNvPr>
          <p:cNvPicPr>
            <a:picLocks noChangeAspect="1"/>
          </p:cNvPicPr>
          <p:nvPr/>
        </p:nvPicPr>
        <p:blipFill>
          <a:blip r:embed="rId2"/>
          <a:stretch>
            <a:fillRect/>
          </a:stretch>
        </p:blipFill>
        <p:spPr>
          <a:xfrm>
            <a:off x="6447617" y="1912193"/>
            <a:ext cx="235549" cy="235549"/>
          </a:xfrm>
          <a:prstGeom prst="rect">
            <a:avLst/>
          </a:prstGeom>
        </p:spPr>
      </p:pic>
      <p:sp>
        <p:nvSpPr>
          <p:cNvPr id="8" name="row-text-80"/>
          <p:cNvSpPr/>
          <p:nvPr/>
        </p:nvSpPr>
        <p:spPr>
          <a:xfrm>
            <a:off x="6940296" y="1783080"/>
            <a:ext cx="4700016"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Rate splitting</a:t>
            </a:r>
            <a:endParaRPr lang="en-US" sz="1500" dirty="0"/>
          </a:p>
          <a:p>
            <a:pPr indent="0" marL="0">
              <a:spcAft>
                <a:spcPts val="200"/>
              </a:spcAft>
              <a:buNone/>
            </a:pPr>
            <a:r>
              <a:rPr lang="en-US" sz="1400" dirty="0">
                <a:solidFill>
                  <a:srgbClr val="1B2638"/>
                </a:solidFill>
              </a:rPr>
              <a:t>Message </a:t>
            </a:r>
            <a:pPr indent="0" marL="0">
              <a:spcAft>
                <a:spcPts val="200"/>
              </a:spcAft>
              <a:buNone/>
            </a:pPr>
            <a:r>
              <a:rPr lang="en-US" sz="1400" i="1" dirty="0">
                <a:solidFill>
                  <a:srgbClr val="1B2638"/>
                </a:solidFill>
                <a:latin typeface="+mj-lt" pitchFamily="34" charset="0"/>
                <a:ea typeface="+mj-lt" pitchFamily="34" charset="-122"/>
                <a:cs typeface="+mj-lt" pitchFamily="34" charset="-120"/>
              </a:rPr>
              <a:t>W</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k</a:t>
            </a:r>
            <a:pPr indent="0" marL="0">
              <a:spcAft>
                <a:spcPts val="200"/>
              </a:spcAft>
              <a:buNone/>
            </a:pPr>
            <a:r>
              <a:rPr lang="en-US" sz="1400" dirty="0">
                <a:solidFill>
                  <a:srgbClr val="1B2638"/>
                </a:solidFill>
              </a:rPr>
              <a:t> is split into a common part </a:t>
            </a:r>
            <a:pPr indent="0" marL="0">
              <a:spcAft>
                <a:spcPts val="200"/>
              </a:spcAft>
              <a:buNone/>
            </a:pPr>
            <a:r>
              <a:rPr lang="en-US" sz="1400" i="1" dirty="0">
                <a:solidFill>
                  <a:srgbClr val="1B2638"/>
                </a:solidFill>
                <a:latin typeface="+mj-lt" pitchFamily="34" charset="0"/>
                <a:ea typeface="+mj-lt" pitchFamily="34" charset="-122"/>
                <a:cs typeface="+mj-lt" pitchFamily="34" charset="-120"/>
              </a:rPr>
              <a:t>W</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c</a:t>
            </a:r>
            <a:pPr indent="0" marL="0">
              <a:spcAft>
                <a:spcPts val="200"/>
              </a:spcAft>
              <a:buNone/>
            </a:pPr>
            <a:r>
              <a:rPr lang="en-US" sz="1400" baseline="-40000" dirty="0">
                <a:solidFill>
                  <a:srgbClr val="1B2638"/>
                </a:solidFill>
                <a:latin typeface="+mj-lt" pitchFamily="34" charset="0"/>
                <a:ea typeface="+mj-lt" pitchFamily="34" charset="-122"/>
                <a:cs typeface="+mj-lt" pitchFamily="34" charset="-120"/>
              </a:rPr>
              <a:t>,</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k</a:t>
            </a:r>
            <a:pPr indent="0" marL="0">
              <a:spcAft>
                <a:spcPts val="200"/>
              </a:spcAft>
              <a:buNone/>
            </a:pPr>
            <a:r>
              <a:rPr lang="en-US" sz="1400" dirty="0">
                <a:solidFill>
                  <a:srgbClr val="1B2638"/>
                </a:solidFill>
              </a:rPr>
              <a:t> and a private part </a:t>
            </a:r>
            <a:pPr indent="0" marL="0">
              <a:spcAft>
                <a:spcPts val="200"/>
              </a:spcAft>
              <a:buNone/>
            </a:pPr>
            <a:r>
              <a:rPr lang="en-US" sz="1400" i="1" dirty="0">
                <a:solidFill>
                  <a:srgbClr val="1B2638"/>
                </a:solidFill>
                <a:latin typeface="+mj-lt" pitchFamily="34" charset="0"/>
                <a:ea typeface="+mj-lt" pitchFamily="34" charset="-122"/>
                <a:cs typeface="+mj-lt" pitchFamily="34" charset="-120"/>
              </a:rPr>
              <a:t>W</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p</a:t>
            </a:r>
            <a:pPr indent="0" marL="0">
              <a:spcAft>
                <a:spcPts val="200"/>
              </a:spcAft>
              <a:buNone/>
            </a:pPr>
            <a:r>
              <a:rPr lang="en-US" sz="1400" baseline="-40000" dirty="0">
                <a:solidFill>
                  <a:srgbClr val="1B2638"/>
                </a:solidFill>
                <a:latin typeface="+mj-lt" pitchFamily="34" charset="0"/>
                <a:ea typeface="+mj-lt" pitchFamily="34" charset="-122"/>
                <a:cs typeface="+mj-lt" pitchFamily="34" charset="-120"/>
              </a:rPr>
              <a:t>,</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k</a:t>
            </a:r>
            <a:pPr indent="0" marL="0">
              <a:spcAft>
                <a:spcPts val="200"/>
              </a:spcAft>
              <a:buNone/>
            </a:pPr>
            <a:r>
              <a:rPr lang="en-US" sz="1400" dirty="0">
                <a:solidFill>
                  <a:srgbClr val="1B2638"/>
                </a:solidFill>
              </a:rPr>
              <a:t>.</a:t>
            </a:r>
            <a:endParaRPr lang="en-US" sz="1500" dirty="0"/>
          </a:p>
        </p:txBody>
      </p:sp>
      <p:sp>
        <p:nvSpPr>
          <p:cNvPr id="9" name="icon-bg-81"/>
          <p:cNvSpPr/>
          <p:nvPr/>
        </p:nvSpPr>
        <p:spPr>
          <a:xfrm>
            <a:off x="6355080" y="2679192"/>
            <a:ext cx="420624" cy="420624"/>
          </a:xfrm>
          <a:prstGeom prst="ellipse">
            <a:avLst/>
          </a:prstGeom>
          <a:solidFill>
            <a:schemeClr val="accent1"/>
          </a:solidFill>
          <a:ln w="6350">
            <a:solidFill>
              <a:schemeClr val="accent1"/>
            </a:solidFill>
            <a:prstDash val="solid"/>
          </a:ln>
        </p:spPr>
      </p:sp>
      <p:pic>
        <p:nvPicPr>
          <p:cNvPr id="10" name="icon-82" descr="Icon: stack 2">    </p:cNvPr>
          <p:cNvPicPr>
            <a:picLocks noChangeAspect="1"/>
          </p:cNvPicPr>
          <p:nvPr/>
        </p:nvPicPr>
        <p:blipFill>
          <a:blip r:embed="rId3"/>
          <a:stretch>
            <a:fillRect/>
          </a:stretch>
        </p:blipFill>
        <p:spPr>
          <a:xfrm>
            <a:off x="6447617" y="2771729"/>
            <a:ext cx="235549" cy="235549"/>
          </a:xfrm>
          <a:prstGeom prst="rect">
            <a:avLst/>
          </a:prstGeom>
        </p:spPr>
      </p:pic>
      <p:sp>
        <p:nvSpPr>
          <p:cNvPr id="11" name="row-text-83"/>
          <p:cNvSpPr/>
          <p:nvPr/>
        </p:nvSpPr>
        <p:spPr>
          <a:xfrm>
            <a:off x="6940296" y="2642616"/>
            <a:ext cx="4700016"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Superposition + SIC</a:t>
            </a:r>
            <a:endParaRPr lang="en-US" sz="1500" dirty="0"/>
          </a:p>
          <a:p>
            <a:pPr indent="0" marL="0">
              <a:spcAft>
                <a:spcPts val="200"/>
              </a:spcAft>
              <a:buNone/>
            </a:pPr>
            <a:r>
              <a:rPr lang="en-US" sz="1400" dirty="0">
                <a:solidFill>
                  <a:srgbClr val="1B2638"/>
                </a:solidFill>
              </a:rPr>
              <a:t>Users decode the common stream </a:t>
            </a:r>
            <a:pPr indent="0" marL="0">
              <a:spcAft>
                <a:spcPts val="200"/>
              </a:spcAft>
              <a:buNone/>
            </a:pPr>
            <a:r>
              <a:rPr lang="en-US" sz="1400" i="1" dirty="0">
                <a:solidFill>
                  <a:srgbClr val="1B2638"/>
                </a:solidFill>
                <a:latin typeface="+mj-lt" pitchFamily="34" charset="0"/>
                <a:ea typeface="+mj-lt" pitchFamily="34" charset="-122"/>
                <a:cs typeface="+mj-lt" pitchFamily="34" charset="-120"/>
              </a:rPr>
              <a:t>s</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c</a:t>
            </a:r>
            <a:pPr indent="0" marL="0">
              <a:spcAft>
                <a:spcPts val="200"/>
              </a:spcAft>
              <a:buNone/>
            </a:pPr>
            <a:r>
              <a:rPr lang="en-US" sz="1400" dirty="0">
                <a:solidFill>
                  <a:srgbClr val="1B2638"/>
                </a:solidFill>
              </a:rPr>
              <a:t>, remove it by SIC, then decode their own </a:t>
            </a:r>
            <a:pPr indent="0" marL="0">
              <a:spcAft>
                <a:spcPts val="200"/>
              </a:spcAft>
              <a:buNone/>
            </a:pPr>
            <a:r>
              <a:rPr lang="en-US" sz="1400" i="1" dirty="0">
                <a:solidFill>
                  <a:srgbClr val="1B2638"/>
                </a:solidFill>
                <a:latin typeface="+mj-lt" pitchFamily="34" charset="0"/>
                <a:ea typeface="+mj-lt" pitchFamily="34" charset="-122"/>
                <a:cs typeface="+mj-lt" pitchFamily="34" charset="-120"/>
              </a:rPr>
              <a:t>s</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k</a:t>
            </a:r>
            <a:pPr indent="0" marL="0">
              <a:spcAft>
                <a:spcPts val="200"/>
              </a:spcAft>
              <a:buNone/>
            </a:pPr>
            <a:r>
              <a:rPr lang="en-US" sz="1400" dirty="0">
                <a:solidFill>
                  <a:srgbClr val="1B2638"/>
                </a:solidFill>
              </a:rPr>
              <a:t>.</a:t>
            </a:r>
            <a:endParaRPr lang="en-US" sz="1500" dirty="0"/>
          </a:p>
        </p:txBody>
      </p:sp>
      <p:sp>
        <p:nvSpPr>
          <p:cNvPr id="12" name="icon-bg-84"/>
          <p:cNvSpPr/>
          <p:nvPr/>
        </p:nvSpPr>
        <p:spPr>
          <a:xfrm>
            <a:off x="6355080" y="3538728"/>
            <a:ext cx="420624" cy="420624"/>
          </a:xfrm>
          <a:prstGeom prst="ellipse">
            <a:avLst/>
          </a:prstGeom>
          <a:solidFill>
            <a:schemeClr val="accent1"/>
          </a:solidFill>
          <a:ln w="6350">
            <a:solidFill>
              <a:schemeClr val="accent1"/>
            </a:solidFill>
            <a:prstDash val="solid"/>
          </a:ln>
        </p:spPr>
      </p:sp>
      <p:pic>
        <p:nvPicPr>
          <p:cNvPr id="13" name="icon-85" descr="Icon: hierarchy">    </p:cNvPr>
          <p:cNvPicPr>
            <a:picLocks noChangeAspect="1"/>
          </p:cNvPicPr>
          <p:nvPr/>
        </p:nvPicPr>
        <p:blipFill>
          <a:blip r:embed="rId4"/>
          <a:stretch>
            <a:fillRect/>
          </a:stretch>
        </p:blipFill>
        <p:spPr>
          <a:xfrm>
            <a:off x="6447617" y="3631265"/>
            <a:ext cx="235549" cy="235549"/>
          </a:xfrm>
          <a:prstGeom prst="rect">
            <a:avLst/>
          </a:prstGeom>
        </p:spPr>
      </p:pic>
      <p:sp>
        <p:nvSpPr>
          <p:cNvPr id="14" name="row-text-86"/>
          <p:cNvSpPr/>
          <p:nvPr/>
        </p:nvSpPr>
        <p:spPr>
          <a:xfrm>
            <a:off x="6940296" y="3502152"/>
            <a:ext cx="4700016"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Generality</a:t>
            </a:r>
            <a:endParaRPr lang="en-US" sz="1500" dirty="0"/>
          </a:p>
          <a:p>
            <a:pPr indent="0" marL="0">
              <a:spcAft>
                <a:spcPts val="200"/>
              </a:spcAft>
              <a:buNone/>
            </a:pPr>
            <a:r>
              <a:rPr lang="en-US" sz="1400" dirty="0">
                <a:solidFill>
                  <a:srgbClr val="1B2638"/>
                </a:solidFill>
              </a:rPr>
              <a:t>SDMA, NOMA, OMA and multicasting are all special cases of RSMA [6].</a:t>
            </a:r>
            <a:endParaRPr lang="en-US" sz="1500" dirty="0"/>
          </a:p>
        </p:txBody>
      </p:sp>
      <p:sp>
        <p:nvSpPr>
          <p:cNvPr id="15" name="math-card-87"/>
          <p:cNvSpPr/>
          <p:nvPr/>
        </p:nvSpPr>
        <p:spPr>
          <a:xfrm>
            <a:off x="6355080" y="4416552"/>
            <a:ext cx="5285232" cy="1215878"/>
          </a:xfrm>
          <a:prstGeom prst="roundRect">
            <a:avLst>
              <a:gd name="adj" fmla="val 7520"/>
            </a:avLst>
          </a:prstGeom>
          <a:solidFill>
            <a:srgbClr val="F6F8FB"/>
          </a:solidFill>
          <a:ln w="9525">
            <a:solidFill>
              <a:srgbClr val="E1E7EF"/>
            </a:solidFill>
            <a:prstDash val="solid"/>
          </a:ln>
        </p:spPr>
      </p:sp>
      <p:sp>
        <p:nvSpPr>
          <p:cNvPr id="16" name="math-label-88"/>
          <p:cNvSpPr/>
          <p:nvPr/>
        </p:nvSpPr>
        <p:spPr>
          <a:xfrm>
            <a:off x="6537960" y="4517136"/>
            <a:ext cx="4919472" cy="237744"/>
          </a:xfrm>
          <a:prstGeom prst="rect">
            <a:avLst/>
          </a:prstGeom>
          <a:noFill/>
          <a:ln/>
        </p:spPr>
        <p:txBody>
          <a:bodyPr wrap="square" lIns="0" tIns="0" rIns="0" bIns="0" rtlCol="0" anchor="ctr"/>
          <a:lstStyle/>
          <a:p>
            <a:pPr indent="0" marL="0">
              <a:buNone/>
            </a:pPr>
            <a:r>
              <a:rPr lang="en-US" sz="1250" b="1" dirty="0">
                <a:solidFill>
                  <a:srgbClr val="1670B3"/>
                </a:solidFill>
              </a:rPr>
              <a:t>Transmit signal</a:t>
            </a:r>
            <a:endParaRPr lang="en-US" sz="1250" dirty="0"/>
          </a:p>
        </p:txBody>
      </p:sp>
      <p:pic>
        <p:nvPicPr>
          <p:cNvPr id="17" name="eq-int_rsma-89" descr="LaTeX: \mathbf{x}=\mathbf{w}_c\,s_c+\sum_{k=1}^{K}\mathbf{w}_k\,s_k">    </p:cNvPr>
          <p:cNvPicPr>
            <a:picLocks noChangeAspect="1"/>
          </p:cNvPicPr>
          <p:nvPr/>
        </p:nvPicPr>
        <p:blipFill>
          <a:blip r:embed="rId5"/>
          <a:stretch>
            <a:fillRect/>
          </a:stretch>
        </p:blipFill>
        <p:spPr>
          <a:xfrm>
            <a:off x="6537960" y="4818888"/>
            <a:ext cx="2146280" cy="685526"/>
          </a:xfrm>
          <a:prstGeom prst="rect">
            <a:avLst/>
          </a:prstGeom>
        </p:spPr>
      </p:pic>
      <p:sp>
        <p:nvSpPr>
          <p:cNvPr id="18" name="note-90"/>
          <p:cNvSpPr/>
          <p:nvPr/>
        </p:nvSpPr>
        <p:spPr>
          <a:xfrm>
            <a:off x="6355080" y="5723870"/>
            <a:ext cx="5285232" cy="475488"/>
          </a:xfrm>
          <a:prstGeom prst="rect">
            <a:avLst/>
          </a:prstGeom>
          <a:noFill/>
          <a:ln/>
        </p:spPr>
        <p:txBody>
          <a:bodyPr wrap="square" lIns="0" tIns="0" rIns="0" bIns="0" rtlCol="0" anchor="t"/>
          <a:lstStyle/>
          <a:p>
            <a:pPr indent="0" marL="0">
              <a:buNone/>
            </a:pPr>
            <a:r>
              <a:rPr lang="en-US" sz="1400" b="1" dirty="0">
                <a:solidFill>
                  <a:srgbClr val="1B2638"/>
                </a:solidFill>
              </a:rPr>
              <a:t>In SAGIN:</a:t>
            </a:r>
            <a:pPr indent="0" marL="0">
              <a:buNone/>
            </a:pPr>
            <a:r>
              <a:rPr lang="en-US" sz="1400" dirty="0">
                <a:solidFill>
                  <a:srgbClr val="1B2638"/>
                </a:solidFill>
              </a:rPr>
              <a:t> robust to imperfect CSIT from long delays and Doppler, and to overloaded satellite beams.</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Multi-Agent Deep Reinforcement Learning (MADRL)</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Satellites, UAVs and base stations learn cooperative policies from interaction instead of re-solving a hard problem every slot.</a:t>
            </a:r>
            <a:endParaRPr lang="en-US" sz="1600" dirty="0"/>
          </a:p>
        </p:txBody>
      </p:sp>
      <p:sp>
        <p:nvSpPr>
          <p:cNvPr id="5" name="icon-bg-91"/>
          <p:cNvSpPr/>
          <p:nvPr/>
        </p:nvSpPr>
        <p:spPr>
          <a:xfrm>
            <a:off x="548640" y="1819656"/>
            <a:ext cx="420624" cy="420624"/>
          </a:xfrm>
          <a:prstGeom prst="ellipse">
            <a:avLst/>
          </a:prstGeom>
          <a:solidFill>
            <a:schemeClr val="accent1"/>
          </a:solidFill>
          <a:ln w="6350">
            <a:solidFill>
              <a:schemeClr val="accent1"/>
            </a:solidFill>
            <a:prstDash val="solid"/>
          </a:ln>
        </p:spPr>
      </p:sp>
      <p:pic>
        <p:nvPicPr>
          <p:cNvPr id="6" name="icon-92" descr="Icon: affiliate">    </p:cNvPr>
          <p:cNvPicPr>
            <a:picLocks noChangeAspect="1"/>
          </p:cNvPicPr>
          <p:nvPr/>
        </p:nvPicPr>
        <p:blipFill>
          <a:blip r:embed="rId1"/>
          <a:stretch>
            <a:fillRect/>
          </a:stretch>
        </p:blipFill>
        <p:spPr>
          <a:xfrm>
            <a:off x="641177" y="1912193"/>
            <a:ext cx="235549" cy="235549"/>
          </a:xfrm>
          <a:prstGeom prst="rect">
            <a:avLst/>
          </a:prstGeom>
        </p:spPr>
      </p:pic>
      <p:sp>
        <p:nvSpPr>
          <p:cNvPr id="7" name="row-text-93"/>
          <p:cNvSpPr/>
          <p:nvPr/>
        </p:nvSpPr>
        <p:spPr>
          <a:xfrm>
            <a:off x="1133856" y="1783080"/>
            <a:ext cx="4764024"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Model</a:t>
            </a:r>
            <a:endParaRPr lang="en-US" sz="1500" dirty="0"/>
          </a:p>
          <a:p>
            <a:pPr indent="0" marL="0">
              <a:spcAft>
                <a:spcPts val="200"/>
              </a:spcAft>
              <a:buNone/>
            </a:pPr>
            <a:r>
              <a:rPr lang="en-US" sz="1400" dirty="0">
                <a:solidFill>
                  <a:srgbClr val="1B2638"/>
                </a:solidFill>
              </a:rPr>
              <a:t>Markov game / Dec-POMDP: agent </a:t>
            </a:r>
            <a:pPr indent="0" marL="0">
              <a:spcAft>
                <a:spcPts val="200"/>
              </a:spcAft>
              <a:buNone/>
            </a:pPr>
            <a:r>
              <a:rPr lang="en-US" sz="1400" i="1" dirty="0">
                <a:solidFill>
                  <a:srgbClr val="1B2638"/>
                </a:solidFill>
                <a:latin typeface="+mj-lt" pitchFamily="34" charset="0"/>
                <a:ea typeface="+mj-lt" pitchFamily="34" charset="-122"/>
                <a:cs typeface="+mj-lt" pitchFamily="34" charset="-120"/>
              </a:rPr>
              <a:t>j</a:t>
            </a:r>
            <a:pPr indent="0" marL="0">
              <a:spcAft>
                <a:spcPts val="200"/>
              </a:spcAft>
              <a:buNone/>
            </a:pPr>
            <a:r>
              <a:rPr lang="en-US" sz="1400" dirty="0">
                <a:solidFill>
                  <a:srgbClr val="1B2638"/>
                </a:solidFill>
              </a:rPr>
              <a:t> sees observation </a:t>
            </a:r>
            <a:pPr indent="0" marL="0">
              <a:spcAft>
                <a:spcPts val="200"/>
              </a:spcAft>
              <a:buNone/>
            </a:pPr>
            <a:r>
              <a:rPr lang="en-US" sz="1400" i="1" dirty="0">
                <a:solidFill>
                  <a:srgbClr val="1B2638"/>
                </a:solidFill>
                <a:latin typeface="+mj-lt" pitchFamily="34" charset="0"/>
                <a:ea typeface="+mj-lt" pitchFamily="34" charset="-122"/>
                <a:cs typeface="+mj-lt" pitchFamily="34" charset="-120"/>
              </a:rPr>
              <a:t>o</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j</a:t>
            </a:r>
            <a:pPr indent="0" marL="0">
              <a:spcAft>
                <a:spcPts val="200"/>
              </a:spcAft>
              <a:buNone/>
            </a:pPr>
            <a:r>
              <a:rPr lang="en-US" sz="1400" dirty="0">
                <a:solidFill>
                  <a:srgbClr val="1B2638"/>
                </a:solidFill>
              </a:rPr>
              <a:t>, takes action </a:t>
            </a:r>
            <a:pPr indent="0" marL="0">
              <a:spcAft>
                <a:spcPts val="200"/>
              </a:spcAft>
              <a:buNone/>
            </a:pPr>
            <a:r>
              <a:rPr lang="en-US" sz="1400" i="1" dirty="0">
                <a:solidFill>
                  <a:srgbClr val="1B2638"/>
                </a:solidFill>
                <a:latin typeface="+mj-lt" pitchFamily="34" charset="0"/>
                <a:ea typeface="+mj-lt" pitchFamily="34" charset="-122"/>
                <a:cs typeface="+mj-lt" pitchFamily="34" charset="-120"/>
              </a:rPr>
              <a:t>a</a:t>
            </a:r>
            <a:pPr indent="0" marL="0">
              <a:spcAft>
                <a:spcPts val="200"/>
              </a:spcAft>
              <a:buNone/>
            </a:pPr>
            <a:r>
              <a:rPr lang="en-US" sz="1400" i="1" baseline="-40000" dirty="0">
                <a:solidFill>
                  <a:srgbClr val="1B2638"/>
                </a:solidFill>
                <a:latin typeface="+mj-lt" pitchFamily="34" charset="0"/>
                <a:ea typeface="+mj-lt" pitchFamily="34" charset="-122"/>
                <a:cs typeface="+mj-lt" pitchFamily="34" charset="-120"/>
              </a:rPr>
              <a:t>j</a:t>
            </a:r>
            <a:pPr indent="0" marL="0">
              <a:spcAft>
                <a:spcPts val="200"/>
              </a:spcAft>
              <a:buNone/>
            </a:pPr>
            <a:r>
              <a:rPr lang="en-US" sz="1400" dirty="0">
                <a:solidFill>
                  <a:srgbClr val="1B2638"/>
                </a:solidFill>
              </a:rPr>
              <a:t>; agents share reward </a:t>
            </a:r>
            <a:pPr indent="0" marL="0">
              <a:spcAft>
                <a:spcPts val="200"/>
              </a:spcAft>
              <a:buNone/>
            </a:pPr>
            <a:r>
              <a:rPr lang="en-US" sz="1400" i="1" dirty="0">
                <a:solidFill>
                  <a:srgbClr val="1B2638"/>
                </a:solidFill>
                <a:latin typeface="+mj-lt" pitchFamily="34" charset="0"/>
                <a:ea typeface="+mj-lt" pitchFamily="34" charset="-122"/>
                <a:cs typeface="+mj-lt" pitchFamily="34" charset="-120"/>
              </a:rPr>
              <a:t>r</a:t>
            </a:r>
            <a:pPr indent="0" marL="0">
              <a:spcAft>
                <a:spcPts val="200"/>
              </a:spcAft>
              <a:buNone/>
            </a:pPr>
            <a:r>
              <a:rPr lang="en-US" sz="1400" dirty="0">
                <a:solidFill>
                  <a:srgbClr val="1B2638"/>
                </a:solidFill>
              </a:rPr>
              <a:t>.</a:t>
            </a:r>
            <a:endParaRPr lang="en-US" sz="1500" dirty="0"/>
          </a:p>
        </p:txBody>
      </p:sp>
      <p:sp>
        <p:nvSpPr>
          <p:cNvPr id="8" name="icon-bg-94"/>
          <p:cNvSpPr/>
          <p:nvPr/>
        </p:nvSpPr>
        <p:spPr>
          <a:xfrm>
            <a:off x="548640" y="2679192"/>
            <a:ext cx="420624" cy="420624"/>
          </a:xfrm>
          <a:prstGeom prst="ellipse">
            <a:avLst/>
          </a:prstGeom>
          <a:solidFill>
            <a:schemeClr val="accent1"/>
          </a:solidFill>
          <a:ln w="6350">
            <a:solidFill>
              <a:schemeClr val="accent1"/>
            </a:solidFill>
            <a:prstDash val="solid"/>
          </a:ln>
        </p:spPr>
      </p:sp>
      <p:pic>
        <p:nvPicPr>
          <p:cNvPr id="9" name="icon-95" descr="Icon: brain">    </p:cNvPr>
          <p:cNvPicPr>
            <a:picLocks noChangeAspect="1"/>
          </p:cNvPicPr>
          <p:nvPr/>
        </p:nvPicPr>
        <p:blipFill>
          <a:blip r:embed="rId2"/>
          <a:stretch>
            <a:fillRect/>
          </a:stretch>
        </p:blipFill>
        <p:spPr>
          <a:xfrm>
            <a:off x="641177" y="2771729"/>
            <a:ext cx="235549" cy="235549"/>
          </a:xfrm>
          <a:prstGeom prst="rect">
            <a:avLst/>
          </a:prstGeom>
        </p:spPr>
      </p:pic>
      <p:sp>
        <p:nvSpPr>
          <p:cNvPr id="10" name="row-text-96"/>
          <p:cNvSpPr/>
          <p:nvPr/>
        </p:nvSpPr>
        <p:spPr>
          <a:xfrm>
            <a:off x="1133856" y="2642616"/>
            <a:ext cx="4764024"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CTDE</a:t>
            </a:r>
            <a:endParaRPr lang="en-US" sz="1500" dirty="0"/>
          </a:p>
          <a:p>
            <a:pPr indent="0" marL="0">
              <a:spcAft>
                <a:spcPts val="200"/>
              </a:spcAft>
              <a:buNone/>
            </a:pPr>
            <a:r>
              <a:rPr lang="en-US" sz="1400" dirty="0">
                <a:solidFill>
                  <a:srgbClr val="1B2638"/>
                </a:solidFill>
              </a:rPr>
              <a:t>Centralized training with a critic that sees the global state; decentralized execution with local actors.</a:t>
            </a:r>
            <a:endParaRPr lang="en-US" sz="1500" dirty="0"/>
          </a:p>
        </p:txBody>
      </p:sp>
      <p:sp>
        <p:nvSpPr>
          <p:cNvPr id="11" name="icon-bg-97"/>
          <p:cNvSpPr/>
          <p:nvPr/>
        </p:nvSpPr>
        <p:spPr>
          <a:xfrm>
            <a:off x="548640" y="3538728"/>
            <a:ext cx="420624" cy="420624"/>
          </a:xfrm>
          <a:prstGeom prst="ellipse">
            <a:avLst/>
          </a:prstGeom>
          <a:solidFill>
            <a:schemeClr val="accent1"/>
          </a:solidFill>
          <a:ln w="6350">
            <a:solidFill>
              <a:schemeClr val="accent1"/>
            </a:solidFill>
            <a:prstDash val="solid"/>
          </a:ln>
        </p:spPr>
      </p:sp>
      <p:pic>
        <p:nvPicPr>
          <p:cNvPr id="12" name="icon-98" descr="Icon: cpu">    </p:cNvPr>
          <p:cNvPicPr>
            <a:picLocks noChangeAspect="1"/>
          </p:cNvPicPr>
          <p:nvPr/>
        </p:nvPicPr>
        <p:blipFill>
          <a:blip r:embed="rId3"/>
          <a:stretch>
            <a:fillRect/>
          </a:stretch>
        </p:blipFill>
        <p:spPr>
          <a:xfrm>
            <a:off x="641177" y="3631265"/>
            <a:ext cx="235549" cy="235549"/>
          </a:xfrm>
          <a:prstGeom prst="rect">
            <a:avLst/>
          </a:prstGeom>
        </p:spPr>
      </p:pic>
      <p:sp>
        <p:nvSpPr>
          <p:cNvPr id="13" name="row-text-99"/>
          <p:cNvSpPr/>
          <p:nvPr/>
        </p:nvSpPr>
        <p:spPr>
          <a:xfrm>
            <a:off x="1133856" y="3502152"/>
            <a:ext cx="4764024" cy="822960"/>
          </a:xfrm>
          <a:prstGeom prst="rect">
            <a:avLst/>
          </a:prstGeom>
          <a:noFill/>
          <a:ln/>
        </p:spPr>
        <p:txBody>
          <a:bodyPr wrap="square" lIns="0" tIns="0" rIns="0" bIns="0" rtlCol="0" anchor="t"/>
          <a:lstStyle/>
          <a:p>
            <a:pPr indent="0" marL="0">
              <a:spcAft>
                <a:spcPts val="200"/>
              </a:spcAft>
              <a:buNone/>
            </a:pPr>
            <a:r>
              <a:rPr lang="en-US" sz="1500" b="1" dirty="0">
                <a:solidFill>
                  <a:srgbClr val="0B1E3F"/>
                </a:solidFill>
              </a:rPr>
              <a:t>Algorithms</a:t>
            </a:r>
            <a:endParaRPr lang="en-US" sz="1500" dirty="0"/>
          </a:p>
          <a:p>
            <a:pPr indent="0" marL="0">
              <a:spcAft>
                <a:spcPts val="200"/>
              </a:spcAft>
              <a:buNone/>
            </a:pPr>
            <a:r>
              <a:rPr lang="en-US" sz="1400" dirty="0">
                <a:solidFill>
                  <a:srgbClr val="1B2638"/>
                </a:solidFill>
              </a:rPr>
              <a:t>MADDPG [7], MAPPO [8], QMIX and other value-decomposition methods.</a:t>
            </a:r>
            <a:endParaRPr lang="en-US" sz="1500" dirty="0"/>
          </a:p>
        </p:txBody>
      </p:sp>
      <p:sp>
        <p:nvSpPr>
          <p:cNvPr id="14" name="math-card-100"/>
          <p:cNvSpPr/>
          <p:nvPr/>
        </p:nvSpPr>
        <p:spPr>
          <a:xfrm>
            <a:off x="548640" y="4416552"/>
            <a:ext cx="5349240" cy="1172352"/>
          </a:xfrm>
          <a:prstGeom prst="roundRect">
            <a:avLst>
              <a:gd name="adj" fmla="val 7800"/>
            </a:avLst>
          </a:prstGeom>
          <a:solidFill>
            <a:srgbClr val="F6F8FB"/>
          </a:solidFill>
          <a:ln w="9525">
            <a:solidFill>
              <a:srgbClr val="E1E7EF"/>
            </a:solidFill>
            <a:prstDash val="solid"/>
          </a:ln>
        </p:spPr>
      </p:sp>
      <p:sp>
        <p:nvSpPr>
          <p:cNvPr id="15" name="math-label-101"/>
          <p:cNvSpPr/>
          <p:nvPr/>
        </p:nvSpPr>
        <p:spPr>
          <a:xfrm>
            <a:off x="731520" y="4517136"/>
            <a:ext cx="4983480" cy="237744"/>
          </a:xfrm>
          <a:prstGeom prst="rect">
            <a:avLst/>
          </a:prstGeom>
          <a:noFill/>
          <a:ln/>
        </p:spPr>
        <p:txBody>
          <a:bodyPr wrap="square" lIns="0" tIns="0" rIns="0" bIns="0" rtlCol="0" anchor="ctr"/>
          <a:lstStyle/>
          <a:p>
            <a:pPr indent="0" marL="0">
              <a:buNone/>
            </a:pPr>
            <a:r>
              <a:rPr lang="en-US" sz="1250" b="1" dirty="0">
                <a:solidFill>
                  <a:srgbClr val="1670B3"/>
                </a:solidFill>
              </a:rPr>
              <a:t>Cooperative objective</a:t>
            </a:r>
            <a:endParaRPr lang="en-US" sz="1250" dirty="0"/>
          </a:p>
        </p:txBody>
      </p:sp>
      <p:pic>
        <p:nvPicPr>
          <p:cNvPr id="16" name="eq-int_marl-102" descr="LaTeX: \max_{\{\pi_j\}}\ \mathbb{E}\Big[\sum_{t=0}^{\infty}\gamma^{t}\,r(s_t,\mathbf{a}_t)\Big],\quad a_{j,t}\sim\pi_j(\cdot\,|\,o_{j,t})">    </p:cNvPr>
          <p:cNvPicPr>
            <a:picLocks noChangeAspect="1"/>
          </p:cNvPicPr>
          <p:nvPr/>
        </p:nvPicPr>
        <p:blipFill>
          <a:blip r:embed="rId4"/>
          <a:stretch>
            <a:fillRect/>
          </a:stretch>
        </p:blipFill>
        <p:spPr>
          <a:xfrm>
            <a:off x="731520" y="4818888"/>
            <a:ext cx="4160611" cy="642000"/>
          </a:xfrm>
          <a:prstGeom prst="rect">
            <a:avLst/>
          </a:prstGeom>
        </p:spPr>
      </p:pic>
      <p:sp>
        <p:nvSpPr>
          <p:cNvPr id="17" name="note-103"/>
          <p:cNvSpPr/>
          <p:nvPr/>
        </p:nvSpPr>
        <p:spPr>
          <a:xfrm>
            <a:off x="548640" y="5680344"/>
            <a:ext cx="5349240" cy="475488"/>
          </a:xfrm>
          <a:prstGeom prst="rect">
            <a:avLst/>
          </a:prstGeom>
          <a:noFill/>
          <a:ln/>
        </p:spPr>
        <p:txBody>
          <a:bodyPr wrap="square" lIns="0" tIns="0" rIns="0" bIns="0" rtlCol="0" anchor="t"/>
          <a:lstStyle/>
          <a:p>
            <a:pPr indent="0" marL="0">
              <a:buNone/>
            </a:pPr>
            <a:r>
              <a:rPr lang="en-US" sz="1400" b="1" dirty="0">
                <a:solidFill>
                  <a:srgbClr val="1B2638"/>
                </a:solidFill>
              </a:rPr>
              <a:t>In SAGIN:</a:t>
            </a:r>
            <a:pPr indent="0" marL="0">
              <a:buNone/>
            </a:pPr>
            <a:r>
              <a:rPr lang="en-US" sz="1400" dirty="0">
                <a:solidFill>
                  <a:srgbClr val="1B2638"/>
                </a:solidFill>
              </a:rPr>
              <a:t> real-time, distributed control of trajectory, power, beamforming and access.</a:t>
            </a:r>
            <a:endParaRPr lang="en-US" sz="1400" dirty="0"/>
          </a:p>
        </p:txBody>
      </p:sp>
      <p:pic>
        <p:nvPicPr>
          <p:cNvPr id="18" name="figure-104" descr="Centralized training, decentralized execution: agents with policy networks act on a SAGIN environment; a centralized critic is used only during training.">    </p:cNvPr>
          <p:cNvPicPr>
            <a:picLocks noChangeAspect="1"/>
          </p:cNvPicPr>
          <p:nvPr/>
        </p:nvPicPr>
        <p:blipFill>
          <a:blip r:embed="rId5"/>
          <a:stretch>
            <a:fillRect/>
          </a:stretch>
        </p:blipFill>
        <p:spPr>
          <a:xfrm>
            <a:off x="6153912" y="1783080"/>
            <a:ext cx="5486400" cy="4297680"/>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685800" y="3090672"/>
            <a:ext cx="6949440" cy="1417320"/>
          </a:xfrm>
          <a:prstGeom prst="rect">
            <a:avLst/>
          </a:prstGeom>
          <a:noFill/>
          <a:ln/>
        </p:spPr>
        <p:txBody>
          <a:bodyPr wrap="square" lIns="0" tIns="0" rIns="0" bIns="0" rtlCol="0" anchor="t"/>
          <a:lstStyle/>
          <a:p>
            <a:pPr algn="l" indent="0" marL="0">
              <a:buNone/>
            </a:pPr>
            <a:r>
              <a:rPr lang="en-US" sz="3800" b="1" dirty="0">
                <a:solidFill>
                  <a:srgbClr val="FFFFFF"/>
                </a:solidFill>
                <a:latin typeface="+mj-lt" pitchFamily="34" charset="0"/>
                <a:ea typeface="+mj-lt" pitchFamily="34" charset="-122"/>
                <a:cs typeface="+mj-lt" pitchFamily="34" charset="-120"/>
              </a:rPr>
              <a:t>Polarforming Design in SAGIN</a:t>
            </a:r>
            <a:endParaRPr lang="en-US" sz="3800" dirty="0"/>
          </a:p>
        </p:txBody>
      </p:sp>
      <p:sp>
        <p:nvSpPr>
          <p:cNvPr id="3" name="Text 2"/>
          <p:cNvSpPr/>
          <p:nvPr>
            <p:ph idx="103" type="body" hasCustomPrompt="1"/>
          </p:nvPr>
        </p:nvSpPr>
        <p:spPr>
          <a:xfrm>
            <a:off x="731520" y="4617720"/>
            <a:ext cx="6766560" cy="914400"/>
          </a:xfrm>
          <a:prstGeom prst="rect">
            <a:avLst/>
          </a:prstGeom>
          <a:noFill/>
          <a:ln/>
        </p:spPr>
        <p:txBody>
          <a:bodyPr wrap="square" lIns="0" tIns="0" rIns="0" bIns="0" rtlCol="0" anchor="t"/>
          <a:lstStyle/>
          <a:p>
            <a:pPr algn="l" indent="0" marL="0">
              <a:buNone/>
            </a:pPr>
            <a:r>
              <a:rPr lang="en-US" sz="1600" dirty="0">
                <a:solidFill>
                  <a:srgbClr val="BFD0E6"/>
                </a:solidFill>
              </a:rPr>
              <a:t>System model  ·  Proposed design  ·  Simulation results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System Model</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A LEO satellite with an </a:t>
            </a:r>
            <a:pPr algn="l" indent="0" marL="0">
              <a:buNone/>
            </a:pPr>
            <a:r>
              <a:rPr lang="en-US" sz="1600" i="1" dirty="0">
                <a:solidFill>
                  <a:srgbClr val="5B6880"/>
                </a:solidFill>
                <a:latin typeface="+mj-lt" pitchFamily="34" charset="0"/>
                <a:ea typeface="+mj-lt" pitchFamily="34" charset="-122"/>
                <a:cs typeface="+mj-lt" pitchFamily="34" charset="-120"/>
              </a:rPr>
              <a:t>N</a:t>
            </a:r>
            <a:pPr algn="l" indent="0" marL="0">
              <a:buNone/>
            </a:pPr>
            <a:r>
              <a:rPr lang="en-US" sz="1600" dirty="0">
                <a:solidFill>
                  <a:srgbClr val="5B6880"/>
                </a:solidFill>
              </a:rPr>
              <a:t>-element PRA array serves </a:t>
            </a:r>
            <a:pPr algn="l" indent="0" marL="0">
              <a:buNone/>
            </a:pPr>
            <a:r>
              <a:rPr lang="en-US" sz="1600" i="1" dirty="0">
                <a:solidFill>
                  <a:srgbClr val="5B6880"/>
                </a:solidFill>
                <a:latin typeface="+mj-lt" pitchFamily="34" charset="0"/>
                <a:ea typeface="+mj-lt" pitchFamily="34" charset="-122"/>
                <a:cs typeface="+mj-lt" pitchFamily="34" charset="-120"/>
              </a:rPr>
              <a:t>K</a:t>
            </a:r>
            <a:pPr algn="l" indent="0" marL="0">
              <a:buNone/>
            </a:pPr>
            <a:r>
              <a:rPr lang="en-US" sz="1600" dirty="0">
                <a:solidFill>
                  <a:srgbClr val="5B6880"/>
                </a:solidFill>
              </a:rPr>
              <a:t> PRA-equipped ground and aerial users with RSMA.</a:t>
            </a:r>
            <a:endParaRPr lang="en-US" sz="1600" dirty="0"/>
          </a:p>
        </p:txBody>
      </p:sp>
      <p:pic>
        <p:nvPicPr>
          <p:cNvPr id="5" name="figure-105" descr="System model: LEO satellite with a polarization-reconfigurable antenna array serving a handheld user, a vehicle, a ship and a UAV with common and private RSMA streams through the ionosphere.">    </p:cNvPr>
          <p:cNvPicPr>
            <a:picLocks noChangeAspect="1"/>
          </p:cNvPicPr>
          <p:nvPr/>
        </p:nvPicPr>
        <p:blipFill>
          <a:blip r:embed="rId1"/>
          <a:stretch>
            <a:fillRect/>
          </a:stretch>
        </p:blipFill>
        <p:spPr>
          <a:xfrm>
            <a:off x="548640" y="1755648"/>
            <a:ext cx="4846320" cy="3877056"/>
          </a:xfrm>
          <a:prstGeom prst="rect">
            <a:avLst/>
          </a:prstGeom>
        </p:spPr>
      </p:pic>
      <p:sp>
        <p:nvSpPr>
          <p:cNvPr id="6" name="caption-106"/>
          <p:cNvSpPr/>
          <p:nvPr/>
        </p:nvSpPr>
        <p:spPr>
          <a:xfrm>
            <a:off x="548640" y="5705856"/>
            <a:ext cx="4846320" cy="256032"/>
          </a:xfrm>
          <a:prstGeom prst="rect">
            <a:avLst/>
          </a:prstGeom>
          <a:noFill/>
          <a:ln/>
        </p:spPr>
        <p:txBody>
          <a:bodyPr wrap="square" lIns="0" tIns="0" rIns="0" bIns="0" rtlCol="0" anchor="ctr"/>
          <a:lstStyle/>
          <a:p>
            <a:pPr algn="l" indent="0" marL="0">
              <a:buNone/>
            </a:pPr>
            <a:r>
              <a:rPr lang="en-US" sz="1100" i="1" dirty="0">
                <a:solidFill>
                  <a:srgbClr val="5B6880"/>
                </a:solidFill>
              </a:rPr>
              <a:t>Fig. Polarforming-aided RSMA downlink through a rotating, depolarizing channel.</a:t>
            </a:r>
            <a:endParaRPr lang="en-US" sz="1100" dirty="0"/>
          </a:p>
        </p:txBody>
      </p:sp>
      <p:sp>
        <p:nvSpPr>
          <p:cNvPr id="7" name="math-card-107"/>
          <p:cNvSpPr/>
          <p:nvPr/>
        </p:nvSpPr>
        <p:spPr>
          <a:xfrm>
            <a:off x="5669280" y="1755648"/>
            <a:ext cx="5971032" cy="1074420"/>
          </a:xfrm>
          <a:prstGeom prst="roundRect">
            <a:avLst>
              <a:gd name="adj" fmla="val 8511"/>
            </a:avLst>
          </a:prstGeom>
          <a:solidFill>
            <a:srgbClr val="F6F8FB"/>
          </a:solidFill>
          <a:ln w="9525">
            <a:solidFill>
              <a:srgbClr val="E1E7EF"/>
            </a:solidFill>
            <a:prstDash val="solid"/>
          </a:ln>
        </p:spPr>
      </p:sp>
      <p:sp>
        <p:nvSpPr>
          <p:cNvPr id="8" name="math-label-108"/>
          <p:cNvSpPr/>
          <p:nvPr/>
        </p:nvSpPr>
        <p:spPr>
          <a:xfrm>
            <a:off x="5852160" y="1856232"/>
            <a:ext cx="5605272" cy="237744"/>
          </a:xfrm>
          <a:prstGeom prst="rect">
            <a:avLst/>
          </a:prstGeom>
          <a:noFill/>
          <a:ln/>
        </p:spPr>
        <p:txBody>
          <a:bodyPr wrap="square" lIns="0" tIns="0" rIns="0" bIns="0" rtlCol="0" anchor="ctr"/>
          <a:lstStyle/>
          <a:p>
            <a:pPr indent="0" marL="0">
              <a:buNone/>
            </a:pPr>
            <a:r>
              <a:rPr lang="en-US" sz="1250" b="1" dirty="0">
                <a:solidFill>
                  <a:srgbClr val="0B7F72"/>
                </a:solidFill>
              </a:rPr>
              <a:t>Polarforming vector of each PRA (transmit </a:t>
            </a:r>
            <a:pPr indent="0" marL="0">
              <a:buNone/>
            </a:pPr>
            <a:r>
              <a:rPr lang="en-US" sz="1250" b="1" dirty="0">
                <a:solidFill>
                  <a:srgbClr val="0B7F72"/>
                </a:solidFill>
                <a:latin typeface="+mj-lt" pitchFamily="34" charset="0"/>
                <a:ea typeface="+mj-lt" pitchFamily="34" charset="-122"/>
                <a:cs typeface="+mj-lt" pitchFamily="34" charset="-120"/>
              </a:rPr>
              <a:t>p</a:t>
            </a:r>
            <a:pPr indent="0" marL="0">
              <a:buNone/>
            </a:pPr>
            <a:r>
              <a:rPr lang="en-US" sz="1250" b="1" i="1" baseline="-40000" dirty="0">
                <a:solidFill>
                  <a:srgbClr val="0B7F72"/>
                </a:solidFill>
                <a:latin typeface="+mj-lt" pitchFamily="34" charset="0"/>
                <a:ea typeface="+mj-lt" pitchFamily="34" charset="-122"/>
                <a:cs typeface="+mj-lt" pitchFamily="34" charset="-120"/>
              </a:rPr>
              <a:t>n</a:t>
            </a:r>
            <a:pPr indent="0" marL="0">
              <a:buNone/>
            </a:pPr>
            <a:r>
              <a:rPr lang="en-US" sz="1250" b="1" dirty="0">
                <a:solidFill>
                  <a:srgbClr val="0B7F72"/>
                </a:solidFill>
              </a:rPr>
              <a:t>, receive </a:t>
            </a:r>
            <a:pPr indent="0" marL="0">
              <a:buNone/>
            </a:pPr>
            <a:r>
              <a:rPr lang="en-US" sz="1250" b="1" dirty="0">
                <a:solidFill>
                  <a:srgbClr val="0B7F72"/>
                </a:solidFill>
                <a:latin typeface="+mj-lt" pitchFamily="34" charset="0"/>
                <a:ea typeface="+mj-lt" pitchFamily="34" charset="-122"/>
                <a:cs typeface="+mj-lt" pitchFamily="34" charset="-120"/>
              </a:rPr>
              <a:t>p</a:t>
            </a:r>
            <a:pPr indent="0" marL="0">
              <a:buNone/>
            </a:pPr>
            <a:r>
              <a:rPr lang="en-US" sz="1250" b="1" i="1" baseline="-40000" dirty="0">
                <a:solidFill>
                  <a:srgbClr val="0B7F72"/>
                </a:solidFill>
                <a:latin typeface="+mj-lt" pitchFamily="34" charset="0"/>
                <a:ea typeface="+mj-lt" pitchFamily="34" charset="-122"/>
                <a:cs typeface="+mj-lt" pitchFamily="34" charset="-120"/>
              </a:rPr>
              <a:t>k</a:t>
            </a:r>
            <a:pPr indent="0" marL="0">
              <a:buNone/>
            </a:pPr>
            <a:r>
              <a:rPr lang="en-US" sz="1250" b="1" dirty="0">
                <a:solidFill>
                  <a:srgbClr val="0B7F72"/>
                </a:solidFill>
              </a:rPr>
              <a:t>)</a:t>
            </a:r>
            <a:endParaRPr lang="en-US" sz="1250" dirty="0"/>
          </a:p>
        </p:txBody>
      </p:sp>
      <p:pic>
        <p:nvPicPr>
          <p:cNvPr id="9" name="eq-pf_jones-109" descr="LaTeX: \mathbf{p}(\alpha,\delta)=\begin{bmatrix}\cos\alpha\\ \sin\alpha\, e^{j\delta}\end{bmatrix},\quad \alpha\in\big[0,\tfrac{\pi}{2}\big],\ \delta\in[-\pi,\pi)">    </p:cNvPr>
          <p:cNvPicPr>
            <a:picLocks noChangeAspect="1"/>
          </p:cNvPicPr>
          <p:nvPr/>
        </p:nvPicPr>
        <p:blipFill>
          <a:blip r:embed="rId2"/>
          <a:stretch>
            <a:fillRect/>
          </a:stretch>
        </p:blipFill>
        <p:spPr>
          <a:xfrm>
            <a:off x="5852160" y="2157984"/>
            <a:ext cx="4320357" cy="544068"/>
          </a:xfrm>
          <a:prstGeom prst="rect">
            <a:avLst/>
          </a:prstGeom>
        </p:spPr>
      </p:pic>
      <p:sp>
        <p:nvSpPr>
          <p:cNvPr id="10" name="math-card-110"/>
          <p:cNvSpPr/>
          <p:nvPr/>
        </p:nvSpPr>
        <p:spPr>
          <a:xfrm>
            <a:off x="5669280" y="2958084"/>
            <a:ext cx="5971032" cy="1296711"/>
          </a:xfrm>
          <a:prstGeom prst="roundRect">
            <a:avLst>
              <a:gd name="adj" fmla="val 7052"/>
            </a:avLst>
          </a:prstGeom>
          <a:solidFill>
            <a:srgbClr val="F6F8FB"/>
          </a:solidFill>
          <a:ln w="9525">
            <a:solidFill>
              <a:srgbClr val="E1E7EF"/>
            </a:solidFill>
            <a:prstDash val="solid"/>
          </a:ln>
        </p:spPr>
      </p:sp>
      <p:sp>
        <p:nvSpPr>
          <p:cNvPr id="11" name="math-label-111"/>
          <p:cNvSpPr/>
          <p:nvPr/>
        </p:nvSpPr>
        <p:spPr>
          <a:xfrm>
            <a:off x="5852160" y="3058668"/>
            <a:ext cx="5605272" cy="237744"/>
          </a:xfrm>
          <a:prstGeom prst="rect">
            <a:avLst/>
          </a:prstGeom>
          <a:noFill/>
          <a:ln/>
        </p:spPr>
        <p:txBody>
          <a:bodyPr wrap="square" lIns="0" tIns="0" rIns="0" bIns="0" rtlCol="0" anchor="ctr"/>
          <a:lstStyle/>
          <a:p>
            <a:pPr indent="0" marL="0">
              <a:buNone/>
            </a:pPr>
            <a:r>
              <a:rPr lang="en-US" sz="1250" b="1" dirty="0">
                <a:solidFill>
                  <a:srgbClr val="0B7F72"/>
                </a:solidFill>
              </a:rPr>
              <a:t>Polarized channel from antenna </a:t>
            </a:r>
            <a:pPr indent="0" marL="0">
              <a:buNone/>
            </a:pPr>
            <a:r>
              <a:rPr lang="en-US" sz="1250" b="1" i="1" dirty="0">
                <a:solidFill>
                  <a:srgbClr val="0B7F72"/>
                </a:solidFill>
                <a:latin typeface="+mj-lt" pitchFamily="34" charset="0"/>
                <a:ea typeface="+mj-lt" pitchFamily="34" charset="-122"/>
                <a:cs typeface="+mj-lt" pitchFamily="34" charset="-120"/>
              </a:rPr>
              <a:t>n</a:t>
            </a:r>
            <a:pPr indent="0" marL="0">
              <a:buNone/>
            </a:pPr>
            <a:r>
              <a:rPr lang="en-US" sz="1250" b="1" dirty="0">
                <a:solidFill>
                  <a:srgbClr val="0B7F72"/>
                </a:solidFill>
              </a:rPr>
              <a:t> to user </a:t>
            </a:r>
            <a:pPr indent="0" marL="0">
              <a:buNone/>
            </a:pPr>
            <a:r>
              <a:rPr lang="en-US" sz="1250" b="1" i="1" dirty="0">
                <a:solidFill>
                  <a:srgbClr val="0B7F72"/>
                </a:solidFill>
                <a:latin typeface="+mj-lt" pitchFamily="34" charset="0"/>
                <a:ea typeface="+mj-lt" pitchFamily="34" charset="-122"/>
                <a:cs typeface="+mj-lt" pitchFamily="34" charset="-120"/>
              </a:rPr>
              <a:t>k</a:t>
            </a:r>
            <a:endParaRPr lang="en-US" sz="1250" dirty="0"/>
          </a:p>
        </p:txBody>
      </p:sp>
      <p:pic>
        <p:nvPicPr>
          <p:cNvPr id="12" name="eq-pf_channel-112" descr="LaTeX: \mathbf{H}_{k,n}=\sqrt{\beta_k}\,\underbrace{\Big(\sqrt{\tfrac{\kappa}{1+\kappa}}\,\mathbf{I}_2+\sqrt{\tfrac{1}{1+\kappa}}\,\widetilde{\mathbf{G}}_{k}\Big)}_{\text{depolarization (XPD } \chi\text{)}}\,\underbrace{\mathbf{R}(\Omega_k)}_{\text{Faraday}}\,[\mathbf{a}(\theta_k)]_n">    </p:cNvPr>
          <p:cNvPicPr>
            <a:picLocks noChangeAspect="1"/>
          </p:cNvPicPr>
          <p:nvPr/>
        </p:nvPicPr>
        <p:blipFill>
          <a:blip r:embed="rId3"/>
          <a:stretch>
            <a:fillRect/>
          </a:stretch>
        </p:blipFill>
        <p:spPr>
          <a:xfrm>
            <a:off x="5852160" y="3360420"/>
            <a:ext cx="4857476" cy="766359"/>
          </a:xfrm>
          <a:prstGeom prst="rect">
            <a:avLst/>
          </a:prstGeom>
        </p:spPr>
      </p:pic>
      <p:sp>
        <p:nvSpPr>
          <p:cNvPr id="13" name="math-card-113"/>
          <p:cNvSpPr/>
          <p:nvPr/>
        </p:nvSpPr>
        <p:spPr>
          <a:xfrm>
            <a:off x="5669280" y="4382811"/>
            <a:ext cx="5971032" cy="1533906"/>
          </a:xfrm>
          <a:prstGeom prst="roundRect">
            <a:avLst>
              <a:gd name="adj" fmla="val 5961"/>
            </a:avLst>
          </a:prstGeom>
          <a:solidFill>
            <a:srgbClr val="F6F8FB"/>
          </a:solidFill>
          <a:ln w="9525">
            <a:solidFill>
              <a:srgbClr val="E1E7EF"/>
            </a:solidFill>
            <a:prstDash val="solid"/>
          </a:ln>
        </p:spPr>
      </p:sp>
      <p:sp>
        <p:nvSpPr>
          <p:cNvPr id="14" name="math-label-114"/>
          <p:cNvSpPr/>
          <p:nvPr/>
        </p:nvSpPr>
        <p:spPr>
          <a:xfrm>
            <a:off x="5852160" y="4483395"/>
            <a:ext cx="5605272" cy="237744"/>
          </a:xfrm>
          <a:prstGeom prst="rect">
            <a:avLst/>
          </a:prstGeom>
          <a:noFill/>
          <a:ln/>
        </p:spPr>
        <p:txBody>
          <a:bodyPr wrap="square" lIns="0" tIns="0" rIns="0" bIns="0" rtlCol="0" anchor="ctr"/>
          <a:lstStyle/>
          <a:p>
            <a:pPr indent="0" marL="0">
              <a:buNone/>
            </a:pPr>
            <a:r>
              <a:rPr lang="en-US" sz="1250" b="1" dirty="0">
                <a:solidFill>
                  <a:srgbClr val="0B7F72"/>
                </a:solidFill>
              </a:rPr>
              <a:t>Effective channel and received RSMA signal</a:t>
            </a:r>
            <a:endParaRPr lang="en-US" sz="1250" dirty="0"/>
          </a:p>
        </p:txBody>
      </p:sp>
      <p:pic>
        <p:nvPicPr>
          <p:cNvPr id="15" name="eq-pf_effective-115" descr="LaTeX: \mathbf{h}_k^{H}=\big[\,\mathbf{p}_k^{H}\mathbf{H}_{k,1}\mathbf{p}_1,\ \dots,\ \mathbf{p}_k^{H}\mathbf{H}_{k,N}\mathbf{p}_N\big]">    </p:cNvPr>
          <p:cNvPicPr>
            <a:picLocks noChangeAspect="1"/>
          </p:cNvPicPr>
          <p:nvPr/>
        </p:nvPicPr>
        <p:blipFill>
          <a:blip r:embed="rId4"/>
          <a:stretch>
            <a:fillRect/>
          </a:stretch>
        </p:blipFill>
        <p:spPr>
          <a:xfrm>
            <a:off x="5852160" y="4785147"/>
            <a:ext cx="3407329" cy="268925"/>
          </a:xfrm>
          <a:prstGeom prst="rect">
            <a:avLst/>
          </a:prstGeom>
        </p:spPr>
      </p:pic>
      <p:pic>
        <p:nvPicPr>
          <p:cNvPr id="16" name="eq-pf_signal-116" descr="LaTeX: y_k=\mathbf{h}_k^{H}\Big(\mathbf{w}_c\,s_c+\sum_{i=1}^{K}\mathbf{w}_i\,s_i\Big)+n_k">    </p:cNvPr>
          <p:cNvPicPr>
            <a:picLocks noChangeAspect="1"/>
          </p:cNvPicPr>
          <p:nvPr/>
        </p:nvPicPr>
        <p:blipFill>
          <a:blip r:embed="rId5"/>
          <a:stretch>
            <a:fillRect/>
          </a:stretch>
        </p:blipFill>
        <p:spPr>
          <a:xfrm>
            <a:off x="5852160" y="5145512"/>
            <a:ext cx="3085643" cy="643189"/>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Proposed Design: Polarforming-Aided RSMA</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Maximize the minimum user rate by jointly optimizing RSMA precoders, the common-rate split and every polarforming vector.</a:t>
            </a:r>
            <a:endParaRPr lang="en-US" sz="1600" dirty="0"/>
          </a:p>
        </p:txBody>
      </p:sp>
      <p:sp>
        <p:nvSpPr>
          <p:cNvPr id="5" name="math-card-117"/>
          <p:cNvSpPr/>
          <p:nvPr/>
        </p:nvSpPr>
        <p:spPr>
          <a:xfrm>
            <a:off x="548640" y="1755648"/>
            <a:ext cx="5806440" cy="1834469"/>
          </a:xfrm>
          <a:prstGeom prst="roundRect">
            <a:avLst>
              <a:gd name="adj" fmla="val 4985"/>
            </a:avLst>
          </a:prstGeom>
          <a:solidFill>
            <a:srgbClr val="F6F8FB"/>
          </a:solidFill>
          <a:ln w="9525">
            <a:solidFill>
              <a:srgbClr val="E1E7EF"/>
            </a:solidFill>
            <a:prstDash val="solid"/>
          </a:ln>
        </p:spPr>
      </p:sp>
      <p:sp>
        <p:nvSpPr>
          <p:cNvPr id="6" name="math-label-118"/>
          <p:cNvSpPr/>
          <p:nvPr/>
        </p:nvSpPr>
        <p:spPr>
          <a:xfrm>
            <a:off x="731520" y="1856232"/>
            <a:ext cx="5440680" cy="237744"/>
          </a:xfrm>
          <a:prstGeom prst="rect">
            <a:avLst/>
          </a:prstGeom>
          <a:noFill/>
          <a:ln/>
        </p:spPr>
        <p:txBody>
          <a:bodyPr wrap="square" lIns="0" tIns="0" rIns="0" bIns="0" rtlCol="0" anchor="ctr"/>
          <a:lstStyle/>
          <a:p>
            <a:pPr indent="0" marL="0">
              <a:buNone/>
            </a:pPr>
            <a:r>
              <a:rPr lang="en-US" sz="1250" b="1" dirty="0">
                <a:solidFill>
                  <a:srgbClr val="0B7F72"/>
                </a:solidFill>
              </a:rPr>
              <a:t>Common and private rates of user </a:t>
            </a:r>
            <a:pPr indent="0" marL="0">
              <a:buNone/>
            </a:pPr>
            <a:r>
              <a:rPr lang="en-US" sz="1250" b="1" i="1" dirty="0">
                <a:solidFill>
                  <a:srgbClr val="0B7F72"/>
                </a:solidFill>
                <a:latin typeface="+mj-lt" pitchFamily="34" charset="0"/>
                <a:ea typeface="+mj-lt" pitchFamily="34" charset="-122"/>
                <a:cs typeface="+mj-lt" pitchFamily="34" charset="-120"/>
              </a:rPr>
              <a:t>k</a:t>
            </a:r>
            <a:endParaRPr lang="en-US" sz="1250" dirty="0"/>
          </a:p>
        </p:txBody>
      </p:sp>
      <p:pic>
        <p:nvPicPr>
          <p:cNvPr id="7" name="eq-pf_rates-119" descr="LaTeX: \begin{aligned} R_{c,k}&amp;=\log_2\!\Big(1+\frac{|\mathbf{h}_k^{H}\mathbf{w}_c|^2}{\sum_{i=1}^{K}|\mathbf{h}_k^{H}\mathbf{w}_i|^2+\sigma^2}\Big)\\ R_{k}&amp;=\log_2\!\Big(1+\frac{|\mathbf{h}_k^{H}\mathbf{w}_k|^2}{\sum_{i\neq k}|\mathbf{h}_k^{H}\mathbf{w}_i|^2+\sigma^2}\Big) \end{aligned}">    </p:cNvPr>
          <p:cNvPicPr>
            <a:picLocks noChangeAspect="1"/>
          </p:cNvPicPr>
          <p:nvPr/>
        </p:nvPicPr>
        <p:blipFill>
          <a:blip r:embed="rId1"/>
          <a:stretch>
            <a:fillRect/>
          </a:stretch>
        </p:blipFill>
        <p:spPr>
          <a:xfrm>
            <a:off x="731520" y="2157984"/>
            <a:ext cx="3522635" cy="1304117"/>
          </a:xfrm>
          <a:prstGeom prst="rect">
            <a:avLst/>
          </a:prstGeom>
        </p:spPr>
      </p:pic>
      <p:sp>
        <p:nvSpPr>
          <p:cNvPr id="8" name="math-card-120"/>
          <p:cNvSpPr/>
          <p:nvPr/>
        </p:nvSpPr>
        <p:spPr>
          <a:xfrm>
            <a:off x="548640" y="3718133"/>
            <a:ext cx="5806440" cy="1916582"/>
          </a:xfrm>
          <a:prstGeom prst="roundRect">
            <a:avLst>
              <a:gd name="adj" fmla="val 4771"/>
            </a:avLst>
          </a:prstGeom>
          <a:solidFill>
            <a:srgbClr val="F6F8FB"/>
          </a:solidFill>
          <a:ln w="9525">
            <a:solidFill>
              <a:srgbClr val="E1E7EF"/>
            </a:solidFill>
            <a:prstDash val="solid"/>
          </a:ln>
        </p:spPr>
      </p:sp>
      <p:sp>
        <p:nvSpPr>
          <p:cNvPr id="9" name="math-label-121"/>
          <p:cNvSpPr/>
          <p:nvPr/>
        </p:nvSpPr>
        <p:spPr>
          <a:xfrm>
            <a:off x="731520" y="3818717"/>
            <a:ext cx="5440680" cy="237744"/>
          </a:xfrm>
          <a:prstGeom prst="rect">
            <a:avLst/>
          </a:prstGeom>
          <a:noFill/>
          <a:ln/>
        </p:spPr>
        <p:txBody>
          <a:bodyPr wrap="square" lIns="0" tIns="0" rIns="0" bIns="0" rtlCol="0" anchor="ctr"/>
          <a:lstStyle/>
          <a:p>
            <a:pPr indent="0" marL="0">
              <a:buNone/>
            </a:pPr>
            <a:r>
              <a:rPr lang="en-US" sz="1250" b="1" dirty="0">
                <a:solidFill>
                  <a:srgbClr val="0B7F72"/>
                </a:solidFill>
              </a:rPr>
              <a:t>Max-min fairness problem</a:t>
            </a:r>
            <a:endParaRPr lang="en-US" sz="1250" dirty="0"/>
          </a:p>
        </p:txBody>
      </p:sp>
      <p:pic>
        <p:nvPicPr>
          <p:cNvPr id="10" name="eq-pf_problem-122" descr="LaTeX: \begin{aligned} (\mathrm{P1})\ \ \max_{\textcolor{#0B7F72}{\mathbf{W},\,\mathbf{c},\,\{\mathbf{p}_n\},\,\{\mathbf{p}_k\}}}\quad &amp; \min_{k\in\mathcal{K}}\ \big(C_k+R_k\big)\\ \text{s.t.}\quad &amp; \textstyle\sum_{k}C_k\le \min_{k} R_{c,k},\quad C_k\ge 0,\ \forall k,\\ &amp; \|\mathbf{w}_c\|^2+\textstyle\sum_{k}\|\mathbf{w}_k\|^2\le P_{\max},\\ &amp; \mathbf{p}_n,\ \mathbf{p}_k\in\mathcal{P}\triangleq\{\mathbf{p}(\alpha,\delta)\},\ \forall n,k. \end{aligned}">    </p:cNvPr>
          <p:cNvPicPr>
            <a:picLocks noChangeAspect="1"/>
          </p:cNvPicPr>
          <p:nvPr/>
        </p:nvPicPr>
        <p:blipFill>
          <a:blip r:embed="rId2"/>
          <a:stretch>
            <a:fillRect/>
          </a:stretch>
        </p:blipFill>
        <p:spPr>
          <a:xfrm>
            <a:off x="731520" y="4120469"/>
            <a:ext cx="5390571" cy="1386230"/>
          </a:xfrm>
          <a:prstGeom prst="rect">
            <a:avLst/>
          </a:prstGeom>
        </p:spPr>
      </p:pic>
      <p:sp>
        <p:nvSpPr>
          <p:cNvPr id="11" name="label-123"/>
          <p:cNvSpPr/>
          <p:nvPr/>
        </p:nvSpPr>
        <p:spPr>
          <a:xfrm>
            <a:off x="548640" y="5781020"/>
            <a:ext cx="1051560" cy="310896"/>
          </a:xfrm>
          <a:prstGeom prst="rect">
            <a:avLst/>
          </a:prstGeom>
          <a:noFill/>
          <a:ln/>
        </p:spPr>
        <p:txBody>
          <a:bodyPr wrap="square" lIns="0" tIns="0" rIns="0" bIns="0" rtlCol="0" anchor="ctr"/>
          <a:lstStyle/>
          <a:p>
            <a:pPr indent="0" marL="0">
              <a:buNone/>
            </a:pPr>
            <a:r>
              <a:rPr lang="en-US" sz="1400" b="1" dirty="0">
                <a:solidFill>
                  <a:srgbClr val="0B1E3F"/>
                </a:solidFill>
              </a:rPr>
              <a:t>Challenges:</a:t>
            </a:r>
            <a:endParaRPr lang="en-US" sz="1400" dirty="0"/>
          </a:p>
        </p:txBody>
      </p:sp>
      <p:sp>
        <p:nvSpPr>
          <p:cNvPr id="12" name="chip-124"/>
          <p:cNvSpPr/>
          <p:nvPr/>
        </p:nvSpPr>
        <p:spPr>
          <a:xfrm>
            <a:off x="1645920" y="5781020"/>
            <a:ext cx="1488643" cy="310896"/>
          </a:xfrm>
          <a:prstGeom prst="roundRect">
            <a:avLst>
              <a:gd name="adj" fmla="val 50000"/>
            </a:avLst>
          </a:prstGeom>
          <a:solidFill>
            <a:srgbClr val="E2F5F2"/>
          </a:solidFill>
          <a:ln w="9525">
            <a:solidFill>
              <a:srgbClr val="E2F5F2"/>
            </a:solidFill>
          </a:ln>
        </p:spPr>
        <p:txBody>
          <a:bodyPr wrap="square" lIns="0" tIns="0" rIns="0" bIns="0" rtlCol="0" anchor="ctr"/>
          <a:lstStyle/>
          <a:p>
            <a:pPr algn="ctr" indent="0" marL="0">
              <a:buNone/>
            </a:pPr>
            <a:r>
              <a:rPr lang="en-US" sz="1300" dirty="0">
                <a:solidFill>
                  <a:srgbClr val="0B7F72"/>
                </a:solidFill>
              </a:rPr>
              <a:t>non-convex rates</a:t>
            </a:r>
            <a:endParaRPr lang="en-US" sz="1300" dirty="0"/>
          </a:p>
        </p:txBody>
      </p:sp>
      <p:sp>
        <p:nvSpPr>
          <p:cNvPr id="13" name="chip-125"/>
          <p:cNvSpPr/>
          <p:nvPr/>
        </p:nvSpPr>
        <p:spPr>
          <a:xfrm>
            <a:off x="3226003" y="5781020"/>
            <a:ext cx="1564538" cy="310896"/>
          </a:xfrm>
          <a:prstGeom prst="roundRect">
            <a:avLst>
              <a:gd name="adj" fmla="val 50000"/>
            </a:avLst>
          </a:prstGeom>
          <a:solidFill>
            <a:srgbClr val="E2F5F2"/>
          </a:solidFill>
          <a:ln w="9525">
            <a:solidFill>
              <a:srgbClr val="E2F5F2"/>
            </a:solidFill>
          </a:ln>
        </p:spPr>
        <p:txBody>
          <a:bodyPr wrap="square" lIns="0" tIns="0" rIns="0" bIns="0" rtlCol="0" anchor="ctr"/>
          <a:lstStyle/>
          <a:p>
            <a:pPr algn="ctr" indent="0" marL="0">
              <a:buNone/>
            </a:pPr>
            <a:r>
              <a:rPr lang="en-US" sz="1300" dirty="0">
                <a:solidFill>
                  <a:srgbClr val="0B7F72"/>
                </a:solidFill>
              </a:rPr>
              <a:t>coupled variables</a:t>
            </a:r>
            <a:endParaRPr lang="en-US" sz="1300" dirty="0"/>
          </a:p>
        </p:txBody>
      </p:sp>
      <p:sp>
        <p:nvSpPr>
          <p:cNvPr id="14" name="chip-126"/>
          <p:cNvSpPr/>
          <p:nvPr/>
        </p:nvSpPr>
        <p:spPr>
          <a:xfrm>
            <a:off x="4881982" y="5781020"/>
            <a:ext cx="1564538" cy="310896"/>
          </a:xfrm>
          <a:prstGeom prst="roundRect">
            <a:avLst>
              <a:gd name="adj" fmla="val 50000"/>
            </a:avLst>
          </a:prstGeom>
          <a:solidFill>
            <a:srgbClr val="E2F5F2"/>
          </a:solidFill>
          <a:ln w="9525">
            <a:solidFill>
              <a:srgbClr val="E2F5F2"/>
            </a:solidFill>
          </a:ln>
        </p:spPr>
        <p:txBody>
          <a:bodyPr wrap="square" lIns="0" tIns="0" rIns="0" bIns="0" rtlCol="0" anchor="ctr"/>
          <a:lstStyle/>
          <a:p>
            <a:pPr algn="ctr" indent="0" marL="0">
              <a:buNone/>
            </a:pPr>
            <a:r>
              <a:rPr lang="en-US" sz="1300" dirty="0">
                <a:solidFill>
                  <a:srgbClr val="0B7F72"/>
                </a:solidFill>
              </a:rPr>
              <a:t>Jones constraints</a:t>
            </a:r>
            <a:endParaRPr lang="en-US" sz="1300" dirty="0"/>
          </a:p>
        </p:txBody>
      </p:sp>
      <p:sp>
        <p:nvSpPr>
          <p:cNvPr id="15" name="flow-title-127"/>
          <p:cNvSpPr/>
          <p:nvPr/>
        </p:nvSpPr>
        <p:spPr>
          <a:xfrm>
            <a:off x="6629400" y="1755648"/>
            <a:ext cx="5010912" cy="310896"/>
          </a:xfrm>
          <a:prstGeom prst="rect">
            <a:avLst/>
          </a:prstGeom>
          <a:noFill/>
          <a:ln/>
        </p:spPr>
        <p:txBody>
          <a:bodyPr wrap="square" lIns="0" tIns="0" rIns="0" bIns="0" rtlCol="0" anchor="ctr"/>
          <a:lstStyle/>
          <a:p>
            <a:pPr indent="0" marL="0">
              <a:buNone/>
            </a:pPr>
            <a:r>
              <a:rPr lang="en-US" sz="1500" b="1" dirty="0">
                <a:solidFill>
                  <a:srgbClr val="0B7F72"/>
                </a:solidFill>
              </a:rPr>
              <a:t>Alternating optimization (AO)</a:t>
            </a:r>
            <a:endParaRPr lang="en-US" sz="1500" dirty="0"/>
          </a:p>
        </p:txBody>
      </p:sp>
      <p:sp>
        <p:nvSpPr>
          <p:cNvPr id="16" name="flow-step-128"/>
          <p:cNvSpPr/>
          <p:nvPr/>
        </p:nvSpPr>
        <p:spPr>
          <a:xfrm>
            <a:off x="6629400" y="2157984"/>
            <a:ext cx="4507992" cy="457200"/>
          </a:xfrm>
          <a:prstGeom prst="roundRect">
            <a:avLst>
              <a:gd name="adj" fmla="val 16000"/>
            </a:avLst>
          </a:prstGeom>
          <a:solidFill>
            <a:srgbClr val="F3F5F8"/>
          </a:solidFill>
          <a:ln w="15875">
            <a:solidFill>
              <a:srgbClr val="C9D3E0"/>
            </a:solidFill>
          </a:ln>
        </p:spPr>
        <p:txBody>
          <a:bodyPr wrap="square" lIns="50800" tIns="152400" rIns="127000" bIns="50800" rtlCol="0" anchor="ctr"/>
          <a:lstStyle/>
          <a:p>
            <a:pPr algn="l" indent="0" marL="0">
              <a:buNone/>
            </a:pPr>
            <a:r>
              <a:rPr lang="en-US" sz="1400" b="1" dirty="0">
                <a:solidFill>
                  <a:srgbClr val="1B2638"/>
                </a:solidFill>
              </a:rPr>
              <a:t>Initialize</a:t>
            </a:r>
            <a:pPr algn="l" indent="0" marL="0">
              <a:buNone/>
            </a:pPr>
            <a:r>
              <a:rPr lang="en-US" sz="1400" dirty="0">
                <a:solidFill>
                  <a:srgbClr val="1B2638"/>
                </a:solidFill>
              </a:rPr>
              <a:t> fixed polarization </a:t>
            </a:r>
            <a:pPr algn="l" indent="0" marL="0">
              <a:buNone/>
            </a:pPr>
            <a:r>
              <a:rPr lang="en-US" sz="1400" b="1" dirty="0">
                <a:solidFill>
                  <a:srgbClr val="1B2638"/>
                </a:solidFill>
                <a:latin typeface="+mj-lt" pitchFamily="34" charset="0"/>
                <a:ea typeface="+mj-lt" pitchFamily="34" charset="-122"/>
                <a:cs typeface="+mj-lt" pitchFamily="34" charset="-120"/>
              </a:rPr>
              <a:t>p</a:t>
            </a:r>
            <a:pPr algn="l" indent="0" marL="0">
              <a:buNone/>
            </a:pPr>
            <a:r>
              <a:rPr lang="en-US" sz="1400" i="1" baseline="-40000" dirty="0">
                <a:solidFill>
                  <a:srgbClr val="1B2638"/>
                </a:solidFill>
                <a:latin typeface="+mj-lt" pitchFamily="34" charset="0"/>
                <a:ea typeface="+mj-lt" pitchFamily="34" charset="-122"/>
                <a:cs typeface="+mj-lt" pitchFamily="34" charset="-120"/>
              </a:rPr>
              <a:t>n</a:t>
            </a:r>
            <a:pPr algn="l" indent="0" marL="0">
              <a:buNone/>
            </a:pPr>
            <a:r>
              <a:rPr lang="en-US" sz="1400" dirty="0">
                <a:solidFill>
                  <a:srgbClr val="1B2638"/>
                </a:solidFill>
                <a:latin typeface="+mj-lt" pitchFamily="34" charset="0"/>
                <a:ea typeface="+mj-lt" pitchFamily="34" charset="-122"/>
                <a:cs typeface="+mj-lt" pitchFamily="34" charset="-120"/>
              </a:rPr>
              <a:t>,</a:t>
            </a:r>
            <a:pPr algn="l" indent="0" marL="0">
              <a:buNone/>
            </a:pPr>
            <a:r>
              <a:rPr lang="en-US" sz="1400" dirty="0">
                <a:solidFill>
                  <a:srgbClr val="1B2638"/>
                </a:solidFill>
                <a:latin typeface="+mj-lt" pitchFamily="34" charset="0"/>
                <a:ea typeface="+mj-lt" pitchFamily="34" charset="-122"/>
                <a:cs typeface="+mj-lt" pitchFamily="34" charset="-120"/>
              </a:rPr>
              <a:t> </a:t>
            </a:r>
            <a:pPr algn="l" indent="0" marL="0">
              <a:buNone/>
            </a:pPr>
            <a:r>
              <a:rPr lang="en-US" sz="1400" b="1" dirty="0">
                <a:solidFill>
                  <a:srgbClr val="1B2638"/>
                </a:solidFill>
                <a:latin typeface="+mj-lt" pitchFamily="34" charset="0"/>
                <a:ea typeface="+mj-lt" pitchFamily="34" charset="-122"/>
                <a:cs typeface="+mj-lt" pitchFamily="34" charset="-120"/>
              </a:rPr>
              <a:t>p</a:t>
            </a:r>
            <a:pPr algn="l" indent="0" marL="0">
              <a:buNone/>
            </a:pPr>
            <a:r>
              <a:rPr lang="en-US" sz="1400" i="1" baseline="-40000" dirty="0">
                <a:solidFill>
                  <a:srgbClr val="1B2638"/>
                </a:solidFill>
                <a:latin typeface="+mj-lt" pitchFamily="34" charset="0"/>
                <a:ea typeface="+mj-lt" pitchFamily="34" charset="-122"/>
                <a:cs typeface="+mj-lt" pitchFamily="34" charset="-120"/>
              </a:rPr>
              <a:t>k</a:t>
            </a:r>
            <a:pPr algn="l" indent="0" marL="0">
              <a:buNone/>
            </a:pPr>
            <a:r>
              <a:rPr lang="en-US" sz="1400" dirty="0">
                <a:solidFill>
                  <a:srgbClr val="1B2638"/>
                </a:solidFill>
              </a:rPr>
              <a:t> and a feasible </a:t>
            </a:r>
            <a:pPr algn="l" indent="0" marL="0">
              <a:buNone/>
            </a:pPr>
            <a:r>
              <a:rPr lang="en-US" sz="1400" b="1" dirty="0">
                <a:solidFill>
                  <a:srgbClr val="1B2638"/>
                </a:solidFill>
                <a:latin typeface="+mj-lt" pitchFamily="34" charset="0"/>
                <a:ea typeface="+mj-lt" pitchFamily="34" charset="-122"/>
                <a:cs typeface="+mj-lt" pitchFamily="34" charset="-120"/>
              </a:rPr>
              <a:t>W</a:t>
            </a:r>
            <a:endParaRPr lang="en-US" sz="1400" dirty="0"/>
          </a:p>
        </p:txBody>
      </p:sp>
      <p:sp>
        <p:nvSpPr>
          <p:cNvPr id="17" name="flow-arrow-129"/>
          <p:cNvSpPr/>
          <p:nvPr/>
        </p:nvSpPr>
        <p:spPr>
          <a:xfrm>
            <a:off x="8883396" y="2615184"/>
            <a:ext cx="0" cy="146304"/>
          </a:xfrm>
          <a:prstGeom prst="line">
            <a:avLst/>
          </a:prstGeom>
          <a:noFill/>
          <a:ln w="15875">
            <a:solidFill>
              <a:srgbClr val="5B6880"/>
            </a:solidFill>
            <a:prstDash val="solid"/>
            <a:tailEnd type="triangle"/>
          </a:ln>
        </p:spPr>
      </p:sp>
      <p:sp>
        <p:nvSpPr>
          <p:cNvPr id="18" name="flow-step-130"/>
          <p:cNvSpPr/>
          <p:nvPr/>
        </p:nvSpPr>
        <p:spPr>
          <a:xfrm>
            <a:off x="6629400" y="2761488"/>
            <a:ext cx="4507992" cy="676656"/>
          </a:xfrm>
          <a:prstGeom prst="roundRect">
            <a:avLst>
              <a:gd name="adj" fmla="val 10811"/>
            </a:avLst>
          </a:prstGeom>
          <a:solidFill>
            <a:srgbClr val="FFFFFF"/>
          </a:solidFill>
          <a:ln w="15875">
            <a:solidFill>
              <a:srgbClr val="0F9F8F"/>
            </a:solidFill>
          </a:ln>
        </p:spPr>
        <p:txBody>
          <a:bodyPr wrap="square" lIns="50800" tIns="152400" rIns="127000" bIns="50800" rtlCol="0" anchor="ctr"/>
          <a:lstStyle/>
          <a:p>
            <a:pPr algn="l" indent="0" marL="0">
              <a:buNone/>
            </a:pPr>
            <a:r>
              <a:rPr lang="en-US" sz="1400" b="1" dirty="0">
                <a:solidFill>
                  <a:srgbClr val="0B1E3F"/>
                </a:solidFill>
              </a:rPr>
              <a:t>① Precoders + common rate</a:t>
            </a:r>
            <a:endParaRPr lang="en-US" sz="1400" dirty="0"/>
          </a:p>
          <a:p>
            <a:pPr algn="l" indent="0" marL="0">
              <a:buNone/>
            </a:pPr>
            <a:r>
              <a:rPr lang="en-US" sz="1400" dirty="0">
                <a:solidFill>
                  <a:srgbClr val="1B2638"/>
                </a:solidFill>
              </a:rPr>
              <a:t>given </a:t>
            </a:r>
            <a:pPr algn="l" indent="0" marL="0">
              <a:buNone/>
            </a:pPr>
            <a:r>
              <a:rPr lang="en-US" sz="1400" b="1" dirty="0">
                <a:solidFill>
                  <a:srgbClr val="1B2638"/>
                </a:solidFill>
                <a:latin typeface="+mj-lt" pitchFamily="34" charset="0"/>
                <a:ea typeface="+mj-lt" pitchFamily="34" charset="-122"/>
                <a:cs typeface="+mj-lt" pitchFamily="34" charset="-120"/>
              </a:rPr>
              <a:t>p</a:t>
            </a:r>
            <a:pPr algn="l" indent="0" marL="0">
              <a:buNone/>
            </a:pPr>
            <a:r>
              <a:rPr lang="en-US" sz="1400" dirty="0">
                <a:solidFill>
                  <a:srgbClr val="1B2638"/>
                </a:solidFill>
              </a:rPr>
              <a:t>: convex SCA / WMMSE step for </a:t>
            </a:r>
            <a:pPr algn="l" indent="0" marL="0">
              <a:buNone/>
            </a:pPr>
            <a:r>
              <a:rPr lang="en-US" sz="1400" b="1" dirty="0">
                <a:solidFill>
                  <a:srgbClr val="1B2638"/>
                </a:solidFill>
                <a:latin typeface="+mj-lt" pitchFamily="34" charset="0"/>
                <a:ea typeface="+mj-lt" pitchFamily="34" charset="-122"/>
                <a:cs typeface="+mj-lt" pitchFamily="34" charset="-120"/>
              </a:rPr>
              <a:t>W</a:t>
            </a:r>
            <a:pPr algn="l" indent="0" marL="0">
              <a:buNone/>
            </a:pPr>
            <a:r>
              <a:rPr lang="en-US" sz="1400" dirty="0">
                <a:solidFill>
                  <a:srgbClr val="1B2638"/>
                </a:solidFill>
                <a:latin typeface="+mj-lt" pitchFamily="34" charset="0"/>
                <a:ea typeface="+mj-lt" pitchFamily="34" charset="-122"/>
                <a:cs typeface="+mj-lt" pitchFamily="34" charset="-120"/>
              </a:rPr>
              <a:t>,</a:t>
            </a:r>
            <a:pPr algn="l" indent="0" marL="0">
              <a:buNone/>
            </a:pPr>
            <a:r>
              <a:rPr lang="en-US" sz="1400" dirty="0">
                <a:solidFill>
                  <a:srgbClr val="1B2638"/>
                </a:solidFill>
                <a:latin typeface="+mj-lt" pitchFamily="34" charset="0"/>
                <a:ea typeface="+mj-lt" pitchFamily="34" charset="-122"/>
                <a:cs typeface="+mj-lt" pitchFamily="34" charset="-120"/>
              </a:rPr>
              <a:t> </a:t>
            </a:r>
            <a:pPr algn="l" indent="0" marL="0">
              <a:buNone/>
            </a:pPr>
            <a:r>
              <a:rPr lang="en-US" sz="1400" b="1" dirty="0">
                <a:solidFill>
                  <a:srgbClr val="1B2638"/>
                </a:solidFill>
                <a:latin typeface="+mj-lt" pitchFamily="34" charset="0"/>
                <a:ea typeface="+mj-lt" pitchFamily="34" charset="-122"/>
                <a:cs typeface="+mj-lt" pitchFamily="34" charset="-120"/>
              </a:rPr>
              <a:t>c</a:t>
            </a:r>
            <a:endParaRPr lang="en-US" sz="1400" dirty="0"/>
          </a:p>
        </p:txBody>
      </p:sp>
      <p:sp>
        <p:nvSpPr>
          <p:cNvPr id="19" name="flow-arrow-131"/>
          <p:cNvSpPr/>
          <p:nvPr/>
        </p:nvSpPr>
        <p:spPr>
          <a:xfrm>
            <a:off x="8883396" y="3438144"/>
            <a:ext cx="0" cy="146304"/>
          </a:xfrm>
          <a:prstGeom prst="line">
            <a:avLst/>
          </a:prstGeom>
          <a:noFill/>
          <a:ln w="15875">
            <a:solidFill>
              <a:srgbClr val="5B6880"/>
            </a:solidFill>
            <a:prstDash val="solid"/>
            <a:tailEnd type="triangle"/>
          </a:ln>
        </p:spPr>
      </p:sp>
      <p:sp>
        <p:nvSpPr>
          <p:cNvPr id="20" name="flow-step-132"/>
          <p:cNvSpPr/>
          <p:nvPr/>
        </p:nvSpPr>
        <p:spPr>
          <a:xfrm>
            <a:off x="6629400" y="3584448"/>
            <a:ext cx="4507992" cy="676656"/>
          </a:xfrm>
          <a:prstGeom prst="roundRect">
            <a:avLst>
              <a:gd name="adj" fmla="val 10811"/>
            </a:avLst>
          </a:prstGeom>
          <a:solidFill>
            <a:srgbClr val="FFFFFF"/>
          </a:solidFill>
          <a:ln w="15875">
            <a:solidFill>
              <a:srgbClr val="0F9F8F"/>
            </a:solidFill>
          </a:ln>
        </p:spPr>
        <p:txBody>
          <a:bodyPr wrap="square" lIns="50800" tIns="152400" rIns="127000" bIns="50800" rtlCol="0" anchor="ctr"/>
          <a:lstStyle/>
          <a:p>
            <a:pPr algn="l" indent="0" marL="0">
              <a:buNone/>
            </a:pPr>
            <a:r>
              <a:rPr lang="en-US" sz="1400" b="1" dirty="0">
                <a:solidFill>
                  <a:srgbClr val="0B1E3F"/>
                </a:solidFill>
              </a:rPr>
              <a:t>② Receive polarforming</a:t>
            </a:r>
            <a:endParaRPr lang="en-US" sz="1400" dirty="0"/>
          </a:p>
          <a:p>
            <a:pPr algn="l" indent="0" marL="0">
              <a:buNone/>
            </a:pPr>
            <a:r>
              <a:rPr lang="en-US" sz="1400" b="1" dirty="0">
                <a:solidFill>
                  <a:srgbClr val="1B2638"/>
                </a:solidFill>
                <a:latin typeface="+mj-lt" pitchFamily="34" charset="0"/>
                <a:ea typeface="+mj-lt" pitchFamily="34" charset="-122"/>
                <a:cs typeface="+mj-lt" pitchFamily="34" charset="-120"/>
              </a:rPr>
              <a:t>p</a:t>
            </a:r>
            <a:pPr algn="l" indent="0" marL="0">
              <a:buNone/>
            </a:pPr>
            <a:r>
              <a:rPr lang="en-US" sz="1400" i="1" baseline="-40000" dirty="0">
                <a:solidFill>
                  <a:srgbClr val="1B2638"/>
                </a:solidFill>
                <a:latin typeface="+mj-lt" pitchFamily="34" charset="0"/>
                <a:ea typeface="+mj-lt" pitchFamily="34" charset="-122"/>
                <a:cs typeface="+mj-lt" pitchFamily="34" charset="-120"/>
              </a:rPr>
              <a:t>k</a:t>
            </a:r>
            <a:pPr algn="l" indent="0" marL="0">
              <a:buNone/>
            </a:pPr>
            <a:r>
              <a:rPr lang="en-US" sz="1400" dirty="0">
                <a:solidFill>
                  <a:srgbClr val="1B2638"/>
                </a:solidFill>
              </a:rPr>
              <a:t> ← dominant eigenvector (closed form)</a:t>
            </a:r>
            <a:endParaRPr lang="en-US" sz="1400" dirty="0"/>
          </a:p>
        </p:txBody>
      </p:sp>
      <p:sp>
        <p:nvSpPr>
          <p:cNvPr id="21" name="flow-arrow-133"/>
          <p:cNvSpPr/>
          <p:nvPr/>
        </p:nvSpPr>
        <p:spPr>
          <a:xfrm>
            <a:off x="8883396" y="4261104"/>
            <a:ext cx="0" cy="146304"/>
          </a:xfrm>
          <a:prstGeom prst="line">
            <a:avLst/>
          </a:prstGeom>
          <a:noFill/>
          <a:ln w="15875">
            <a:solidFill>
              <a:srgbClr val="5B6880"/>
            </a:solidFill>
            <a:prstDash val="solid"/>
            <a:tailEnd type="triangle"/>
          </a:ln>
        </p:spPr>
      </p:sp>
      <p:sp>
        <p:nvSpPr>
          <p:cNvPr id="22" name="flow-step-134"/>
          <p:cNvSpPr/>
          <p:nvPr/>
        </p:nvSpPr>
        <p:spPr>
          <a:xfrm>
            <a:off x="6629400" y="4407408"/>
            <a:ext cx="4507992" cy="676656"/>
          </a:xfrm>
          <a:prstGeom prst="roundRect">
            <a:avLst>
              <a:gd name="adj" fmla="val 10811"/>
            </a:avLst>
          </a:prstGeom>
          <a:solidFill>
            <a:srgbClr val="FFFFFF"/>
          </a:solidFill>
          <a:ln w="15875">
            <a:solidFill>
              <a:srgbClr val="0F9F8F"/>
            </a:solidFill>
          </a:ln>
        </p:spPr>
        <p:txBody>
          <a:bodyPr wrap="square" lIns="50800" tIns="152400" rIns="127000" bIns="50800" rtlCol="0" anchor="ctr"/>
          <a:lstStyle/>
          <a:p>
            <a:pPr algn="l" indent="0" marL="0">
              <a:buNone/>
            </a:pPr>
            <a:r>
              <a:rPr lang="en-US" sz="1400" b="1" dirty="0">
                <a:solidFill>
                  <a:srgbClr val="0B1E3F"/>
                </a:solidFill>
              </a:rPr>
              <a:t>③ Transmit polarforming</a:t>
            </a:r>
            <a:endParaRPr lang="en-US" sz="1400" dirty="0"/>
          </a:p>
          <a:p>
            <a:pPr algn="l" indent="0" marL="0">
              <a:buNone/>
            </a:pPr>
            <a:r>
              <a:rPr lang="en-US" sz="1400" b="1" dirty="0">
                <a:solidFill>
                  <a:srgbClr val="1B2638"/>
                </a:solidFill>
                <a:latin typeface="+mj-lt" pitchFamily="34" charset="0"/>
                <a:ea typeface="+mj-lt" pitchFamily="34" charset="-122"/>
                <a:cs typeface="+mj-lt" pitchFamily="34" charset="-120"/>
              </a:rPr>
              <a:t>p</a:t>
            </a:r>
            <a:pPr algn="l" indent="0" marL="0">
              <a:buNone/>
            </a:pPr>
            <a:r>
              <a:rPr lang="en-US" sz="1400" i="1" baseline="-40000" dirty="0">
                <a:solidFill>
                  <a:srgbClr val="1B2638"/>
                </a:solidFill>
                <a:latin typeface="+mj-lt" pitchFamily="34" charset="0"/>
                <a:ea typeface="+mj-lt" pitchFamily="34" charset="-122"/>
                <a:cs typeface="+mj-lt" pitchFamily="34" charset="-120"/>
              </a:rPr>
              <a:t>n</a:t>
            </a:r>
            <a:pPr algn="l" indent="0" marL="0">
              <a:buNone/>
            </a:pPr>
            <a:r>
              <a:rPr lang="en-US" sz="1400" dirty="0">
                <a:solidFill>
                  <a:srgbClr val="1B2638"/>
                </a:solidFill>
              </a:rPr>
              <a:t> ← SCA / manifold step over </a:t>
            </a:r>
            <a:pPr algn="l" indent="0" marL="0">
              <a:buNone/>
            </a:pPr>
            <a:r>
              <a:rPr lang="en-US" sz="1400" dirty="0">
                <a:solidFill>
                  <a:srgbClr val="1B2638"/>
                </a:solidFill>
                <a:latin typeface="+mj-lt" pitchFamily="34" charset="0"/>
                <a:ea typeface="+mj-lt" pitchFamily="34" charset="-122"/>
                <a:cs typeface="+mj-lt" pitchFamily="34" charset="-120"/>
              </a:rPr>
              <a:t>(</a:t>
            </a:r>
            <a:pPr algn="l" indent="0" marL="0">
              <a:buNone/>
            </a:pPr>
            <a:r>
              <a:rPr lang="en-US" sz="1400" i="1" dirty="0">
                <a:solidFill>
                  <a:srgbClr val="1B2638"/>
                </a:solidFill>
                <a:latin typeface="+mj-lt" pitchFamily="34" charset="0"/>
                <a:ea typeface="+mj-lt" pitchFamily="34" charset="-122"/>
                <a:cs typeface="+mj-lt" pitchFamily="34" charset="-120"/>
              </a:rPr>
              <a:t>α</a:t>
            </a:r>
            <a:pPr algn="l" indent="0" marL="0">
              <a:buNone/>
            </a:pPr>
            <a:r>
              <a:rPr lang="en-US" sz="1400" i="1" baseline="-40000" dirty="0">
                <a:solidFill>
                  <a:srgbClr val="1B2638"/>
                </a:solidFill>
                <a:latin typeface="+mj-lt" pitchFamily="34" charset="0"/>
                <a:ea typeface="+mj-lt" pitchFamily="34" charset="-122"/>
                <a:cs typeface="+mj-lt" pitchFamily="34" charset="-120"/>
              </a:rPr>
              <a:t>n</a:t>
            </a:r>
            <a:pPr algn="l" indent="0" marL="0">
              <a:buNone/>
            </a:pPr>
            <a:r>
              <a:rPr lang="en-US" sz="1400" dirty="0">
                <a:solidFill>
                  <a:srgbClr val="1B2638"/>
                </a:solidFill>
                <a:latin typeface="+mj-lt" pitchFamily="34" charset="0"/>
                <a:ea typeface="+mj-lt" pitchFamily="34" charset="-122"/>
                <a:cs typeface="+mj-lt" pitchFamily="34" charset="-120"/>
              </a:rPr>
              <a:t>,</a:t>
            </a:r>
            <a:pPr algn="l" indent="0" marL="0">
              <a:buNone/>
            </a:pPr>
            <a:r>
              <a:rPr lang="en-US" sz="1400" dirty="0">
                <a:solidFill>
                  <a:srgbClr val="1B2638"/>
                </a:solidFill>
                <a:latin typeface="+mj-lt" pitchFamily="34" charset="0"/>
                <a:ea typeface="+mj-lt" pitchFamily="34" charset="-122"/>
                <a:cs typeface="+mj-lt" pitchFamily="34" charset="-120"/>
              </a:rPr>
              <a:t> </a:t>
            </a:r>
            <a:pPr algn="l" indent="0" marL="0">
              <a:buNone/>
            </a:pPr>
            <a:r>
              <a:rPr lang="en-US" sz="1400" i="1" dirty="0">
                <a:solidFill>
                  <a:srgbClr val="1B2638"/>
                </a:solidFill>
                <a:latin typeface="+mj-lt" pitchFamily="34" charset="0"/>
                <a:ea typeface="+mj-lt" pitchFamily="34" charset="-122"/>
                <a:cs typeface="+mj-lt" pitchFamily="34" charset="-120"/>
              </a:rPr>
              <a:t>δ</a:t>
            </a:r>
            <a:pPr algn="l" indent="0" marL="0">
              <a:buNone/>
            </a:pPr>
            <a:r>
              <a:rPr lang="en-US" sz="1400" i="1" baseline="-40000" dirty="0">
                <a:solidFill>
                  <a:srgbClr val="1B2638"/>
                </a:solidFill>
                <a:latin typeface="+mj-lt" pitchFamily="34" charset="0"/>
                <a:ea typeface="+mj-lt" pitchFamily="34" charset="-122"/>
                <a:cs typeface="+mj-lt" pitchFamily="34" charset="-120"/>
              </a:rPr>
              <a:t>n</a:t>
            </a:r>
            <a:pPr algn="l" indent="0" marL="0">
              <a:buNone/>
            </a:pPr>
            <a:r>
              <a:rPr lang="en-US" sz="1400" dirty="0">
                <a:solidFill>
                  <a:srgbClr val="1B2638"/>
                </a:solidFill>
                <a:latin typeface="+mj-lt" pitchFamily="34" charset="0"/>
                <a:ea typeface="+mj-lt" pitchFamily="34" charset="-122"/>
                <a:cs typeface="+mj-lt" pitchFamily="34" charset="-120"/>
              </a:rPr>
              <a:t>)</a:t>
            </a:r>
            <a:endParaRPr lang="en-US" sz="1400" dirty="0"/>
          </a:p>
        </p:txBody>
      </p:sp>
      <p:sp>
        <p:nvSpPr>
          <p:cNvPr id="23" name="flow-arrow-135"/>
          <p:cNvSpPr/>
          <p:nvPr/>
        </p:nvSpPr>
        <p:spPr>
          <a:xfrm>
            <a:off x="8883396" y="5084064"/>
            <a:ext cx="0" cy="146304"/>
          </a:xfrm>
          <a:prstGeom prst="line">
            <a:avLst/>
          </a:prstGeom>
          <a:noFill/>
          <a:ln w="15875">
            <a:solidFill>
              <a:srgbClr val="5B6880"/>
            </a:solidFill>
            <a:prstDash val="solid"/>
            <a:tailEnd type="triangle"/>
          </a:ln>
        </p:spPr>
      </p:sp>
      <p:sp>
        <p:nvSpPr>
          <p:cNvPr id="24" name="flow-step-136"/>
          <p:cNvSpPr/>
          <p:nvPr/>
        </p:nvSpPr>
        <p:spPr>
          <a:xfrm>
            <a:off x="6629400" y="5230368"/>
            <a:ext cx="4507992" cy="420624"/>
          </a:xfrm>
          <a:prstGeom prst="roundRect">
            <a:avLst>
              <a:gd name="adj" fmla="val 17391"/>
            </a:avLst>
          </a:prstGeom>
          <a:solidFill>
            <a:srgbClr val="E2F5F2"/>
          </a:solidFill>
          <a:ln w="15875">
            <a:solidFill>
              <a:srgbClr val="E2F5F2"/>
            </a:solidFill>
          </a:ln>
        </p:spPr>
        <p:txBody>
          <a:bodyPr wrap="square" lIns="50800" tIns="152400" rIns="127000" bIns="50800" rtlCol="0" anchor="ctr"/>
          <a:lstStyle/>
          <a:p>
            <a:pPr algn="l" indent="0" marL="0">
              <a:buNone/>
            </a:pPr>
            <a:r>
              <a:rPr lang="en-US" sz="1400" b="1" dirty="0">
                <a:solidFill>
                  <a:srgbClr val="0B7F72"/>
                </a:solidFill>
              </a:rPr>
              <a:t>Converged?</a:t>
            </a:r>
            <a:pPr algn="l" indent="0" marL="0">
              <a:buNone/>
            </a:pPr>
            <a:r>
              <a:rPr lang="en-US" sz="1400" dirty="0">
                <a:solidFill>
                  <a:srgbClr val="0B7F72"/>
                </a:solidFill>
              </a:rPr>
              <a:t>  objective gain &lt; ε</a:t>
            </a:r>
            <a:endParaRPr lang="en-US" sz="1400" dirty="0"/>
          </a:p>
        </p:txBody>
      </p:sp>
      <p:sp>
        <p:nvSpPr>
          <p:cNvPr id="25" name="flow-loop-137"/>
          <p:cNvSpPr/>
          <p:nvPr/>
        </p:nvSpPr>
        <p:spPr>
          <a:xfrm>
            <a:off x="11137392" y="5440680"/>
            <a:ext cx="292608" cy="0"/>
          </a:xfrm>
          <a:prstGeom prst="line">
            <a:avLst/>
          </a:prstGeom>
          <a:noFill/>
          <a:ln w="15875">
            <a:solidFill>
              <a:srgbClr val="0B7F72"/>
            </a:solidFill>
            <a:prstDash val="solid"/>
          </a:ln>
        </p:spPr>
      </p:sp>
      <p:sp>
        <p:nvSpPr>
          <p:cNvPr id="26" name="flow-loop-138"/>
          <p:cNvSpPr/>
          <p:nvPr/>
        </p:nvSpPr>
        <p:spPr>
          <a:xfrm>
            <a:off x="11430000" y="3099816"/>
            <a:ext cx="0" cy="2340864"/>
          </a:xfrm>
          <a:prstGeom prst="line">
            <a:avLst/>
          </a:prstGeom>
          <a:noFill/>
          <a:ln w="15875">
            <a:solidFill>
              <a:srgbClr val="0B7F72"/>
            </a:solidFill>
            <a:prstDash val="solid"/>
          </a:ln>
        </p:spPr>
      </p:sp>
      <p:sp>
        <p:nvSpPr>
          <p:cNvPr id="27" name="flow-loop-139"/>
          <p:cNvSpPr/>
          <p:nvPr/>
        </p:nvSpPr>
        <p:spPr>
          <a:xfrm flipH="1">
            <a:off x="11137392" y="3099816"/>
            <a:ext cx="292608" cy="0"/>
          </a:xfrm>
          <a:prstGeom prst="line">
            <a:avLst/>
          </a:prstGeom>
          <a:noFill/>
          <a:ln w="15875">
            <a:solidFill>
              <a:srgbClr val="0B7F72"/>
            </a:solidFill>
            <a:prstDash val="solid"/>
            <a:tailEnd type="triangle"/>
          </a:ln>
        </p:spPr>
      </p:sp>
      <p:sp>
        <p:nvSpPr>
          <p:cNvPr id="28" name="flow-no-140"/>
          <p:cNvSpPr/>
          <p:nvPr/>
        </p:nvSpPr>
        <p:spPr>
          <a:xfrm>
            <a:off x="11100816" y="5166360"/>
            <a:ext cx="292608" cy="219456"/>
          </a:xfrm>
          <a:prstGeom prst="rect">
            <a:avLst/>
          </a:prstGeom>
          <a:noFill/>
          <a:ln/>
        </p:spPr>
        <p:txBody>
          <a:bodyPr wrap="square" lIns="0" tIns="0" rIns="0" bIns="0" rtlCol="0" anchor="ctr"/>
          <a:lstStyle/>
          <a:p>
            <a:pPr algn="r" indent="0" marL="0">
              <a:buNone/>
            </a:pPr>
            <a:r>
              <a:rPr lang="en-US" sz="1100" i="1" dirty="0">
                <a:solidFill>
                  <a:srgbClr val="0B7F72"/>
                </a:solidFill>
              </a:rPr>
              <a:t>no</a:t>
            </a:r>
            <a:endParaRPr lang="en-US" sz="1100" dirty="0"/>
          </a:p>
        </p:txBody>
      </p:sp>
      <p:sp>
        <p:nvSpPr>
          <p:cNvPr id="29" name="flow-note-141"/>
          <p:cNvSpPr/>
          <p:nvPr/>
        </p:nvSpPr>
        <p:spPr>
          <a:xfrm>
            <a:off x="6629400" y="5760720"/>
            <a:ext cx="5010912" cy="384048"/>
          </a:xfrm>
          <a:prstGeom prst="rect">
            <a:avLst/>
          </a:prstGeom>
          <a:noFill/>
          <a:ln/>
        </p:spPr>
        <p:txBody>
          <a:bodyPr wrap="square" lIns="0" tIns="0" rIns="0" bIns="0" rtlCol="0" anchor="t"/>
          <a:lstStyle/>
          <a:p>
            <a:pPr indent="0" marL="0">
              <a:buNone/>
            </a:pPr>
            <a:r>
              <a:rPr lang="en-US" sz="1300" i="1" dirty="0">
                <a:solidFill>
                  <a:srgbClr val="5B6880"/>
                </a:solidFill>
              </a:rPr>
              <a:t>Each block never decreases the objective, so AO converges monotonically.</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Simulation Results</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Polarforming lifts every curve, RSMA keeps scaling at high power, and fixed linear polarization collapses under Faraday rotation.</a:t>
            </a:r>
            <a:endParaRPr lang="en-US" sz="1600" dirty="0"/>
          </a:p>
        </p:txBody>
      </p:sp>
      <p:sp>
        <p:nvSpPr>
          <p:cNvPr id="5" name="chart-card-142"/>
          <p:cNvSpPr/>
          <p:nvPr/>
        </p:nvSpPr>
        <p:spPr>
          <a:xfrm>
            <a:off x="548640" y="1755648"/>
            <a:ext cx="5431536" cy="3291840"/>
          </a:xfrm>
          <a:prstGeom prst="roundRect">
            <a:avLst>
              <a:gd name="adj" fmla="val 2778"/>
            </a:avLst>
          </a:prstGeom>
          <a:solidFill>
            <a:srgbClr val="FFFFFF"/>
          </a:solidFill>
          <a:ln w="9525">
            <a:solidFill>
              <a:srgbClr val="E1E7EF"/>
            </a:solidFill>
            <a:prstDash val="solid"/>
          </a:ln>
        </p:spPr>
      </p:sp>
      <p:sp>
        <p:nvSpPr>
          <p:cNvPr id="6" name="chart-title-143"/>
          <p:cNvSpPr/>
          <p:nvPr/>
        </p:nvSpPr>
        <p:spPr>
          <a:xfrm>
            <a:off x="749808" y="1865376"/>
            <a:ext cx="5029200" cy="310896"/>
          </a:xfrm>
          <a:prstGeom prst="rect">
            <a:avLst/>
          </a:prstGeom>
          <a:noFill/>
          <a:ln/>
        </p:spPr>
        <p:txBody>
          <a:bodyPr wrap="square" lIns="0" tIns="0" rIns="0" bIns="0" rtlCol="0" anchor="ctr"/>
          <a:lstStyle/>
          <a:p>
            <a:pPr indent="0" marL="0">
              <a:buNone/>
            </a:pPr>
            <a:r>
              <a:rPr lang="en-US" sz="1500" b="1" dirty="0">
                <a:solidFill>
                  <a:srgbClr val="0B1E3F"/>
                </a:solidFill>
              </a:rPr>
              <a:t>Max-min rate vs. transmit power</a:t>
            </a:r>
            <a:endParaRPr lang="en-US" sz="1500" dirty="0"/>
          </a:p>
        </p:txBody>
      </p:sp>
      <p:graphicFrame>
        <p:nvGraphicFramePr>
          <p:cNvPr id="7" name="chart-144" descr=""/>
          <p:cNvGraphicFramePr/>
          <p:nvPr/>
        </p:nvGraphicFramePr>
        <p:xfrm>
          <a:off x="640080" y="2212848"/>
          <a:ext cx="5248656" cy="2743200"/>
        </p:xfrm>
        <a:graphic xmlns:a="http://schemas.openxmlformats.org/drawingml/2006/main">
          <a:graphicData uri="http://schemas.openxmlformats.org/drawingml/2006/chart">
            <c:chart xmlns:c="http://schemas.openxmlformats.org/drawingml/2006/chart" r:id="rId1"/>
          </a:graphicData>
        </a:graphic>
      </p:graphicFrame>
      <p:sp>
        <p:nvSpPr>
          <p:cNvPr id="8" name="chart-card-145"/>
          <p:cNvSpPr/>
          <p:nvPr/>
        </p:nvSpPr>
        <p:spPr>
          <a:xfrm>
            <a:off x="6208776" y="1755648"/>
            <a:ext cx="5431536" cy="3291840"/>
          </a:xfrm>
          <a:prstGeom prst="roundRect">
            <a:avLst>
              <a:gd name="adj" fmla="val 2778"/>
            </a:avLst>
          </a:prstGeom>
          <a:solidFill>
            <a:srgbClr val="FFFFFF"/>
          </a:solidFill>
          <a:ln w="9525">
            <a:solidFill>
              <a:srgbClr val="E1E7EF"/>
            </a:solidFill>
            <a:prstDash val="solid"/>
          </a:ln>
        </p:spPr>
      </p:sp>
      <p:sp>
        <p:nvSpPr>
          <p:cNvPr id="9" name="chart-title-146"/>
          <p:cNvSpPr/>
          <p:nvPr/>
        </p:nvSpPr>
        <p:spPr>
          <a:xfrm>
            <a:off x="6409944" y="1865376"/>
            <a:ext cx="5029200" cy="310896"/>
          </a:xfrm>
          <a:prstGeom prst="rect">
            <a:avLst/>
          </a:prstGeom>
          <a:noFill/>
          <a:ln/>
        </p:spPr>
        <p:txBody>
          <a:bodyPr wrap="square" lIns="0" tIns="0" rIns="0" bIns="0" rtlCol="0" anchor="ctr"/>
          <a:lstStyle/>
          <a:p>
            <a:pPr indent="0" marL="0">
              <a:buNone/>
            </a:pPr>
            <a:r>
              <a:rPr lang="en-US" sz="1500" b="1" dirty="0">
                <a:solidFill>
                  <a:srgbClr val="0B1E3F"/>
                </a:solidFill>
              </a:rPr>
              <a:t>Robustness to Faraday rotation (20 dBW)</a:t>
            </a:r>
            <a:endParaRPr lang="en-US" sz="1500" dirty="0"/>
          </a:p>
        </p:txBody>
      </p:sp>
      <p:graphicFrame>
        <p:nvGraphicFramePr>
          <p:cNvPr id="10" name="chart-147" descr=""/>
          <p:cNvGraphicFramePr/>
          <p:nvPr/>
        </p:nvGraphicFramePr>
        <p:xfrm>
          <a:off x="6300216" y="2212848"/>
          <a:ext cx="5248656" cy="2743200"/>
        </p:xfrm>
        <a:graphic xmlns:a="http://schemas.openxmlformats.org/drawingml/2006/main">
          <a:graphicData uri="http://schemas.openxmlformats.org/drawingml/2006/chart">
            <c:chart xmlns:c="http://schemas.openxmlformats.org/drawingml/2006/chart" r:id="rId2"/>
          </a:graphicData>
        </a:graphic>
      </p:graphicFrame>
      <p:sp>
        <p:nvSpPr>
          <p:cNvPr id="11" name="caption-148"/>
          <p:cNvSpPr/>
          <p:nvPr/>
        </p:nvSpPr>
        <p:spPr>
          <a:xfrm>
            <a:off x="548640" y="5120640"/>
            <a:ext cx="7223760" cy="256032"/>
          </a:xfrm>
          <a:prstGeom prst="rect">
            <a:avLst/>
          </a:prstGeom>
          <a:noFill/>
          <a:ln/>
        </p:spPr>
        <p:txBody>
          <a:bodyPr wrap="square" lIns="0" tIns="0" rIns="0" bIns="0" rtlCol="0" anchor="ctr"/>
          <a:lstStyle/>
          <a:p>
            <a:pPr algn="l" indent="0" marL="0">
              <a:buNone/>
            </a:pPr>
            <a:r>
              <a:rPr lang="en-US" sz="1100" i="1" dirty="0">
                <a:solidFill>
                  <a:srgbClr val="5B6880"/>
                </a:solidFill>
              </a:rPr>
              <a:t>Setup: </a:t>
            </a:r>
            <a:pPr algn="l" indent="0" marL="0">
              <a:buNone/>
            </a:pPr>
            <a:r>
              <a:rPr lang="en-US" sz="1100" i="1" dirty="0">
                <a:solidFill>
                  <a:srgbClr val="5B6880"/>
                </a:solidFill>
                <a:latin typeface="+mj-lt" pitchFamily="34" charset="0"/>
                <a:ea typeface="+mj-lt" pitchFamily="34" charset="-122"/>
                <a:cs typeface="+mj-lt" pitchFamily="34" charset="-120"/>
              </a:rPr>
              <a:t>N</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1</a:t>
            </a:r>
            <a:pPr algn="l" indent="0" marL="0">
              <a:buNone/>
            </a:pPr>
            <a:r>
              <a:rPr lang="en-US" sz="1100" dirty="0">
                <a:solidFill>
                  <a:srgbClr val="5B6880"/>
                </a:solidFill>
                <a:latin typeface="+mj-lt" pitchFamily="34" charset="0"/>
                <a:ea typeface="+mj-lt" pitchFamily="34" charset="-122"/>
                <a:cs typeface="+mj-lt" pitchFamily="34" charset="-120"/>
              </a:rPr>
              <a:t>6</a:t>
            </a:r>
            <a:pPr algn="l" indent="0" marL="0">
              <a:buNone/>
            </a:pPr>
            <a:r>
              <a:rPr lang="en-US" sz="1100" i="1" dirty="0">
                <a:solidFill>
                  <a:srgbClr val="5B6880"/>
                </a:solidFill>
              </a:rPr>
              <a:t>, </a:t>
            </a:r>
            <a:pPr algn="l" indent="0" marL="0">
              <a:buNone/>
            </a:pPr>
            <a:r>
              <a:rPr lang="en-US" sz="1100" i="1" dirty="0">
                <a:solidFill>
                  <a:srgbClr val="5B6880"/>
                </a:solidFill>
                <a:latin typeface="+mj-lt" pitchFamily="34" charset="0"/>
                <a:ea typeface="+mj-lt" pitchFamily="34" charset="-122"/>
                <a:cs typeface="+mj-lt" pitchFamily="34" charset="-120"/>
              </a:rPr>
              <a:t>K</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4</a:t>
            </a:r>
            <a:pPr algn="l" indent="0" marL="0">
              <a:buNone/>
            </a:pPr>
            <a:r>
              <a:rPr lang="en-US" sz="1100" i="1" dirty="0">
                <a:solidFill>
                  <a:srgbClr val="5B6880"/>
                </a:solidFill>
              </a:rPr>
              <a:t> clustered users, Rician </a:t>
            </a:r>
            <a:pPr algn="l" indent="0" marL="0">
              <a:buNone/>
            </a:pPr>
            <a:r>
              <a:rPr lang="en-US" sz="1100" i="1" dirty="0">
                <a:solidFill>
                  <a:srgbClr val="5B6880"/>
                </a:solidFill>
                <a:latin typeface="+mj-lt" pitchFamily="34" charset="0"/>
                <a:ea typeface="+mj-lt" pitchFamily="34" charset="-122"/>
                <a:cs typeface="+mj-lt" pitchFamily="34" charset="-120"/>
              </a:rPr>
              <a:t>κ</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1</a:t>
            </a:r>
            <a:pPr algn="l" indent="0" marL="0">
              <a:buNone/>
            </a:pPr>
            <a:r>
              <a:rPr lang="en-US" sz="1100" dirty="0">
                <a:solidFill>
                  <a:srgbClr val="5B6880"/>
                </a:solidFill>
                <a:latin typeface="+mj-lt" pitchFamily="34" charset="0"/>
                <a:ea typeface="+mj-lt" pitchFamily="34" charset="-122"/>
                <a:cs typeface="+mj-lt" pitchFamily="34" charset="-120"/>
              </a:rPr>
              <a:t>0</a:t>
            </a:r>
            <a:pPr algn="l" indent="0" marL="0">
              <a:buNone/>
            </a:pPr>
            <a:r>
              <a:rPr lang="en-US" sz="1100" i="1" dirty="0">
                <a:solidFill>
                  <a:srgbClr val="5B6880"/>
                </a:solidFill>
              </a:rPr>
              <a:t> dB, XPD 12 dB, 3% CSIT error. PF/FP: polarforming / fixed polarization.</a:t>
            </a:r>
            <a:endParaRPr lang="en-US" sz="1100" dirty="0"/>
          </a:p>
        </p:txBody>
      </p:sp>
      <p:sp>
        <p:nvSpPr>
          <p:cNvPr id="12" name="illustrative-tag-149"/>
          <p:cNvSpPr/>
          <p:nvPr/>
        </p:nvSpPr>
        <p:spPr>
          <a:xfrm>
            <a:off x="8214055" y="5120640"/>
            <a:ext cx="3429000" cy="256032"/>
          </a:xfrm>
          <a:prstGeom prst="roundRect">
            <a:avLst>
              <a:gd name="adj" fmla="val 50000"/>
            </a:avLst>
          </a:prstGeom>
          <a:solidFill>
            <a:srgbClr val="FFF7E3"/>
          </a:solidFill>
          <a:ln w="9525">
            <a:solidFill>
              <a:srgbClr val="F2B53A"/>
            </a:solidFill>
          </a:ln>
        </p:spPr>
        <p:txBody>
          <a:bodyPr wrap="square" lIns="0" tIns="0" rIns="0" bIns="0" rtlCol="0" anchor="ctr"/>
          <a:lstStyle/>
          <a:p>
            <a:pPr algn="ctr" indent="0" marL="0">
              <a:buNone/>
            </a:pPr>
            <a:r>
              <a:rPr lang="en-US" sz="1000" b="1" dirty="0">
                <a:solidFill>
                  <a:srgbClr val="B9821A"/>
                </a:solidFill>
              </a:rPr>
              <a:t>ILLUSTRATIVE DATA · replace with your results</a:t>
            </a:r>
            <a:endParaRPr lang="en-US" sz="1000" dirty="0"/>
          </a:p>
        </p:txBody>
      </p:sp>
      <p:sp>
        <p:nvSpPr>
          <p:cNvPr id="13" name="stat-150"/>
          <p:cNvSpPr/>
          <p:nvPr/>
        </p:nvSpPr>
        <p:spPr>
          <a:xfrm>
            <a:off x="548640" y="5486400"/>
            <a:ext cx="3576218" cy="731520"/>
          </a:xfrm>
          <a:prstGeom prst="roundRect">
            <a:avLst>
              <a:gd name="adj" fmla="val 12500"/>
            </a:avLst>
          </a:prstGeom>
          <a:solidFill>
            <a:srgbClr val="E2F5F2"/>
          </a:solidFill>
          <a:ln w="9525">
            <a:solidFill>
              <a:srgbClr val="E2F5F2"/>
            </a:solidFill>
            <a:prstDash val="solid"/>
          </a:ln>
        </p:spPr>
      </p:sp>
      <p:sp>
        <p:nvSpPr>
          <p:cNvPr id="14" name="stat-value-151"/>
          <p:cNvSpPr/>
          <p:nvPr/>
        </p:nvSpPr>
        <p:spPr>
          <a:xfrm>
            <a:off x="731520" y="5486400"/>
            <a:ext cx="1325880" cy="731520"/>
          </a:xfrm>
          <a:prstGeom prst="rect">
            <a:avLst/>
          </a:prstGeom>
          <a:noFill/>
          <a:ln/>
        </p:spPr>
        <p:txBody>
          <a:bodyPr wrap="square" lIns="0" tIns="0" rIns="0" bIns="0" rtlCol="0" anchor="ctr"/>
          <a:lstStyle/>
          <a:p>
            <a:pPr indent="0" marL="0">
              <a:buNone/>
            </a:pPr>
            <a:r>
              <a:rPr lang="en-US" sz="2800" b="1" dirty="0">
                <a:solidFill>
                  <a:srgbClr val="0B7F72"/>
                </a:solidFill>
                <a:latin typeface="+mj-lt" pitchFamily="34" charset="0"/>
                <a:ea typeface="+mj-lt" pitchFamily="34" charset="-122"/>
                <a:cs typeface="+mj-lt" pitchFamily="34" charset="-120"/>
              </a:rPr>
              <a:t>+60%</a:t>
            </a:r>
            <a:endParaRPr lang="en-US" sz="2800" dirty="0"/>
          </a:p>
        </p:txBody>
      </p:sp>
      <p:sp>
        <p:nvSpPr>
          <p:cNvPr id="15" name="stat-label-152"/>
          <p:cNvSpPr/>
          <p:nvPr/>
        </p:nvSpPr>
        <p:spPr>
          <a:xfrm>
            <a:off x="2103120"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vs. fixed polarization at 20 dBW</a:t>
            </a:r>
            <a:endParaRPr lang="en-US" sz="1400" dirty="0"/>
          </a:p>
        </p:txBody>
      </p:sp>
      <p:sp>
        <p:nvSpPr>
          <p:cNvPr id="16" name="stat-153"/>
          <p:cNvSpPr/>
          <p:nvPr/>
        </p:nvSpPr>
        <p:spPr>
          <a:xfrm>
            <a:off x="4307738" y="5486400"/>
            <a:ext cx="3576218" cy="731520"/>
          </a:xfrm>
          <a:prstGeom prst="roundRect">
            <a:avLst>
              <a:gd name="adj" fmla="val 12500"/>
            </a:avLst>
          </a:prstGeom>
          <a:solidFill>
            <a:srgbClr val="E2F5F2"/>
          </a:solidFill>
          <a:ln w="9525">
            <a:solidFill>
              <a:srgbClr val="E2F5F2"/>
            </a:solidFill>
            <a:prstDash val="solid"/>
          </a:ln>
        </p:spPr>
      </p:sp>
      <p:sp>
        <p:nvSpPr>
          <p:cNvPr id="17" name="stat-value-154"/>
          <p:cNvSpPr/>
          <p:nvPr/>
        </p:nvSpPr>
        <p:spPr>
          <a:xfrm>
            <a:off x="4490618" y="5486400"/>
            <a:ext cx="1325880" cy="731520"/>
          </a:xfrm>
          <a:prstGeom prst="rect">
            <a:avLst/>
          </a:prstGeom>
          <a:noFill/>
          <a:ln/>
        </p:spPr>
        <p:txBody>
          <a:bodyPr wrap="square" lIns="0" tIns="0" rIns="0" bIns="0" rtlCol="0" anchor="ctr"/>
          <a:lstStyle/>
          <a:p>
            <a:pPr indent="0" marL="0">
              <a:buNone/>
            </a:pPr>
            <a:r>
              <a:rPr lang="en-US" sz="2800" b="1" dirty="0">
                <a:solidFill>
                  <a:srgbClr val="0B7F72"/>
                </a:solidFill>
                <a:latin typeface="+mj-lt" pitchFamily="34" charset="0"/>
                <a:ea typeface="+mj-lt" pitchFamily="34" charset="-122"/>
                <a:cs typeface="+mj-lt" pitchFamily="34" charset="-120"/>
              </a:rPr>
              <a:t>+57%</a:t>
            </a:r>
            <a:endParaRPr lang="en-US" sz="2800" dirty="0"/>
          </a:p>
        </p:txBody>
      </p:sp>
      <p:sp>
        <p:nvSpPr>
          <p:cNvPr id="18" name="stat-label-155"/>
          <p:cNvSpPr/>
          <p:nvPr/>
        </p:nvSpPr>
        <p:spPr>
          <a:xfrm>
            <a:off x="5862218"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RSMA vs. SDMA, both with polarforming</a:t>
            </a:r>
            <a:endParaRPr lang="en-US" sz="1400" dirty="0"/>
          </a:p>
        </p:txBody>
      </p:sp>
      <p:sp>
        <p:nvSpPr>
          <p:cNvPr id="19" name="stat-156"/>
          <p:cNvSpPr/>
          <p:nvPr/>
        </p:nvSpPr>
        <p:spPr>
          <a:xfrm>
            <a:off x="8066837" y="5486400"/>
            <a:ext cx="3576218" cy="731520"/>
          </a:xfrm>
          <a:prstGeom prst="roundRect">
            <a:avLst>
              <a:gd name="adj" fmla="val 12500"/>
            </a:avLst>
          </a:prstGeom>
          <a:solidFill>
            <a:srgbClr val="E2F5F2"/>
          </a:solidFill>
          <a:ln w="9525">
            <a:solidFill>
              <a:srgbClr val="E2F5F2"/>
            </a:solidFill>
            <a:prstDash val="solid"/>
          </a:ln>
        </p:spPr>
      </p:sp>
      <p:sp>
        <p:nvSpPr>
          <p:cNvPr id="20" name="stat-value-157"/>
          <p:cNvSpPr/>
          <p:nvPr/>
        </p:nvSpPr>
        <p:spPr>
          <a:xfrm>
            <a:off x="8249717" y="5486400"/>
            <a:ext cx="1325880" cy="731520"/>
          </a:xfrm>
          <a:prstGeom prst="rect">
            <a:avLst/>
          </a:prstGeom>
          <a:noFill/>
          <a:ln/>
        </p:spPr>
        <p:txBody>
          <a:bodyPr wrap="square" lIns="0" tIns="0" rIns="0" bIns="0" rtlCol="0" anchor="ctr"/>
          <a:lstStyle/>
          <a:p>
            <a:pPr indent="0" marL="0">
              <a:buNone/>
            </a:pPr>
            <a:r>
              <a:rPr lang="en-US" sz="2800" b="1" dirty="0">
                <a:solidFill>
                  <a:srgbClr val="0B7F72"/>
                </a:solidFill>
                <a:latin typeface="+mj-lt" pitchFamily="34" charset="0"/>
                <a:ea typeface="+mj-lt" pitchFamily="34" charset="-122"/>
                <a:cs typeface="+mj-lt" pitchFamily="34" charset="-120"/>
              </a:rPr>
              <a:t>8×</a:t>
            </a:r>
            <a:endParaRPr lang="en-US" sz="2800" dirty="0"/>
          </a:p>
        </p:txBody>
      </p:sp>
      <p:sp>
        <p:nvSpPr>
          <p:cNvPr id="21" name="stat-label-158"/>
          <p:cNvSpPr/>
          <p:nvPr/>
        </p:nvSpPr>
        <p:spPr>
          <a:xfrm>
            <a:off x="9621317"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vs. fixed linear at Ω = 90°</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685800" y="3090672"/>
            <a:ext cx="6949440" cy="1417320"/>
          </a:xfrm>
          <a:prstGeom prst="rect">
            <a:avLst/>
          </a:prstGeom>
          <a:noFill/>
          <a:ln/>
        </p:spPr>
        <p:txBody>
          <a:bodyPr wrap="square" lIns="0" tIns="0" rIns="0" bIns="0" rtlCol="0" anchor="t"/>
          <a:lstStyle/>
          <a:p>
            <a:pPr algn="l" indent="0" marL="0">
              <a:buNone/>
            </a:pPr>
            <a:r>
              <a:rPr lang="en-US" sz="3800" b="1" dirty="0">
                <a:solidFill>
                  <a:srgbClr val="FFFFFF"/>
                </a:solidFill>
                <a:latin typeface="+mj-lt" pitchFamily="34" charset="0"/>
                <a:ea typeface="+mj-lt" pitchFamily="34" charset="-122"/>
                <a:cs typeface="+mj-lt" pitchFamily="34" charset="-120"/>
              </a:rPr>
              <a:t>Atomic-to-Space: Quantum Receiver for SAGINs</a:t>
            </a:r>
            <a:endParaRPr lang="en-US" sz="3800" dirty="0"/>
          </a:p>
        </p:txBody>
      </p:sp>
      <p:sp>
        <p:nvSpPr>
          <p:cNvPr id="3" name="Text 2"/>
          <p:cNvSpPr/>
          <p:nvPr>
            <p:ph idx="103" type="body" hasCustomPrompt="1"/>
          </p:nvPr>
        </p:nvSpPr>
        <p:spPr>
          <a:xfrm>
            <a:off x="731520" y="4617720"/>
            <a:ext cx="6766560" cy="914400"/>
          </a:xfrm>
          <a:prstGeom prst="rect">
            <a:avLst/>
          </a:prstGeom>
          <a:noFill/>
          <a:ln/>
        </p:spPr>
        <p:txBody>
          <a:bodyPr wrap="square" lIns="0" tIns="0" rIns="0" bIns="0" rtlCol="0" anchor="t"/>
          <a:lstStyle/>
          <a:p>
            <a:pPr algn="l" indent="0" marL="0">
              <a:buNone/>
            </a:pPr>
            <a:r>
              <a:rPr lang="en-US" sz="1600" dirty="0">
                <a:solidFill>
                  <a:srgbClr val="BFD0E6"/>
                </a:solidFill>
              </a:rPr>
              <a:t>System model  ·  Proposed design  ·  Simulation results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System Model</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A LEO satellite precodes its downlink to a ground terminal whose antenna is an array of </a:t>
            </a:r>
            <a:pPr algn="l" indent="0" marL="0">
              <a:buNone/>
            </a:pPr>
            <a:r>
              <a:rPr lang="en-US" sz="1600" i="1" dirty="0">
                <a:solidFill>
                  <a:srgbClr val="5B6880"/>
                </a:solidFill>
                <a:latin typeface="+mj-lt" pitchFamily="34" charset="0"/>
                <a:ea typeface="+mj-lt" pitchFamily="34" charset="-122"/>
                <a:cs typeface="+mj-lt" pitchFamily="34" charset="-120"/>
              </a:rPr>
              <a:t>M</a:t>
            </a:r>
            <a:pPr algn="l" indent="0" marL="0">
              <a:buNone/>
            </a:pPr>
            <a:r>
              <a:rPr lang="en-US" sz="1600" dirty="0">
                <a:solidFill>
                  <a:srgbClr val="5B6880"/>
                </a:solidFill>
              </a:rPr>
              <a:t> Rydberg vapor cells with a local oscillator.</a:t>
            </a:r>
            <a:endParaRPr lang="en-US" sz="1600" dirty="0"/>
          </a:p>
        </p:txBody>
      </p:sp>
      <p:pic>
        <p:nvPicPr>
          <p:cNvPr id="5" name="figure-159" descr="System model: LEO satellite with a precoder sending to a ground terminal with four vapor cells, an LO horn, photodetectors, IQ demodulation and a biased phase-retrieval detector.">    </p:cNvPr>
          <p:cNvPicPr>
            <a:picLocks noChangeAspect="1"/>
          </p:cNvPicPr>
          <p:nvPr/>
        </p:nvPicPr>
        <p:blipFill>
          <a:blip r:embed="rId1"/>
          <a:stretch>
            <a:fillRect/>
          </a:stretch>
        </p:blipFill>
        <p:spPr>
          <a:xfrm>
            <a:off x="548640" y="1755648"/>
            <a:ext cx="4846320" cy="3877056"/>
          </a:xfrm>
          <a:prstGeom prst="rect">
            <a:avLst/>
          </a:prstGeom>
        </p:spPr>
      </p:pic>
      <p:sp>
        <p:nvSpPr>
          <p:cNvPr id="6" name="caption-160"/>
          <p:cNvSpPr/>
          <p:nvPr/>
        </p:nvSpPr>
        <p:spPr>
          <a:xfrm>
            <a:off x="548640" y="5705856"/>
            <a:ext cx="4846320" cy="256032"/>
          </a:xfrm>
          <a:prstGeom prst="rect">
            <a:avLst/>
          </a:prstGeom>
          <a:noFill/>
          <a:ln/>
        </p:spPr>
        <p:txBody>
          <a:bodyPr wrap="square" lIns="0" tIns="0" rIns="0" bIns="0" rtlCol="0" anchor="ctr"/>
          <a:lstStyle/>
          <a:p>
            <a:pPr algn="l" indent="0" marL="0">
              <a:buNone/>
            </a:pPr>
            <a:r>
              <a:rPr lang="en-US" sz="1100" i="1" dirty="0">
                <a:solidFill>
                  <a:srgbClr val="5B6880"/>
                </a:solidFill>
              </a:rPr>
              <a:t>Fig. Satellite-to-RAQR link with superheterodyne (LO-assisted) detection.</a:t>
            </a:r>
            <a:endParaRPr lang="en-US" sz="1100" dirty="0"/>
          </a:p>
        </p:txBody>
      </p:sp>
      <p:sp>
        <p:nvSpPr>
          <p:cNvPr id="7" name="math-card-161"/>
          <p:cNvSpPr/>
          <p:nvPr/>
        </p:nvSpPr>
        <p:spPr>
          <a:xfrm>
            <a:off x="5669280" y="1755648"/>
            <a:ext cx="5971032" cy="1168237"/>
          </a:xfrm>
          <a:prstGeom prst="roundRect">
            <a:avLst>
              <a:gd name="adj" fmla="val 7827"/>
            </a:avLst>
          </a:prstGeom>
          <a:solidFill>
            <a:srgbClr val="F6F8FB"/>
          </a:solidFill>
          <a:ln w="9525">
            <a:solidFill>
              <a:srgbClr val="E1E7EF"/>
            </a:solidFill>
            <a:prstDash val="solid"/>
          </a:ln>
        </p:spPr>
      </p:sp>
      <p:sp>
        <p:nvSpPr>
          <p:cNvPr id="8" name="math-label-162"/>
          <p:cNvSpPr/>
          <p:nvPr/>
        </p:nvSpPr>
        <p:spPr>
          <a:xfrm>
            <a:off x="5852160" y="1856232"/>
            <a:ext cx="5605272" cy="237744"/>
          </a:xfrm>
          <a:prstGeom prst="rect">
            <a:avLst/>
          </a:prstGeom>
          <a:noFill/>
          <a:ln/>
        </p:spPr>
        <p:txBody>
          <a:bodyPr wrap="square" lIns="0" tIns="0" rIns="0" bIns="0" rtlCol="0" anchor="ctr"/>
          <a:lstStyle/>
          <a:p>
            <a:pPr indent="0" marL="0">
              <a:buNone/>
            </a:pPr>
            <a:r>
              <a:rPr lang="en-US" sz="1250" b="1" dirty="0">
                <a:solidFill>
                  <a:srgbClr val="5F37BE"/>
                </a:solidFill>
              </a:rPr>
              <a:t>Atomic response: Rabi frequency of the RF transition in cell </a:t>
            </a:r>
            <a:pPr indent="0" marL="0">
              <a:buNone/>
            </a:pPr>
            <a:r>
              <a:rPr lang="en-US" sz="1250" b="1" i="1" dirty="0">
                <a:solidFill>
                  <a:srgbClr val="5F37BE"/>
                </a:solidFill>
                <a:latin typeface="+mj-lt" pitchFamily="34" charset="0"/>
                <a:ea typeface="+mj-lt" pitchFamily="34" charset="-122"/>
                <a:cs typeface="+mj-lt" pitchFamily="34" charset="-120"/>
              </a:rPr>
              <a:t>m</a:t>
            </a:r>
            <a:endParaRPr lang="en-US" sz="1250" dirty="0"/>
          </a:p>
        </p:txBody>
      </p:sp>
      <p:pic>
        <p:nvPicPr>
          <p:cNvPr id="9" name="eq-aq_rabi-163" descr="LaTeX: \Omega_{\mathrm{RF},m}=\frac{\wp}{\hbar}\,\big|\,E_{\mathrm{LO},m}+\underbrace{\mathbf{g}_m^{T}\mathbf{w}\,s}_{E_{s,m}}\big|">    </p:cNvPr>
          <p:cNvPicPr>
            <a:picLocks noChangeAspect="1"/>
          </p:cNvPicPr>
          <p:nvPr/>
        </p:nvPicPr>
        <p:blipFill>
          <a:blip r:embed="rId2"/>
          <a:stretch>
            <a:fillRect/>
          </a:stretch>
        </p:blipFill>
        <p:spPr>
          <a:xfrm>
            <a:off x="5852160" y="2157984"/>
            <a:ext cx="2723083" cy="637885"/>
          </a:xfrm>
          <a:prstGeom prst="rect">
            <a:avLst/>
          </a:prstGeom>
        </p:spPr>
      </p:pic>
      <p:sp>
        <p:nvSpPr>
          <p:cNvPr id="10" name="math-card-164"/>
          <p:cNvSpPr/>
          <p:nvPr/>
        </p:nvSpPr>
        <p:spPr>
          <a:xfrm>
            <a:off x="5669280" y="3051901"/>
            <a:ext cx="5971032" cy="798454"/>
          </a:xfrm>
          <a:prstGeom prst="roundRect">
            <a:avLst>
              <a:gd name="adj" fmla="val 11452"/>
            </a:avLst>
          </a:prstGeom>
          <a:solidFill>
            <a:srgbClr val="F6F8FB"/>
          </a:solidFill>
          <a:ln w="9525">
            <a:solidFill>
              <a:srgbClr val="E1E7EF"/>
            </a:solidFill>
            <a:prstDash val="solid"/>
          </a:ln>
        </p:spPr>
      </p:sp>
      <p:sp>
        <p:nvSpPr>
          <p:cNvPr id="11" name="math-label-165"/>
          <p:cNvSpPr/>
          <p:nvPr/>
        </p:nvSpPr>
        <p:spPr>
          <a:xfrm>
            <a:off x="5852160" y="3152485"/>
            <a:ext cx="5605272" cy="237744"/>
          </a:xfrm>
          <a:prstGeom prst="rect">
            <a:avLst/>
          </a:prstGeom>
          <a:noFill/>
          <a:ln/>
        </p:spPr>
        <p:txBody>
          <a:bodyPr wrap="square" lIns="0" tIns="0" rIns="0" bIns="0" rtlCol="0" anchor="ctr"/>
          <a:lstStyle/>
          <a:p>
            <a:pPr indent="0" marL="0">
              <a:buNone/>
            </a:pPr>
            <a:r>
              <a:rPr lang="en-US" sz="1250" b="1" dirty="0">
                <a:solidFill>
                  <a:srgbClr val="5F37BE"/>
                </a:solidFill>
              </a:rPr>
              <a:t>General output model: biased phase retrieval [9]</a:t>
            </a:r>
            <a:endParaRPr lang="en-US" sz="1250" dirty="0"/>
          </a:p>
        </p:txBody>
      </p:sp>
      <p:pic>
        <p:nvPicPr>
          <p:cNvPr id="12" name="eq-aq_bpr-166" descr="LaTeX: y_m=\big|\,b_m+\mathbf{g}_m^{T}\mathbf{w}\,s+\eta_m\big|+\nu_m">    </p:cNvPr>
          <p:cNvPicPr>
            <a:picLocks noChangeAspect="1"/>
          </p:cNvPicPr>
          <p:nvPr/>
        </p:nvPicPr>
        <p:blipFill>
          <a:blip r:embed="rId3"/>
          <a:stretch>
            <a:fillRect/>
          </a:stretch>
        </p:blipFill>
        <p:spPr>
          <a:xfrm>
            <a:off x="5852160" y="3454237"/>
            <a:ext cx="2872588" cy="268102"/>
          </a:xfrm>
          <a:prstGeom prst="rect">
            <a:avLst/>
          </a:prstGeom>
        </p:spPr>
      </p:pic>
      <p:sp>
        <p:nvSpPr>
          <p:cNvPr id="13" name="math-card-167"/>
          <p:cNvSpPr/>
          <p:nvPr/>
        </p:nvSpPr>
        <p:spPr>
          <a:xfrm>
            <a:off x="5669280" y="3978372"/>
            <a:ext cx="5971032" cy="784921"/>
          </a:xfrm>
          <a:prstGeom prst="roundRect">
            <a:avLst>
              <a:gd name="adj" fmla="val 11650"/>
            </a:avLst>
          </a:prstGeom>
          <a:solidFill>
            <a:srgbClr val="F6F8FB"/>
          </a:solidFill>
          <a:ln w="9525">
            <a:solidFill>
              <a:srgbClr val="E1E7EF"/>
            </a:solidFill>
            <a:prstDash val="solid"/>
          </a:ln>
        </p:spPr>
      </p:sp>
      <p:sp>
        <p:nvSpPr>
          <p:cNvPr id="14" name="math-label-168"/>
          <p:cNvSpPr/>
          <p:nvPr/>
        </p:nvSpPr>
        <p:spPr>
          <a:xfrm>
            <a:off x="5852160" y="4078956"/>
            <a:ext cx="5605272" cy="237744"/>
          </a:xfrm>
          <a:prstGeom prst="rect">
            <a:avLst/>
          </a:prstGeom>
          <a:noFill/>
          <a:ln/>
        </p:spPr>
        <p:txBody>
          <a:bodyPr wrap="square" lIns="0" tIns="0" rIns="0" bIns="0" rtlCol="0" anchor="ctr"/>
          <a:lstStyle/>
          <a:p>
            <a:pPr indent="0" marL="0">
              <a:buNone/>
            </a:pPr>
            <a:r>
              <a:rPr lang="en-US" sz="1250" b="1" dirty="0">
                <a:solidFill>
                  <a:srgbClr val="5F37BE"/>
                </a:solidFill>
              </a:rPr>
              <a:t>Strong-LO (superheterodyne) linearization</a:t>
            </a:r>
            <a:endParaRPr lang="en-US" sz="1250" dirty="0"/>
          </a:p>
        </p:txBody>
      </p:sp>
      <p:pic>
        <p:nvPicPr>
          <p:cNvPr id="15" name="eq-aq_linear-169" descr="LaTeX: |E_{\mathrm{LO},m}|\gg|E_{s,m}|\ \Rightarrow\ y_m\approx \kappa_m\,e^{-j\varphi_m}\,\mathbf{g}_m^{T}\mathbf{w}\,s+n_m">    </p:cNvPr>
          <p:cNvPicPr>
            <a:picLocks noChangeAspect="1"/>
          </p:cNvPicPr>
          <p:nvPr/>
        </p:nvPicPr>
        <p:blipFill>
          <a:blip r:embed="rId4"/>
          <a:stretch>
            <a:fillRect/>
          </a:stretch>
        </p:blipFill>
        <p:spPr>
          <a:xfrm>
            <a:off x="5852160" y="4380708"/>
            <a:ext cx="4552798" cy="254569"/>
          </a:xfrm>
          <a:prstGeom prst="rect">
            <a:avLst/>
          </a:prstGeom>
        </p:spPr>
      </p:pic>
      <p:sp>
        <p:nvSpPr>
          <p:cNvPr id="16" name="math-card-170"/>
          <p:cNvSpPr/>
          <p:nvPr/>
        </p:nvSpPr>
        <p:spPr>
          <a:xfrm>
            <a:off x="5669280" y="4891308"/>
            <a:ext cx="5971032" cy="1173541"/>
          </a:xfrm>
          <a:prstGeom prst="roundRect">
            <a:avLst>
              <a:gd name="adj" fmla="val 7792"/>
            </a:avLst>
          </a:prstGeom>
          <a:solidFill>
            <a:srgbClr val="F6F8FB"/>
          </a:solidFill>
          <a:ln w="9525">
            <a:solidFill>
              <a:srgbClr val="E1E7EF"/>
            </a:solidFill>
            <a:prstDash val="solid"/>
          </a:ln>
        </p:spPr>
      </p:sp>
      <p:sp>
        <p:nvSpPr>
          <p:cNvPr id="17" name="math-label-171"/>
          <p:cNvSpPr/>
          <p:nvPr/>
        </p:nvSpPr>
        <p:spPr>
          <a:xfrm>
            <a:off x="5852160" y="4991892"/>
            <a:ext cx="5605272" cy="237744"/>
          </a:xfrm>
          <a:prstGeom prst="rect">
            <a:avLst/>
          </a:prstGeom>
          <a:noFill/>
          <a:ln/>
        </p:spPr>
        <p:txBody>
          <a:bodyPr wrap="square" lIns="0" tIns="0" rIns="0" bIns="0" rtlCol="0" anchor="ctr"/>
          <a:lstStyle/>
          <a:p>
            <a:pPr indent="0" marL="0">
              <a:buNone/>
            </a:pPr>
            <a:r>
              <a:rPr lang="en-US" sz="1250" b="1" dirty="0">
                <a:solidFill>
                  <a:srgbClr val="5F37BE"/>
                </a:solidFill>
              </a:rPr>
              <a:t>Output SNR with combining over </a:t>
            </a:r>
            <a:pPr indent="0" marL="0">
              <a:buNone/>
            </a:pPr>
            <a:r>
              <a:rPr lang="en-US" sz="1250" b="1" i="1" dirty="0">
                <a:solidFill>
                  <a:srgbClr val="5F37BE"/>
                </a:solidFill>
                <a:latin typeface="+mj-lt" pitchFamily="34" charset="0"/>
                <a:ea typeface="+mj-lt" pitchFamily="34" charset="-122"/>
                <a:cs typeface="+mj-lt" pitchFamily="34" charset="-120"/>
              </a:rPr>
              <a:t>M</a:t>
            </a:r>
            <a:pPr indent="0" marL="0">
              <a:buNone/>
            </a:pPr>
            <a:r>
              <a:rPr lang="en-US" sz="1250" b="1" dirty="0">
                <a:solidFill>
                  <a:srgbClr val="5F37BE"/>
                </a:solidFill>
              </a:rPr>
              <a:t> cells</a:t>
            </a:r>
            <a:endParaRPr lang="en-US" sz="1250" dirty="0"/>
          </a:p>
        </p:txBody>
      </p:sp>
      <p:pic>
        <p:nvPicPr>
          <p:cNvPr id="18" name="eq-aq_snr-172" descr="LaTeX: \gamma=\sum_{m=1}^{M}\frac{\kappa_m^2(E_{\mathrm{LO},m})\,|\mathbf{g}_m^{T}\mathbf{w}|^2}{\sigma^2_{\mathrm{PSN}}+\sigma^2_{\mathrm{QPN}}+\sigma^2_{\mathrm{BBR}}+\sigma^2_{\mathrm{ext}}}">    </p:cNvPr>
          <p:cNvPicPr>
            <a:picLocks noChangeAspect="1"/>
          </p:cNvPicPr>
          <p:nvPr/>
        </p:nvPicPr>
        <p:blipFill>
          <a:blip r:embed="rId5"/>
          <a:stretch>
            <a:fillRect/>
          </a:stretch>
        </p:blipFill>
        <p:spPr>
          <a:xfrm>
            <a:off x="5852160" y="5293644"/>
            <a:ext cx="3398733" cy="643189"/>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Proposed Design: LO- and Doppler-Aware Reception</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Choose the satellite precoder and every cell's LO jointly: maximize SNR while each vapor cell stays in its linear regime.</a:t>
            </a:r>
            <a:endParaRPr lang="en-US" sz="1600" dirty="0"/>
          </a:p>
        </p:txBody>
      </p:sp>
      <p:sp>
        <p:nvSpPr>
          <p:cNvPr id="5" name="math-card-173"/>
          <p:cNvSpPr/>
          <p:nvPr/>
        </p:nvSpPr>
        <p:spPr>
          <a:xfrm>
            <a:off x="548640" y="1755648"/>
            <a:ext cx="5486400" cy="1958809"/>
          </a:xfrm>
          <a:prstGeom prst="roundRect">
            <a:avLst>
              <a:gd name="adj" fmla="val 4668"/>
            </a:avLst>
          </a:prstGeom>
          <a:solidFill>
            <a:srgbClr val="F6F8FB"/>
          </a:solidFill>
          <a:ln w="9525">
            <a:solidFill>
              <a:srgbClr val="E1E7EF"/>
            </a:solidFill>
            <a:prstDash val="solid"/>
          </a:ln>
        </p:spPr>
      </p:sp>
      <p:sp>
        <p:nvSpPr>
          <p:cNvPr id="6" name="math-label-174"/>
          <p:cNvSpPr/>
          <p:nvPr/>
        </p:nvSpPr>
        <p:spPr>
          <a:xfrm>
            <a:off x="731520" y="1856232"/>
            <a:ext cx="5120640" cy="237744"/>
          </a:xfrm>
          <a:prstGeom prst="rect">
            <a:avLst/>
          </a:prstGeom>
          <a:noFill/>
          <a:ln/>
        </p:spPr>
        <p:txBody>
          <a:bodyPr wrap="square" lIns="0" tIns="0" rIns="0" bIns="0" rtlCol="0" anchor="ctr"/>
          <a:lstStyle/>
          <a:p>
            <a:pPr indent="0" marL="0">
              <a:buNone/>
            </a:pPr>
            <a:r>
              <a:rPr lang="en-US" sz="1250" b="1" dirty="0">
                <a:solidFill>
                  <a:srgbClr val="5F37BE"/>
                </a:solidFill>
              </a:rPr>
              <a:t>SNR maximization with linear-regime and bandwidth constraints</a:t>
            </a:r>
            <a:endParaRPr lang="en-US" sz="1250" dirty="0"/>
          </a:p>
        </p:txBody>
      </p:sp>
      <p:pic>
        <p:nvPicPr>
          <p:cNvPr id="7" name="eq-aq_problem-175" descr="LaTeX: \begin{aligned} (\mathrm{P2})\ \ \max_{\textcolor{#5F37BE}{\mathbf{w},\,\{E_{\mathrm{LO},m}\},\,f_{\mathrm{LO}}}}\quad &amp; \log_2\big(1+\gamma\big)\\ \text{s.t.}\quad &amp; \|\mathbf{w}\|^2\le P_{\max},\\ &amp; |\mathbf{g}_m^{T}\mathbf{w}|\le\rho\,E_{\mathrm{LO},m}\le\rho\,E_{\max},\ \forall m,\\ &amp; \big|f_{c}+f_{D}(t)-f_{\mathrm{LO}}\big|\le B_{\mathrm{IF}}. \end{aligned}">    </p:cNvPr>
          <p:cNvPicPr>
            <a:picLocks noChangeAspect="1"/>
          </p:cNvPicPr>
          <p:nvPr/>
        </p:nvPicPr>
        <p:blipFill>
          <a:blip r:embed="rId1"/>
          <a:stretch>
            <a:fillRect/>
          </a:stretch>
        </p:blipFill>
        <p:spPr>
          <a:xfrm>
            <a:off x="731520" y="2157984"/>
            <a:ext cx="5120640" cy="1428457"/>
          </a:xfrm>
          <a:prstGeom prst="rect">
            <a:avLst/>
          </a:prstGeom>
        </p:spPr>
      </p:pic>
      <p:pic>
        <p:nvPicPr>
          <p:cNvPr id="8" name="figure-176" descr="Receive pipeline: ephemeris to Doppler predictor to LO synthesizer, RAQR array, IQ demodulation and EM-GS detector, with an LO amplitude feedback loop.">    </p:cNvPr>
          <p:cNvPicPr>
            <a:picLocks noChangeAspect="1"/>
          </p:cNvPicPr>
          <p:nvPr/>
        </p:nvPicPr>
        <p:blipFill>
          <a:blip r:embed="rId2"/>
          <a:stretch>
            <a:fillRect/>
          </a:stretch>
        </p:blipFill>
        <p:spPr>
          <a:xfrm>
            <a:off x="6153912" y="1755648"/>
            <a:ext cx="5486400" cy="2212848"/>
          </a:xfrm>
          <a:prstGeom prst="rect">
            <a:avLst/>
          </a:prstGeom>
        </p:spPr>
      </p:pic>
      <p:sp>
        <p:nvSpPr>
          <p:cNvPr id="9" name="step-card-177"/>
          <p:cNvSpPr/>
          <p:nvPr/>
        </p:nvSpPr>
        <p:spPr>
          <a:xfrm>
            <a:off x="548640" y="4224528"/>
            <a:ext cx="3545738" cy="1810512"/>
          </a:xfrm>
          <a:prstGeom prst="roundRect">
            <a:avLst>
              <a:gd name="adj" fmla="val 5051"/>
            </a:avLst>
          </a:prstGeom>
          <a:solidFill>
            <a:srgbClr val="EFEAFC"/>
          </a:solidFill>
          <a:ln w="9525">
            <a:solidFill>
              <a:srgbClr val="EFEAFC"/>
            </a:solidFill>
            <a:prstDash val="solid"/>
          </a:ln>
        </p:spPr>
      </p:sp>
      <p:sp>
        <p:nvSpPr>
          <p:cNvPr id="10" name="icon-bg-178"/>
          <p:cNvSpPr/>
          <p:nvPr/>
        </p:nvSpPr>
        <p:spPr>
          <a:xfrm>
            <a:off x="749808" y="4425696"/>
            <a:ext cx="420624" cy="420624"/>
          </a:xfrm>
          <a:prstGeom prst="ellipse">
            <a:avLst/>
          </a:prstGeom>
          <a:solidFill>
            <a:schemeClr val="accent3"/>
          </a:solidFill>
          <a:ln w="6350">
            <a:solidFill>
              <a:schemeClr val="accent3"/>
            </a:solidFill>
            <a:prstDash val="solid"/>
          </a:ln>
        </p:spPr>
      </p:sp>
      <p:pic>
        <p:nvPicPr>
          <p:cNvPr id="11" name="icon-179" descr="Icon: radar">    </p:cNvPr>
          <p:cNvPicPr>
            <a:picLocks noChangeAspect="1"/>
          </p:cNvPicPr>
          <p:nvPr/>
        </p:nvPicPr>
        <p:blipFill>
          <a:blip r:embed="rId3"/>
          <a:stretch>
            <a:fillRect/>
          </a:stretch>
        </p:blipFill>
        <p:spPr>
          <a:xfrm>
            <a:off x="842345" y="4518233"/>
            <a:ext cx="235549" cy="235549"/>
          </a:xfrm>
          <a:prstGeom prst="rect">
            <a:avLst/>
          </a:prstGeom>
        </p:spPr>
      </p:pic>
      <p:sp>
        <p:nvSpPr>
          <p:cNvPr id="12" name="step-head-180"/>
          <p:cNvSpPr/>
          <p:nvPr/>
        </p:nvSpPr>
        <p:spPr>
          <a:xfrm>
            <a:off x="1298448" y="4407408"/>
            <a:ext cx="2631338" cy="457200"/>
          </a:xfrm>
          <a:prstGeom prst="rect">
            <a:avLst/>
          </a:prstGeom>
          <a:noFill/>
          <a:ln/>
        </p:spPr>
        <p:txBody>
          <a:bodyPr wrap="square" lIns="0" tIns="0" rIns="0" bIns="0" rtlCol="0" anchor="ctr"/>
          <a:lstStyle/>
          <a:p>
            <a:pPr indent="0" marL="0">
              <a:buNone/>
            </a:pPr>
            <a:r>
              <a:rPr lang="en-US" sz="1500" b="1" dirty="0">
                <a:solidFill>
                  <a:srgbClr val="0B1E3F"/>
                </a:solidFill>
              </a:rPr>
              <a:t>1  Doppler-aware LO tracking</a:t>
            </a:r>
            <a:endParaRPr lang="en-US" sz="1500" dirty="0"/>
          </a:p>
        </p:txBody>
      </p:sp>
      <p:sp>
        <p:nvSpPr>
          <p:cNvPr id="13" name="step-body-181"/>
          <p:cNvSpPr/>
          <p:nvPr/>
        </p:nvSpPr>
        <p:spPr>
          <a:xfrm>
            <a:off x="749808" y="4974336"/>
            <a:ext cx="3161690" cy="969264"/>
          </a:xfrm>
          <a:prstGeom prst="rect">
            <a:avLst/>
          </a:prstGeom>
          <a:noFill/>
          <a:ln/>
        </p:spPr>
        <p:txBody>
          <a:bodyPr wrap="square" lIns="0" tIns="0" rIns="0" bIns="0" rtlCol="0" anchor="t"/>
          <a:lstStyle/>
          <a:p>
            <a:pPr indent="0" marL="0">
              <a:buNone/>
            </a:pPr>
            <a:r>
              <a:rPr lang="en-US" sz="1400" dirty="0">
                <a:solidFill>
                  <a:srgbClr val="1B2638"/>
                </a:solidFill>
              </a:rPr>
              <a:t>Predict </a:t>
            </a:r>
            <a:pPr indent="0" marL="0">
              <a:buNone/>
            </a:pPr>
            <a:r>
              <a:rPr lang="en-US" sz="1400" i="1" dirty="0">
                <a:solidFill>
                  <a:srgbClr val="1B2638"/>
                </a:solidFill>
                <a:latin typeface="+mj-lt" pitchFamily="34" charset="0"/>
                <a:ea typeface="+mj-lt" pitchFamily="34" charset="-122"/>
                <a:cs typeface="+mj-lt" pitchFamily="34" charset="-120"/>
              </a:rPr>
              <a:t>f</a:t>
            </a:r>
            <a:pPr indent="0" marL="0">
              <a:buNone/>
            </a:pPr>
            <a:r>
              <a:rPr lang="en-US" sz="1400" i="1" baseline="-40000" dirty="0">
                <a:solidFill>
                  <a:srgbClr val="1B2638"/>
                </a:solidFill>
                <a:latin typeface="+mj-lt" pitchFamily="34" charset="0"/>
                <a:ea typeface="+mj-lt" pitchFamily="34" charset="-122"/>
                <a:cs typeface="+mj-lt" pitchFamily="34" charset="-120"/>
              </a:rPr>
              <a:t>D</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i="1" dirty="0">
                <a:solidFill>
                  <a:srgbClr val="1B2638"/>
                </a:solidFill>
                <a:latin typeface="+mj-lt" pitchFamily="34" charset="0"/>
                <a:ea typeface="+mj-lt" pitchFamily="34" charset="-122"/>
                <a:cs typeface="+mj-lt" pitchFamily="34" charset="-120"/>
              </a:rPr>
              <a:t>t</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dirty="0">
                <a:solidFill>
                  <a:srgbClr val="1B2638"/>
                </a:solidFill>
              </a:rPr>
              <a:t> from the ephemeris and set </a:t>
            </a:r>
            <a:pPr indent="0" marL="0">
              <a:buNone/>
            </a:pPr>
            <a:r>
              <a:rPr lang="en-US" sz="1400" i="1" dirty="0">
                <a:solidFill>
                  <a:srgbClr val="1B2638"/>
                </a:solidFill>
                <a:latin typeface="+mj-lt" pitchFamily="34" charset="0"/>
                <a:ea typeface="+mj-lt" pitchFamily="34" charset="-122"/>
                <a:cs typeface="+mj-lt" pitchFamily="34" charset="-120"/>
              </a:rPr>
              <a:t>f</a:t>
            </a:r>
            <a:pPr indent="0" marL="0">
              <a:buNone/>
            </a:pPr>
            <a:r>
              <a:rPr lang="en-US" sz="1400" baseline="-40000" dirty="0">
                <a:solidFill>
                  <a:srgbClr val="1B2638"/>
                </a:solidFill>
                <a:latin typeface="+mj-lt" pitchFamily="34" charset="0"/>
                <a:ea typeface="+mj-lt" pitchFamily="34" charset="-122"/>
                <a:cs typeface="+mj-lt" pitchFamily="34" charset="-120"/>
              </a:rPr>
              <a:t>LO</a:t>
            </a:r>
            <a:pPr indent="0" marL="0">
              <a:buNone/>
            </a:pPr>
            <a:r>
              <a:rPr lang="en-US" sz="1400" dirty="0">
                <a:solidFill>
                  <a:srgbClr val="1B2638"/>
                </a:solidFill>
                <a:latin typeface="+mj-lt" pitchFamily="34" charset="0"/>
                <a:ea typeface="+mj-lt" pitchFamily="34" charset="-122"/>
                <a:cs typeface="+mj-lt" pitchFamily="34" charset="-120"/>
              </a:rPr>
              <a:t> </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dirty="0">
                <a:solidFill>
                  <a:srgbClr val="1B2638"/>
                </a:solidFill>
                <a:latin typeface="+mj-lt" pitchFamily="34" charset="0"/>
                <a:ea typeface="+mj-lt" pitchFamily="34" charset="-122"/>
                <a:cs typeface="+mj-lt" pitchFamily="34" charset="-120"/>
              </a:rPr>
              <a:t> </a:t>
            </a:r>
            <a:pPr indent="0" marL="0">
              <a:buNone/>
            </a:pPr>
            <a:r>
              <a:rPr lang="en-US" sz="1400" i="1" dirty="0">
                <a:solidFill>
                  <a:srgbClr val="1B2638"/>
                </a:solidFill>
                <a:latin typeface="+mj-lt" pitchFamily="34" charset="0"/>
                <a:ea typeface="+mj-lt" pitchFamily="34" charset="-122"/>
                <a:cs typeface="+mj-lt" pitchFamily="34" charset="-120"/>
              </a:rPr>
              <a:t>f</a:t>
            </a:r>
            <a:pPr indent="0" marL="0">
              <a:buNone/>
            </a:pPr>
            <a:r>
              <a:rPr lang="en-US" sz="1400" i="1" baseline="-40000" dirty="0">
                <a:solidFill>
                  <a:srgbClr val="1B2638"/>
                </a:solidFill>
                <a:latin typeface="+mj-lt" pitchFamily="34" charset="0"/>
                <a:ea typeface="+mj-lt" pitchFamily="34" charset="-122"/>
                <a:cs typeface="+mj-lt" pitchFamily="34" charset="-120"/>
              </a:rPr>
              <a:t>c</a:t>
            </a:r>
            <a:pPr indent="0" marL="0">
              <a:buNone/>
            </a:pPr>
            <a:r>
              <a:rPr lang="en-US" sz="1400" dirty="0">
                <a:solidFill>
                  <a:srgbClr val="1B2638"/>
                </a:solidFill>
                <a:latin typeface="+mj-lt" pitchFamily="34" charset="0"/>
                <a:ea typeface="+mj-lt" pitchFamily="34" charset="-122"/>
                <a:cs typeface="+mj-lt" pitchFamily="34" charset="-120"/>
              </a:rPr>
              <a:t> </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dirty="0">
                <a:solidFill>
                  <a:srgbClr val="1B2638"/>
                </a:solidFill>
                <a:latin typeface="+mj-lt" pitchFamily="34" charset="0"/>
                <a:ea typeface="+mj-lt" pitchFamily="34" charset="-122"/>
                <a:cs typeface="+mj-lt" pitchFamily="34" charset="-120"/>
              </a:rPr>
              <a:t> </a:t>
            </a:r>
            <a:pPr indent="0" marL="0">
              <a:buNone/>
            </a:pPr>
            <a:r>
              <a:rPr lang="en-US" sz="1400" i="1" dirty="0">
                <a:solidFill>
                  <a:srgbClr val="1B2638"/>
                </a:solidFill>
                <a:latin typeface="+mj-lt" pitchFamily="34" charset="0"/>
                <a:ea typeface="+mj-lt" pitchFamily="34" charset="-122"/>
                <a:cs typeface="+mj-lt" pitchFamily="34" charset="-120"/>
              </a:rPr>
              <a:t>f</a:t>
            </a:r>
            <a:pPr indent="0" marL="0">
              <a:buNone/>
            </a:pPr>
            <a:r>
              <a:rPr lang="en-US" sz="1400" i="1" baseline="-40000" dirty="0">
                <a:solidFill>
                  <a:srgbClr val="1B2638"/>
                </a:solidFill>
                <a:latin typeface="+mj-lt" pitchFamily="34" charset="0"/>
                <a:ea typeface="+mj-lt" pitchFamily="34" charset="-122"/>
                <a:cs typeface="+mj-lt" pitchFamily="34" charset="-120"/>
              </a:rPr>
              <a:t>D</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i="1" dirty="0">
                <a:solidFill>
                  <a:srgbClr val="1B2638"/>
                </a:solidFill>
                <a:latin typeface="+mj-lt" pitchFamily="34" charset="0"/>
                <a:ea typeface="+mj-lt" pitchFamily="34" charset="-122"/>
                <a:cs typeface="+mj-lt" pitchFamily="34" charset="-120"/>
              </a:rPr>
              <a:t>t</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dirty="0">
                <a:solidFill>
                  <a:srgbClr val="1B2638"/>
                </a:solidFill>
                <a:latin typeface="+mj-lt" pitchFamily="34" charset="0"/>
                <a:ea typeface="+mj-lt" pitchFamily="34" charset="-122"/>
                <a:cs typeface="+mj-lt" pitchFamily="34" charset="-120"/>
              </a:rPr>
              <a:t> </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dirty="0">
                <a:solidFill>
                  <a:srgbClr val="1B2638"/>
                </a:solidFill>
                <a:latin typeface="+mj-lt" pitchFamily="34" charset="0"/>
                <a:ea typeface="+mj-lt" pitchFamily="34" charset="-122"/>
                <a:cs typeface="+mj-lt" pitchFamily="34" charset="-120"/>
              </a:rPr>
              <a:t> </a:t>
            </a:r>
            <a:pPr indent="0" marL="0">
              <a:buNone/>
            </a:pPr>
            <a:r>
              <a:rPr lang="en-US" sz="1400" i="1" dirty="0">
                <a:solidFill>
                  <a:srgbClr val="1B2638"/>
                </a:solidFill>
                <a:latin typeface="+mj-lt" pitchFamily="34" charset="0"/>
                <a:ea typeface="+mj-lt" pitchFamily="34" charset="-122"/>
                <a:cs typeface="+mj-lt" pitchFamily="34" charset="-120"/>
              </a:rPr>
              <a:t>f</a:t>
            </a:r>
            <a:pPr indent="0" marL="0">
              <a:buNone/>
            </a:pPr>
            <a:r>
              <a:rPr lang="en-US" sz="1400" baseline="-40000" dirty="0">
                <a:solidFill>
                  <a:srgbClr val="1B2638"/>
                </a:solidFill>
                <a:latin typeface="+mj-lt" pitchFamily="34" charset="0"/>
                <a:ea typeface="+mj-lt" pitchFamily="34" charset="-122"/>
                <a:cs typeface="+mj-lt" pitchFamily="34" charset="-120"/>
              </a:rPr>
              <a:t>IF</a:t>
            </a:r>
            <a:pPr indent="0" marL="0">
              <a:buNone/>
            </a:pPr>
            <a:r>
              <a:rPr lang="en-US" sz="1400" dirty="0">
                <a:solidFill>
                  <a:srgbClr val="1B2638"/>
                </a:solidFill>
              </a:rPr>
              <a:t>, so the beat note stays inside </a:t>
            </a:r>
            <a:pPr indent="0" marL="0">
              <a:buNone/>
            </a:pPr>
            <a:r>
              <a:rPr lang="en-US" sz="1400" i="1" dirty="0">
                <a:solidFill>
                  <a:srgbClr val="1B2638"/>
                </a:solidFill>
                <a:latin typeface="+mj-lt" pitchFamily="34" charset="0"/>
                <a:ea typeface="+mj-lt" pitchFamily="34" charset="-122"/>
                <a:cs typeface="+mj-lt" pitchFamily="34" charset="-120"/>
              </a:rPr>
              <a:t>B</a:t>
            </a:r>
            <a:pPr indent="0" marL="0">
              <a:buNone/>
            </a:pPr>
            <a:r>
              <a:rPr lang="en-US" sz="1400" baseline="-40000" dirty="0">
                <a:solidFill>
                  <a:srgbClr val="1B2638"/>
                </a:solidFill>
                <a:latin typeface="+mj-lt" pitchFamily="34" charset="0"/>
                <a:ea typeface="+mj-lt" pitchFamily="34" charset="-122"/>
                <a:cs typeface="+mj-lt" pitchFamily="34" charset="-120"/>
              </a:rPr>
              <a:t>IF</a:t>
            </a:r>
            <a:pPr indent="0" marL="0">
              <a:buNone/>
            </a:pPr>
            <a:r>
              <a:rPr lang="en-US" sz="1400" dirty="0">
                <a:solidFill>
                  <a:srgbClr val="1B2638"/>
                </a:solidFill>
              </a:rPr>
              <a:t>.</a:t>
            </a:r>
            <a:endParaRPr lang="en-US" sz="1400" dirty="0"/>
          </a:p>
        </p:txBody>
      </p:sp>
      <p:sp>
        <p:nvSpPr>
          <p:cNvPr id="14" name="step-card-182"/>
          <p:cNvSpPr/>
          <p:nvPr/>
        </p:nvSpPr>
        <p:spPr>
          <a:xfrm>
            <a:off x="4322978" y="4224528"/>
            <a:ext cx="3545738" cy="1810512"/>
          </a:xfrm>
          <a:prstGeom prst="roundRect">
            <a:avLst>
              <a:gd name="adj" fmla="val 5051"/>
            </a:avLst>
          </a:prstGeom>
          <a:solidFill>
            <a:srgbClr val="EFEAFC"/>
          </a:solidFill>
          <a:ln w="9525">
            <a:solidFill>
              <a:srgbClr val="EFEAFC"/>
            </a:solidFill>
            <a:prstDash val="solid"/>
          </a:ln>
        </p:spPr>
      </p:sp>
      <p:sp>
        <p:nvSpPr>
          <p:cNvPr id="15" name="icon-bg-183"/>
          <p:cNvSpPr/>
          <p:nvPr/>
        </p:nvSpPr>
        <p:spPr>
          <a:xfrm>
            <a:off x="4524146" y="4425696"/>
            <a:ext cx="420624" cy="420624"/>
          </a:xfrm>
          <a:prstGeom prst="ellipse">
            <a:avLst/>
          </a:prstGeom>
          <a:solidFill>
            <a:schemeClr val="accent3"/>
          </a:solidFill>
          <a:ln w="6350">
            <a:solidFill>
              <a:schemeClr val="accent3"/>
            </a:solidFill>
            <a:prstDash val="solid"/>
          </a:ln>
        </p:spPr>
      </p:sp>
      <p:pic>
        <p:nvPicPr>
          <p:cNvPr id="16" name="icon-184" descr="Icon: adjustments">    </p:cNvPr>
          <p:cNvPicPr>
            <a:picLocks noChangeAspect="1"/>
          </p:cNvPicPr>
          <p:nvPr/>
        </p:nvPicPr>
        <p:blipFill>
          <a:blip r:embed="rId4"/>
          <a:stretch>
            <a:fillRect/>
          </a:stretch>
        </p:blipFill>
        <p:spPr>
          <a:xfrm>
            <a:off x="4616684" y="4518233"/>
            <a:ext cx="235549" cy="235549"/>
          </a:xfrm>
          <a:prstGeom prst="rect">
            <a:avLst/>
          </a:prstGeom>
        </p:spPr>
      </p:pic>
      <p:sp>
        <p:nvSpPr>
          <p:cNvPr id="17" name="step-head-185"/>
          <p:cNvSpPr/>
          <p:nvPr/>
        </p:nvSpPr>
        <p:spPr>
          <a:xfrm>
            <a:off x="5072786" y="4407408"/>
            <a:ext cx="2631338" cy="457200"/>
          </a:xfrm>
          <a:prstGeom prst="rect">
            <a:avLst/>
          </a:prstGeom>
          <a:noFill/>
          <a:ln/>
        </p:spPr>
        <p:txBody>
          <a:bodyPr wrap="square" lIns="0" tIns="0" rIns="0" bIns="0" rtlCol="0" anchor="ctr"/>
          <a:lstStyle/>
          <a:p>
            <a:pPr indent="0" marL="0">
              <a:buNone/>
            </a:pPr>
            <a:r>
              <a:rPr lang="en-US" sz="1500" b="1" dirty="0">
                <a:solidFill>
                  <a:srgbClr val="0B1E3F"/>
                </a:solidFill>
              </a:rPr>
              <a:t>2  LO amplitude + precoder (AO)</a:t>
            </a:r>
            <a:endParaRPr lang="en-US" sz="1500" dirty="0"/>
          </a:p>
        </p:txBody>
      </p:sp>
      <p:sp>
        <p:nvSpPr>
          <p:cNvPr id="18" name="step-body-186"/>
          <p:cNvSpPr/>
          <p:nvPr/>
        </p:nvSpPr>
        <p:spPr>
          <a:xfrm>
            <a:off x="4524146" y="4974336"/>
            <a:ext cx="3161690" cy="969264"/>
          </a:xfrm>
          <a:prstGeom prst="rect">
            <a:avLst/>
          </a:prstGeom>
          <a:noFill/>
          <a:ln/>
        </p:spPr>
        <p:txBody>
          <a:bodyPr wrap="square" lIns="0" tIns="0" rIns="0" bIns="0" rtlCol="0" anchor="t"/>
          <a:lstStyle/>
          <a:p>
            <a:pPr indent="0" marL="0">
              <a:buNone/>
            </a:pPr>
            <a:r>
              <a:rPr lang="en-US" sz="1400" dirty="0">
                <a:solidFill>
                  <a:srgbClr val="1B2638"/>
                </a:solidFill>
              </a:rPr>
              <a:t>1-D search of </a:t>
            </a:r>
            <a:pPr indent="0" marL="0">
              <a:buNone/>
            </a:pPr>
            <a:r>
              <a:rPr lang="en-US" sz="1400" i="1" dirty="0">
                <a:solidFill>
                  <a:srgbClr val="1B2638"/>
                </a:solidFill>
                <a:latin typeface="+mj-lt" pitchFamily="34" charset="0"/>
                <a:ea typeface="+mj-lt" pitchFamily="34" charset="-122"/>
                <a:cs typeface="+mj-lt" pitchFamily="34" charset="-120"/>
              </a:rPr>
              <a:t>E</a:t>
            </a:r>
            <a:pPr indent="0" marL="0">
              <a:buNone/>
            </a:pPr>
            <a:r>
              <a:rPr lang="en-US" sz="1400" baseline="-40000" dirty="0">
                <a:solidFill>
                  <a:srgbClr val="1B2638"/>
                </a:solidFill>
                <a:latin typeface="+mj-lt" pitchFamily="34" charset="0"/>
                <a:ea typeface="+mj-lt" pitchFamily="34" charset="-122"/>
                <a:cs typeface="+mj-lt" pitchFamily="34" charset="-120"/>
              </a:rPr>
              <a:t>LO,</a:t>
            </a:r>
            <a:pPr indent="0" marL="0">
              <a:buNone/>
            </a:pPr>
            <a:r>
              <a:rPr lang="en-US" sz="1400" i="1" baseline="-40000" dirty="0">
                <a:solidFill>
                  <a:srgbClr val="1B2638"/>
                </a:solidFill>
                <a:latin typeface="+mj-lt" pitchFamily="34" charset="0"/>
                <a:ea typeface="+mj-lt" pitchFamily="34" charset="-122"/>
                <a:cs typeface="+mj-lt" pitchFamily="34" charset="-120"/>
              </a:rPr>
              <a:t>m</a:t>
            </a:r>
            <a:pPr indent="0" marL="0">
              <a:buNone/>
            </a:pPr>
            <a:r>
              <a:rPr lang="en-US" sz="1400" dirty="0">
                <a:solidFill>
                  <a:srgbClr val="1B2638"/>
                </a:solidFill>
              </a:rPr>
              <a:t> maximizes </a:t>
            </a:r>
            <a:pPr indent="0" marL="0">
              <a:buNone/>
            </a:pPr>
            <a:r>
              <a:rPr lang="en-US" sz="1400" i="1" dirty="0">
                <a:solidFill>
                  <a:srgbClr val="1B2638"/>
                </a:solidFill>
                <a:latin typeface="+mj-lt" pitchFamily="34" charset="0"/>
                <a:ea typeface="+mj-lt" pitchFamily="34" charset="-122"/>
                <a:cs typeface="+mj-lt" pitchFamily="34" charset="-120"/>
              </a:rPr>
              <a:t>κ</a:t>
            </a:r>
            <a:pPr indent="0" marL="0">
              <a:buNone/>
            </a:pPr>
            <a:r>
              <a:rPr lang="en-US" sz="1400" i="1" baseline="-40000" dirty="0">
                <a:solidFill>
                  <a:srgbClr val="1B2638"/>
                </a:solidFill>
                <a:latin typeface="+mj-lt" pitchFamily="34" charset="0"/>
                <a:ea typeface="+mj-lt" pitchFamily="34" charset="-122"/>
                <a:cs typeface="+mj-lt" pitchFamily="34" charset="-120"/>
              </a:rPr>
              <a:t>m</a:t>
            </a:r>
            <a:pPr indent="0" marL="0">
              <a:buNone/>
            </a:pPr>
            <a:r>
              <a:rPr lang="en-US" sz="1400" baseline="30000" dirty="0">
                <a:solidFill>
                  <a:srgbClr val="1B2638"/>
                </a:solidFill>
                <a:latin typeface="+mj-lt" pitchFamily="34" charset="0"/>
                <a:ea typeface="+mj-lt" pitchFamily="34" charset="-122"/>
                <a:cs typeface="+mj-lt" pitchFamily="34" charset="-120"/>
              </a:rPr>
              <a:t>2</a:t>
            </a:r>
            <a:pPr indent="0" marL="0">
              <a:buNone/>
            </a:pPr>
            <a:r>
              <a:rPr lang="en-US" sz="1400" dirty="0">
                <a:solidFill>
                  <a:srgbClr val="1B2638"/>
                </a:solidFill>
                <a:latin typeface="+mj-lt" pitchFamily="34" charset="0"/>
                <a:ea typeface="+mj-lt" pitchFamily="34" charset="-122"/>
                <a:cs typeface="+mj-lt" pitchFamily="34" charset="-120"/>
              </a:rPr>
              <a:t>/</a:t>
            </a:r>
            <a:pPr indent="0" marL="0">
              <a:buNone/>
            </a:pPr>
            <a:r>
              <a:rPr lang="en-US" sz="1400" i="1" dirty="0">
                <a:solidFill>
                  <a:srgbClr val="1B2638"/>
                </a:solidFill>
                <a:latin typeface="+mj-lt" pitchFamily="34" charset="0"/>
                <a:ea typeface="+mj-lt" pitchFamily="34" charset="-122"/>
                <a:cs typeface="+mj-lt" pitchFamily="34" charset="-120"/>
              </a:rPr>
              <a:t>σ</a:t>
            </a:r>
            <a:pPr indent="0" marL="0">
              <a:buNone/>
            </a:pPr>
            <a:r>
              <a:rPr lang="en-US" sz="1400" i="1" baseline="-40000" dirty="0">
                <a:solidFill>
                  <a:srgbClr val="1B2638"/>
                </a:solidFill>
                <a:latin typeface="+mj-lt" pitchFamily="34" charset="0"/>
                <a:ea typeface="+mj-lt" pitchFamily="34" charset="-122"/>
                <a:cs typeface="+mj-lt" pitchFamily="34" charset="-120"/>
              </a:rPr>
              <a:t>m</a:t>
            </a:r>
            <a:pPr indent="0" marL="0">
              <a:buNone/>
            </a:pPr>
            <a:r>
              <a:rPr lang="en-US" sz="1400" baseline="30000" dirty="0">
                <a:solidFill>
                  <a:srgbClr val="1B2638"/>
                </a:solidFill>
                <a:latin typeface="+mj-lt" pitchFamily="34" charset="0"/>
                <a:ea typeface="+mj-lt" pitchFamily="34" charset="-122"/>
                <a:cs typeface="+mj-lt" pitchFamily="34" charset="-120"/>
              </a:rPr>
              <a:t>2</a:t>
            </a:r>
            <a:pPr indent="0" marL="0">
              <a:buNone/>
            </a:pPr>
            <a:r>
              <a:rPr lang="en-US" sz="1400" dirty="0">
                <a:solidFill>
                  <a:srgbClr val="1B2638"/>
                </a:solidFill>
              </a:rPr>
              <a:t>; for fixed LOs the precoder </a:t>
            </a:r>
            <a:pPr indent="0" marL="0">
              <a:buNone/>
            </a:pPr>
            <a:r>
              <a:rPr lang="en-US" sz="1400" b="1" dirty="0">
                <a:solidFill>
                  <a:srgbClr val="1B2638"/>
                </a:solidFill>
                <a:latin typeface="+mj-lt" pitchFamily="34" charset="0"/>
                <a:ea typeface="+mj-lt" pitchFamily="34" charset="-122"/>
                <a:cs typeface="+mj-lt" pitchFamily="34" charset="-120"/>
              </a:rPr>
              <a:t>w</a:t>
            </a:r>
            <a:pPr indent="0" marL="0">
              <a:buNone/>
            </a:pPr>
            <a:r>
              <a:rPr lang="en-US" sz="1400" dirty="0">
                <a:solidFill>
                  <a:srgbClr val="1B2638"/>
                </a:solidFill>
              </a:rPr>
              <a:t> is a convex SOCP. Alternate.</a:t>
            </a:r>
            <a:endParaRPr lang="en-US" sz="1400" dirty="0"/>
          </a:p>
        </p:txBody>
      </p:sp>
      <p:sp>
        <p:nvSpPr>
          <p:cNvPr id="19" name="step-card-187"/>
          <p:cNvSpPr/>
          <p:nvPr/>
        </p:nvSpPr>
        <p:spPr>
          <a:xfrm>
            <a:off x="8097317" y="4224528"/>
            <a:ext cx="3545738" cy="1810512"/>
          </a:xfrm>
          <a:prstGeom prst="roundRect">
            <a:avLst>
              <a:gd name="adj" fmla="val 5051"/>
            </a:avLst>
          </a:prstGeom>
          <a:solidFill>
            <a:srgbClr val="EFEAFC"/>
          </a:solidFill>
          <a:ln w="9525">
            <a:solidFill>
              <a:srgbClr val="EFEAFC"/>
            </a:solidFill>
            <a:prstDash val="solid"/>
          </a:ln>
        </p:spPr>
      </p:sp>
      <p:sp>
        <p:nvSpPr>
          <p:cNvPr id="20" name="icon-bg-188"/>
          <p:cNvSpPr/>
          <p:nvPr/>
        </p:nvSpPr>
        <p:spPr>
          <a:xfrm>
            <a:off x="8298485" y="4425696"/>
            <a:ext cx="420624" cy="420624"/>
          </a:xfrm>
          <a:prstGeom prst="ellipse">
            <a:avLst/>
          </a:prstGeom>
          <a:solidFill>
            <a:schemeClr val="accent3"/>
          </a:solidFill>
          <a:ln w="6350">
            <a:solidFill>
              <a:schemeClr val="accent3"/>
            </a:solidFill>
            <a:prstDash val="solid"/>
          </a:ln>
        </p:spPr>
      </p:sp>
      <p:pic>
        <p:nvPicPr>
          <p:cNvPr id="21" name="icon-189" descr="Icon: focus 2">    </p:cNvPr>
          <p:cNvPicPr>
            <a:picLocks noChangeAspect="1"/>
          </p:cNvPicPr>
          <p:nvPr/>
        </p:nvPicPr>
        <p:blipFill>
          <a:blip r:embed="rId5"/>
          <a:stretch>
            <a:fillRect/>
          </a:stretch>
        </p:blipFill>
        <p:spPr>
          <a:xfrm>
            <a:off x="8391022" y="4518233"/>
            <a:ext cx="235549" cy="235549"/>
          </a:xfrm>
          <a:prstGeom prst="rect">
            <a:avLst/>
          </a:prstGeom>
        </p:spPr>
      </p:pic>
      <p:sp>
        <p:nvSpPr>
          <p:cNvPr id="22" name="step-head-190"/>
          <p:cNvSpPr/>
          <p:nvPr/>
        </p:nvSpPr>
        <p:spPr>
          <a:xfrm>
            <a:off x="8847125" y="4407408"/>
            <a:ext cx="2631338" cy="457200"/>
          </a:xfrm>
          <a:prstGeom prst="rect">
            <a:avLst/>
          </a:prstGeom>
          <a:noFill/>
          <a:ln/>
        </p:spPr>
        <p:txBody>
          <a:bodyPr wrap="square" lIns="0" tIns="0" rIns="0" bIns="0" rtlCol="0" anchor="ctr"/>
          <a:lstStyle/>
          <a:p>
            <a:pPr indent="0" marL="0">
              <a:buNone/>
            </a:pPr>
            <a:r>
              <a:rPr lang="en-US" sz="1500" b="1" dirty="0">
                <a:solidFill>
                  <a:srgbClr val="0B1E3F"/>
                </a:solidFill>
              </a:rPr>
              <a:t>3  Biased phase-retrieval detection</a:t>
            </a:r>
            <a:endParaRPr lang="en-US" sz="1500" dirty="0"/>
          </a:p>
        </p:txBody>
      </p:sp>
      <p:sp>
        <p:nvSpPr>
          <p:cNvPr id="23" name="step-body-191"/>
          <p:cNvSpPr/>
          <p:nvPr/>
        </p:nvSpPr>
        <p:spPr>
          <a:xfrm>
            <a:off x="8298485" y="4974336"/>
            <a:ext cx="3161690" cy="969264"/>
          </a:xfrm>
          <a:prstGeom prst="rect">
            <a:avLst/>
          </a:prstGeom>
          <a:noFill/>
          <a:ln/>
        </p:spPr>
        <p:txBody>
          <a:bodyPr wrap="square" lIns="0" tIns="0" rIns="0" bIns="0" rtlCol="0" anchor="t"/>
          <a:lstStyle/>
          <a:p>
            <a:pPr indent="0" marL="0">
              <a:buNone/>
            </a:pPr>
            <a:r>
              <a:rPr lang="en-US" sz="1400" dirty="0">
                <a:solidFill>
                  <a:srgbClr val="1B2638"/>
                </a:solidFill>
              </a:rPr>
              <a:t>EM-based Gerchberg–Saxton (EM-GS) handles the residual nonlinearity to recover ŝ [9].</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Simulation Results</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Atomic reception stretches the usable slant range, but only if the LO amplitude is chosen well.</a:t>
            </a:r>
            <a:endParaRPr lang="en-US" sz="1600" dirty="0"/>
          </a:p>
        </p:txBody>
      </p:sp>
      <p:sp>
        <p:nvSpPr>
          <p:cNvPr id="5" name="chart-card-192"/>
          <p:cNvSpPr/>
          <p:nvPr/>
        </p:nvSpPr>
        <p:spPr>
          <a:xfrm>
            <a:off x="548640" y="1755648"/>
            <a:ext cx="5431536" cy="3291840"/>
          </a:xfrm>
          <a:prstGeom prst="roundRect">
            <a:avLst>
              <a:gd name="adj" fmla="val 2778"/>
            </a:avLst>
          </a:prstGeom>
          <a:solidFill>
            <a:srgbClr val="FFFFFF"/>
          </a:solidFill>
          <a:ln w="9525">
            <a:solidFill>
              <a:srgbClr val="E1E7EF"/>
            </a:solidFill>
            <a:prstDash val="solid"/>
          </a:ln>
        </p:spPr>
      </p:sp>
      <p:sp>
        <p:nvSpPr>
          <p:cNvPr id="6" name="chart-title-193"/>
          <p:cNvSpPr/>
          <p:nvPr/>
        </p:nvSpPr>
        <p:spPr>
          <a:xfrm>
            <a:off x="749808" y="1865376"/>
            <a:ext cx="5029200" cy="310896"/>
          </a:xfrm>
          <a:prstGeom prst="rect">
            <a:avLst/>
          </a:prstGeom>
          <a:noFill/>
          <a:ln/>
        </p:spPr>
        <p:txBody>
          <a:bodyPr wrap="square" lIns="0" tIns="0" rIns="0" bIns="0" rtlCol="0" anchor="ctr"/>
          <a:lstStyle/>
          <a:p>
            <a:pPr indent="0" marL="0">
              <a:buNone/>
            </a:pPr>
            <a:r>
              <a:rPr lang="en-US" sz="1500" b="1" dirty="0">
                <a:solidFill>
                  <a:srgbClr val="0B1E3F"/>
                </a:solidFill>
              </a:rPr>
              <a:t>Achievable rate vs. slant range</a:t>
            </a:r>
            <a:endParaRPr lang="en-US" sz="1500" dirty="0"/>
          </a:p>
        </p:txBody>
      </p:sp>
      <p:graphicFrame>
        <p:nvGraphicFramePr>
          <p:cNvPr id="7" name="chart-194" descr=""/>
          <p:cNvGraphicFramePr/>
          <p:nvPr/>
        </p:nvGraphicFramePr>
        <p:xfrm>
          <a:off x="640080" y="2212848"/>
          <a:ext cx="5248656" cy="2743200"/>
        </p:xfrm>
        <a:graphic xmlns:a="http://schemas.openxmlformats.org/drawingml/2006/main">
          <a:graphicData uri="http://schemas.openxmlformats.org/drawingml/2006/chart">
            <c:chart xmlns:c="http://schemas.openxmlformats.org/drawingml/2006/chart" r:id="rId1"/>
          </a:graphicData>
        </a:graphic>
      </p:graphicFrame>
      <p:sp>
        <p:nvSpPr>
          <p:cNvPr id="8" name="chart-card-195"/>
          <p:cNvSpPr/>
          <p:nvPr/>
        </p:nvSpPr>
        <p:spPr>
          <a:xfrm>
            <a:off x="6208776" y="1755648"/>
            <a:ext cx="5431536" cy="3291840"/>
          </a:xfrm>
          <a:prstGeom prst="roundRect">
            <a:avLst>
              <a:gd name="adj" fmla="val 2778"/>
            </a:avLst>
          </a:prstGeom>
          <a:solidFill>
            <a:srgbClr val="FFFFFF"/>
          </a:solidFill>
          <a:ln w="9525">
            <a:solidFill>
              <a:srgbClr val="E1E7EF"/>
            </a:solidFill>
            <a:prstDash val="solid"/>
          </a:ln>
        </p:spPr>
      </p:sp>
      <p:sp>
        <p:nvSpPr>
          <p:cNvPr id="9" name="chart-title-196"/>
          <p:cNvSpPr/>
          <p:nvPr/>
        </p:nvSpPr>
        <p:spPr>
          <a:xfrm>
            <a:off x="6409944" y="1865376"/>
            <a:ext cx="5029200" cy="310896"/>
          </a:xfrm>
          <a:prstGeom prst="rect">
            <a:avLst/>
          </a:prstGeom>
          <a:noFill/>
          <a:ln/>
        </p:spPr>
        <p:txBody>
          <a:bodyPr wrap="square" lIns="0" tIns="0" rIns="0" bIns="0" rtlCol="0" anchor="ctr"/>
          <a:lstStyle/>
          <a:p>
            <a:pPr indent="0" marL="0">
              <a:buNone/>
            </a:pPr>
            <a:r>
              <a:rPr lang="en-US" sz="1500" b="1" dirty="0">
                <a:solidFill>
                  <a:srgbClr val="0B1E3F"/>
                </a:solidFill>
              </a:rPr>
              <a:t>Output SNR vs. LO amplitude</a:t>
            </a:r>
            <a:endParaRPr lang="en-US" sz="1500" dirty="0"/>
          </a:p>
        </p:txBody>
      </p:sp>
      <p:graphicFrame>
        <p:nvGraphicFramePr>
          <p:cNvPr id="10" name="chart-197" descr=""/>
          <p:cNvGraphicFramePr/>
          <p:nvPr/>
        </p:nvGraphicFramePr>
        <p:xfrm>
          <a:off x="6300216" y="2212848"/>
          <a:ext cx="5248656" cy="2743200"/>
        </p:xfrm>
        <a:graphic xmlns:a="http://schemas.openxmlformats.org/drawingml/2006/main">
          <a:graphicData uri="http://schemas.openxmlformats.org/drawingml/2006/chart">
            <c:chart xmlns:c="http://schemas.openxmlformats.org/drawingml/2006/chart" r:id="rId2"/>
          </a:graphicData>
        </a:graphic>
      </p:graphicFrame>
      <p:sp>
        <p:nvSpPr>
          <p:cNvPr id="11" name="caption-198"/>
          <p:cNvSpPr/>
          <p:nvPr/>
        </p:nvSpPr>
        <p:spPr>
          <a:xfrm>
            <a:off x="548640" y="5120640"/>
            <a:ext cx="7223760" cy="256032"/>
          </a:xfrm>
          <a:prstGeom prst="rect">
            <a:avLst/>
          </a:prstGeom>
          <a:noFill/>
          <a:ln/>
        </p:spPr>
        <p:txBody>
          <a:bodyPr wrap="square" lIns="0" tIns="0" rIns="0" bIns="0" rtlCol="0" anchor="ctr"/>
          <a:lstStyle/>
          <a:p>
            <a:pPr algn="l" indent="0" marL="0">
              <a:buNone/>
            </a:pPr>
            <a:r>
              <a:rPr lang="en-US" sz="1100" i="1" dirty="0">
                <a:solidFill>
                  <a:srgbClr val="5B6880"/>
                </a:solidFill>
              </a:rPr>
              <a:t>Setup: LEO downlink, free-space loss, conventional front-end SNR 8 dB at 500 km; LO amplitude normalized to its optimum.</a:t>
            </a:r>
            <a:endParaRPr lang="en-US" sz="1100" dirty="0"/>
          </a:p>
        </p:txBody>
      </p:sp>
      <p:sp>
        <p:nvSpPr>
          <p:cNvPr id="12" name="illustrative-tag-199"/>
          <p:cNvSpPr/>
          <p:nvPr/>
        </p:nvSpPr>
        <p:spPr>
          <a:xfrm>
            <a:off x="8214055" y="5120640"/>
            <a:ext cx="3429000" cy="256032"/>
          </a:xfrm>
          <a:prstGeom prst="roundRect">
            <a:avLst>
              <a:gd name="adj" fmla="val 50000"/>
            </a:avLst>
          </a:prstGeom>
          <a:solidFill>
            <a:srgbClr val="FFF7E3"/>
          </a:solidFill>
          <a:ln w="9525">
            <a:solidFill>
              <a:srgbClr val="F2B53A"/>
            </a:solidFill>
          </a:ln>
        </p:spPr>
        <p:txBody>
          <a:bodyPr wrap="square" lIns="0" tIns="0" rIns="0" bIns="0" rtlCol="0" anchor="ctr"/>
          <a:lstStyle/>
          <a:p>
            <a:pPr algn="ctr" indent="0" marL="0">
              <a:buNone/>
            </a:pPr>
            <a:r>
              <a:rPr lang="en-US" sz="1000" b="1" dirty="0">
                <a:solidFill>
                  <a:srgbClr val="B9821A"/>
                </a:solidFill>
              </a:rPr>
              <a:t>ILLUSTRATIVE DATA · replace with your results</a:t>
            </a:r>
            <a:endParaRPr lang="en-US" sz="1000" dirty="0"/>
          </a:p>
        </p:txBody>
      </p:sp>
      <p:sp>
        <p:nvSpPr>
          <p:cNvPr id="13" name="stat-200"/>
          <p:cNvSpPr/>
          <p:nvPr/>
        </p:nvSpPr>
        <p:spPr>
          <a:xfrm>
            <a:off x="548640" y="5486400"/>
            <a:ext cx="3576218" cy="731520"/>
          </a:xfrm>
          <a:prstGeom prst="roundRect">
            <a:avLst>
              <a:gd name="adj" fmla="val 12500"/>
            </a:avLst>
          </a:prstGeom>
          <a:solidFill>
            <a:srgbClr val="EFEAFC"/>
          </a:solidFill>
          <a:ln w="9525">
            <a:solidFill>
              <a:srgbClr val="EFEAFC"/>
            </a:solidFill>
            <a:prstDash val="solid"/>
          </a:ln>
        </p:spPr>
      </p:sp>
      <p:sp>
        <p:nvSpPr>
          <p:cNvPr id="14" name="stat-value-201"/>
          <p:cNvSpPr/>
          <p:nvPr/>
        </p:nvSpPr>
        <p:spPr>
          <a:xfrm>
            <a:off x="731520" y="5486400"/>
            <a:ext cx="1325880" cy="731520"/>
          </a:xfrm>
          <a:prstGeom prst="rect">
            <a:avLst/>
          </a:prstGeom>
          <a:noFill/>
          <a:ln/>
        </p:spPr>
        <p:txBody>
          <a:bodyPr wrap="square" lIns="0" tIns="0" rIns="0" bIns="0" rtlCol="0" anchor="ctr"/>
          <a:lstStyle/>
          <a:p>
            <a:pPr indent="0" marL="0">
              <a:buNone/>
            </a:pPr>
            <a:r>
              <a:rPr lang="en-US" sz="2800" b="1" dirty="0">
                <a:solidFill>
                  <a:srgbClr val="5F37BE"/>
                </a:solidFill>
                <a:latin typeface="+mj-lt" pitchFamily="34" charset="0"/>
                <a:ea typeface="+mj-lt" pitchFamily="34" charset="-122"/>
                <a:cs typeface="+mj-lt" pitchFamily="34" charset="-120"/>
              </a:rPr>
              <a:t>+10 dB</a:t>
            </a:r>
            <a:endParaRPr lang="en-US" sz="2800" dirty="0"/>
          </a:p>
        </p:txBody>
      </p:sp>
      <p:sp>
        <p:nvSpPr>
          <p:cNvPr id="15" name="stat-label-202"/>
          <p:cNvSpPr/>
          <p:nvPr/>
        </p:nvSpPr>
        <p:spPr>
          <a:xfrm>
            <a:off x="2103120"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SNR over a conventional RF front end</a:t>
            </a:r>
            <a:endParaRPr lang="en-US" sz="1400" dirty="0"/>
          </a:p>
        </p:txBody>
      </p:sp>
      <p:sp>
        <p:nvSpPr>
          <p:cNvPr id="16" name="stat-203"/>
          <p:cNvSpPr/>
          <p:nvPr/>
        </p:nvSpPr>
        <p:spPr>
          <a:xfrm>
            <a:off x="4307738" y="5486400"/>
            <a:ext cx="3576218" cy="731520"/>
          </a:xfrm>
          <a:prstGeom prst="roundRect">
            <a:avLst>
              <a:gd name="adj" fmla="val 12500"/>
            </a:avLst>
          </a:prstGeom>
          <a:solidFill>
            <a:srgbClr val="EFEAFC"/>
          </a:solidFill>
          <a:ln w="9525">
            <a:solidFill>
              <a:srgbClr val="EFEAFC"/>
            </a:solidFill>
            <a:prstDash val="solid"/>
          </a:ln>
        </p:spPr>
      </p:sp>
      <p:sp>
        <p:nvSpPr>
          <p:cNvPr id="17" name="stat-value-204"/>
          <p:cNvSpPr/>
          <p:nvPr/>
        </p:nvSpPr>
        <p:spPr>
          <a:xfrm>
            <a:off x="4490618" y="5486400"/>
            <a:ext cx="1325880" cy="731520"/>
          </a:xfrm>
          <a:prstGeom prst="rect">
            <a:avLst/>
          </a:prstGeom>
          <a:noFill/>
          <a:ln/>
        </p:spPr>
        <p:txBody>
          <a:bodyPr wrap="square" lIns="0" tIns="0" rIns="0" bIns="0" rtlCol="0" anchor="ctr"/>
          <a:lstStyle/>
          <a:p>
            <a:pPr indent="0" marL="0">
              <a:buNone/>
            </a:pPr>
            <a:r>
              <a:rPr lang="en-US" sz="2800" b="1" dirty="0">
                <a:solidFill>
                  <a:srgbClr val="5F37BE"/>
                </a:solidFill>
                <a:latin typeface="+mj-lt" pitchFamily="34" charset="0"/>
                <a:ea typeface="+mj-lt" pitchFamily="34" charset="-122"/>
                <a:cs typeface="+mj-lt" pitchFamily="34" charset="-120"/>
              </a:rPr>
              <a:t>4.8×</a:t>
            </a:r>
            <a:endParaRPr lang="en-US" sz="2800" dirty="0"/>
          </a:p>
        </p:txBody>
      </p:sp>
      <p:sp>
        <p:nvSpPr>
          <p:cNvPr id="18" name="stat-label-205"/>
          <p:cNvSpPr/>
          <p:nvPr/>
        </p:nvSpPr>
        <p:spPr>
          <a:xfrm>
            <a:off x="5862218"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rate at 2,000 km slant range</a:t>
            </a:r>
            <a:endParaRPr lang="en-US" sz="1400" dirty="0"/>
          </a:p>
        </p:txBody>
      </p:sp>
      <p:sp>
        <p:nvSpPr>
          <p:cNvPr id="19" name="stat-206"/>
          <p:cNvSpPr/>
          <p:nvPr/>
        </p:nvSpPr>
        <p:spPr>
          <a:xfrm>
            <a:off x="8066837" y="5486400"/>
            <a:ext cx="3576218" cy="731520"/>
          </a:xfrm>
          <a:prstGeom prst="roundRect">
            <a:avLst>
              <a:gd name="adj" fmla="val 12500"/>
            </a:avLst>
          </a:prstGeom>
          <a:solidFill>
            <a:srgbClr val="EFEAFC"/>
          </a:solidFill>
          <a:ln w="9525">
            <a:solidFill>
              <a:srgbClr val="EFEAFC"/>
            </a:solidFill>
            <a:prstDash val="solid"/>
          </a:ln>
        </p:spPr>
      </p:sp>
      <p:sp>
        <p:nvSpPr>
          <p:cNvPr id="20" name="stat-value-207"/>
          <p:cNvSpPr/>
          <p:nvPr/>
        </p:nvSpPr>
        <p:spPr>
          <a:xfrm>
            <a:off x="8249717" y="5486400"/>
            <a:ext cx="1325880" cy="731520"/>
          </a:xfrm>
          <a:prstGeom prst="rect">
            <a:avLst/>
          </a:prstGeom>
          <a:noFill/>
          <a:ln/>
        </p:spPr>
        <p:txBody>
          <a:bodyPr wrap="square" lIns="0" tIns="0" rIns="0" bIns="0" rtlCol="0" anchor="ctr"/>
          <a:lstStyle/>
          <a:p>
            <a:pPr indent="0" marL="0">
              <a:buNone/>
            </a:pPr>
            <a:r>
              <a:rPr lang="en-US" sz="2800" b="1" dirty="0">
                <a:solidFill>
                  <a:srgbClr val="5F37BE"/>
                </a:solidFill>
                <a:latin typeface="+mj-lt" pitchFamily="34" charset="0"/>
                <a:ea typeface="+mj-lt" pitchFamily="34" charset="-122"/>
                <a:cs typeface="+mj-lt" pitchFamily="34" charset="-120"/>
              </a:rPr>
              <a:t>−10 dB</a:t>
            </a:r>
            <a:endParaRPr lang="en-US" sz="2800" dirty="0"/>
          </a:p>
        </p:txBody>
      </p:sp>
      <p:sp>
        <p:nvSpPr>
          <p:cNvPr id="21" name="stat-label-208"/>
          <p:cNvSpPr/>
          <p:nvPr/>
        </p:nvSpPr>
        <p:spPr>
          <a:xfrm>
            <a:off x="9621317"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if the LO is 5× too strong</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685800" y="3090672"/>
            <a:ext cx="6949440" cy="1417320"/>
          </a:xfrm>
          <a:prstGeom prst="rect">
            <a:avLst/>
          </a:prstGeom>
          <a:noFill/>
          <a:ln/>
        </p:spPr>
        <p:txBody>
          <a:bodyPr wrap="square" lIns="0" tIns="0" rIns="0" bIns="0" rtlCol="0" anchor="t"/>
          <a:lstStyle/>
          <a:p>
            <a:pPr algn="l" indent="0" marL="0">
              <a:buNone/>
            </a:pPr>
            <a:r>
              <a:rPr lang="en-US" sz="3800" b="1" dirty="0">
                <a:solidFill>
                  <a:srgbClr val="FFFFFF"/>
                </a:solidFill>
                <a:latin typeface="+mj-lt" pitchFamily="34" charset="0"/>
                <a:ea typeface="+mj-lt" pitchFamily="34" charset="-122"/>
                <a:cs typeface="+mj-lt" pitchFamily="34" charset="-120"/>
              </a:rPr>
              <a:t>MADRL and Rate-Splitting Multiple Access for SAGIN</a:t>
            </a:r>
            <a:endParaRPr lang="en-US" sz="3800" dirty="0"/>
          </a:p>
        </p:txBody>
      </p:sp>
      <p:sp>
        <p:nvSpPr>
          <p:cNvPr id="3" name="Text 2"/>
          <p:cNvSpPr/>
          <p:nvPr>
            <p:ph idx="103" type="body" hasCustomPrompt="1"/>
          </p:nvPr>
        </p:nvSpPr>
        <p:spPr>
          <a:xfrm>
            <a:off x="731520" y="4617720"/>
            <a:ext cx="6766560" cy="914400"/>
          </a:xfrm>
          <a:prstGeom prst="rect">
            <a:avLst/>
          </a:prstGeom>
          <a:noFill/>
          <a:ln/>
        </p:spPr>
        <p:txBody>
          <a:bodyPr wrap="square" lIns="0" tIns="0" rIns="0" bIns="0" rtlCol="0" anchor="t"/>
          <a:lstStyle/>
          <a:p>
            <a:pPr algn="l" indent="0" marL="0">
              <a:buNone/>
            </a:pPr>
            <a:r>
              <a:rPr lang="en-US" sz="1600" dirty="0">
                <a:solidFill>
                  <a:srgbClr val="BFD0E6"/>
                </a:solidFill>
              </a:rPr>
              <a:t>System model  ·  Proposed design  ·  Simulation results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System Model</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i="1" dirty="0">
                <a:solidFill>
                  <a:srgbClr val="5B6880"/>
                </a:solidFill>
                <a:latin typeface="+mj-lt" pitchFamily="34" charset="0"/>
                <a:ea typeface="+mj-lt" pitchFamily="34" charset="-122"/>
                <a:cs typeface="+mj-lt" pitchFamily="34" charset="-120"/>
              </a:rPr>
              <a:t>J</a:t>
            </a:r>
            <a:pPr algn="l" indent="0" marL="0">
              <a:buNone/>
            </a:pPr>
            <a:r>
              <a:rPr lang="en-US" sz="1600" dirty="0">
                <a:solidFill>
                  <a:srgbClr val="5B6880"/>
                </a:solidFill>
              </a:rPr>
              <a:t> UAVs with LEO backhaul serve </a:t>
            </a:r>
            <a:pPr algn="l" indent="0" marL="0">
              <a:buNone/>
            </a:pPr>
            <a:r>
              <a:rPr lang="en-US" sz="1600" i="1" dirty="0">
                <a:solidFill>
                  <a:srgbClr val="5B6880"/>
                </a:solidFill>
                <a:latin typeface="+mj-lt" pitchFamily="34" charset="0"/>
                <a:ea typeface="+mj-lt" pitchFamily="34" charset="-122"/>
                <a:cs typeface="+mj-lt" pitchFamily="34" charset="-120"/>
              </a:rPr>
              <a:t>K</a:t>
            </a:r>
            <a:pPr algn="l" indent="0" marL="0">
              <a:buNone/>
            </a:pPr>
            <a:r>
              <a:rPr lang="en-US" sz="1600" dirty="0">
                <a:solidFill>
                  <a:srgbClr val="5B6880"/>
                </a:solidFill>
              </a:rPr>
              <a:t> ground users with RSMA; each UAV is an agent that moves and allocates power on its own.</a:t>
            </a:r>
            <a:endParaRPr lang="en-US" sz="1600" dirty="0"/>
          </a:p>
        </p:txBody>
      </p:sp>
      <p:pic>
        <p:nvPicPr>
          <p:cNvPr id="5" name="figure-209" descr="System model: LEO backhaul to three UAV agents, each serving a cluster of ground users, with trajectories, a minimum-distance constraint and inter-UAV interference.">    </p:cNvPr>
          <p:cNvPicPr>
            <a:picLocks noChangeAspect="1"/>
          </p:cNvPicPr>
          <p:nvPr/>
        </p:nvPicPr>
        <p:blipFill>
          <a:blip r:embed="rId1"/>
          <a:stretch>
            <a:fillRect/>
          </a:stretch>
        </p:blipFill>
        <p:spPr>
          <a:xfrm>
            <a:off x="548640" y="1755648"/>
            <a:ext cx="4846320" cy="3877056"/>
          </a:xfrm>
          <a:prstGeom prst="rect">
            <a:avLst/>
          </a:prstGeom>
        </p:spPr>
      </p:pic>
      <p:sp>
        <p:nvSpPr>
          <p:cNvPr id="6" name="caption-210"/>
          <p:cNvSpPr/>
          <p:nvPr/>
        </p:nvSpPr>
        <p:spPr>
          <a:xfrm>
            <a:off x="548640" y="5705856"/>
            <a:ext cx="4846320" cy="256032"/>
          </a:xfrm>
          <a:prstGeom prst="rect">
            <a:avLst/>
          </a:prstGeom>
          <a:noFill/>
          <a:ln/>
        </p:spPr>
        <p:txBody>
          <a:bodyPr wrap="square" lIns="0" tIns="0" rIns="0" bIns="0" rtlCol="0" anchor="ctr"/>
          <a:lstStyle/>
          <a:p>
            <a:pPr algn="l" indent="0" marL="0">
              <a:buNone/>
            </a:pPr>
            <a:r>
              <a:rPr lang="en-US" sz="1100" i="1" dirty="0">
                <a:solidFill>
                  <a:srgbClr val="5B6880"/>
                </a:solidFill>
              </a:rPr>
              <a:t>Fig. Multi-UAV RSMA network with LEO backhaul; one agent per UAV.</a:t>
            </a:r>
            <a:endParaRPr lang="en-US" sz="1100" dirty="0"/>
          </a:p>
        </p:txBody>
      </p:sp>
      <p:sp>
        <p:nvSpPr>
          <p:cNvPr id="7" name="math-card-211"/>
          <p:cNvSpPr/>
          <p:nvPr/>
        </p:nvSpPr>
        <p:spPr>
          <a:xfrm>
            <a:off x="5669280" y="1755648"/>
            <a:ext cx="5971032" cy="954359"/>
          </a:xfrm>
          <a:prstGeom prst="roundRect">
            <a:avLst>
              <a:gd name="adj" fmla="val 9581"/>
            </a:avLst>
          </a:prstGeom>
          <a:solidFill>
            <a:srgbClr val="F6F8FB"/>
          </a:solidFill>
          <a:ln w="9525">
            <a:solidFill>
              <a:srgbClr val="E1E7EF"/>
            </a:solidFill>
            <a:prstDash val="solid"/>
          </a:ln>
        </p:spPr>
      </p:sp>
      <p:sp>
        <p:nvSpPr>
          <p:cNvPr id="8" name="math-label-212"/>
          <p:cNvSpPr/>
          <p:nvPr/>
        </p:nvSpPr>
        <p:spPr>
          <a:xfrm>
            <a:off x="5852160" y="1856232"/>
            <a:ext cx="5605272" cy="237744"/>
          </a:xfrm>
          <a:prstGeom prst="rect">
            <a:avLst/>
          </a:prstGeom>
          <a:noFill/>
          <a:ln/>
        </p:spPr>
        <p:txBody>
          <a:bodyPr wrap="square" lIns="0" tIns="0" rIns="0" bIns="0" rtlCol="0" anchor="ctr"/>
          <a:lstStyle/>
          <a:p>
            <a:pPr indent="0" marL="0">
              <a:buNone/>
            </a:pPr>
            <a:r>
              <a:rPr lang="en-US" sz="1250" b="1" dirty="0">
                <a:solidFill>
                  <a:srgbClr val="B85F12"/>
                </a:solidFill>
              </a:rPr>
              <a:t>Air-to-ground Rician channel (</a:t>
            </a:r>
            <a:pPr indent="0" marL="0">
              <a:buNone/>
            </a:pPr>
            <a:r>
              <a:rPr lang="en-US" sz="1250" b="1" i="1" dirty="0">
                <a:solidFill>
                  <a:srgbClr val="B85F12"/>
                </a:solidFill>
                <a:latin typeface="+mj-lt" pitchFamily="34" charset="0"/>
                <a:ea typeface="+mj-lt" pitchFamily="34" charset="-122"/>
                <a:cs typeface="+mj-lt" pitchFamily="34" charset="-120"/>
              </a:rPr>
              <a:t>d</a:t>
            </a:r>
            <a:pPr indent="0" marL="0">
              <a:buNone/>
            </a:pPr>
            <a:r>
              <a:rPr lang="en-US" sz="1250" b="1" i="1" baseline="-40000" dirty="0">
                <a:solidFill>
                  <a:srgbClr val="B85F12"/>
                </a:solidFill>
                <a:latin typeface="+mj-lt" pitchFamily="34" charset="0"/>
                <a:ea typeface="+mj-lt" pitchFamily="34" charset="-122"/>
                <a:cs typeface="+mj-lt" pitchFamily="34" charset="-120"/>
              </a:rPr>
              <a:t>j</a:t>
            </a:r>
            <a:pPr indent="0" marL="0">
              <a:buNone/>
            </a:pPr>
            <a:r>
              <a:rPr lang="en-US" sz="1250" b="1" baseline="-40000" dirty="0">
                <a:solidFill>
                  <a:srgbClr val="B85F12"/>
                </a:solidFill>
                <a:latin typeface="+mj-lt" pitchFamily="34" charset="0"/>
                <a:ea typeface="+mj-lt" pitchFamily="34" charset="-122"/>
                <a:cs typeface="+mj-lt" pitchFamily="34" charset="-120"/>
              </a:rPr>
              <a:t>,</a:t>
            </a:r>
            <a:pPr indent="0" marL="0">
              <a:buNone/>
            </a:pPr>
            <a:r>
              <a:rPr lang="en-US" sz="1250" b="1" i="1" baseline="-40000" dirty="0">
                <a:solidFill>
                  <a:srgbClr val="B85F12"/>
                </a:solidFill>
                <a:latin typeface="+mj-lt" pitchFamily="34" charset="0"/>
                <a:ea typeface="+mj-lt" pitchFamily="34" charset="-122"/>
                <a:cs typeface="+mj-lt" pitchFamily="34" charset="-120"/>
              </a:rPr>
              <a:t>k</a:t>
            </a:r>
            <a:pPr indent="0" marL="0">
              <a:buNone/>
            </a:pPr>
            <a:r>
              <a:rPr lang="en-US" sz="1250" b="1" dirty="0">
                <a:solidFill>
                  <a:srgbClr val="B85F12"/>
                </a:solidFill>
              </a:rPr>
              <a:t>: UAV–user distance)</a:t>
            </a:r>
            <a:endParaRPr lang="en-US" sz="1250" dirty="0"/>
          </a:p>
        </p:txBody>
      </p:sp>
      <p:pic>
        <p:nvPicPr>
          <p:cNvPr id="9" name="eq-ma_channel-213" descr="LaTeX: \mathbf{h}_{j,k}(t)=\sqrt{\beta_0\,d_{j,k}^{-\alpha}(t)}\,\Big(\sqrt{\tfrac{K_{\mathrm{R}}}{K_{\mathrm{R}}+1}}\,\mathbf{a}(\theta_{j,k})+\sqrt{\tfrac{1}{K_{\mathrm{R}}+1}}\,\tilde{\mathbf{h}}_{j,k}\Big)">    </p:cNvPr>
          <p:cNvPicPr>
            <a:picLocks noChangeAspect="1"/>
          </p:cNvPicPr>
          <p:nvPr/>
        </p:nvPicPr>
        <p:blipFill>
          <a:blip r:embed="rId2"/>
          <a:stretch>
            <a:fillRect/>
          </a:stretch>
        </p:blipFill>
        <p:spPr>
          <a:xfrm>
            <a:off x="5852160" y="2157984"/>
            <a:ext cx="4967387" cy="424007"/>
          </a:xfrm>
          <a:prstGeom prst="rect">
            <a:avLst/>
          </a:prstGeom>
        </p:spPr>
      </p:pic>
      <p:sp>
        <p:nvSpPr>
          <p:cNvPr id="10" name="math-card-214"/>
          <p:cNvSpPr/>
          <p:nvPr/>
        </p:nvSpPr>
        <p:spPr>
          <a:xfrm>
            <a:off x="5669280" y="2838023"/>
            <a:ext cx="5971032" cy="1151595"/>
          </a:xfrm>
          <a:prstGeom prst="roundRect">
            <a:avLst>
              <a:gd name="adj" fmla="val 7940"/>
            </a:avLst>
          </a:prstGeom>
          <a:solidFill>
            <a:srgbClr val="F6F8FB"/>
          </a:solidFill>
          <a:ln w="9525">
            <a:solidFill>
              <a:srgbClr val="E1E7EF"/>
            </a:solidFill>
            <a:prstDash val="solid"/>
          </a:ln>
        </p:spPr>
      </p:sp>
      <p:sp>
        <p:nvSpPr>
          <p:cNvPr id="11" name="math-label-215"/>
          <p:cNvSpPr/>
          <p:nvPr/>
        </p:nvSpPr>
        <p:spPr>
          <a:xfrm>
            <a:off x="5852160" y="2938607"/>
            <a:ext cx="5605272" cy="237744"/>
          </a:xfrm>
          <a:prstGeom prst="rect">
            <a:avLst/>
          </a:prstGeom>
          <a:noFill/>
          <a:ln/>
        </p:spPr>
        <p:txBody>
          <a:bodyPr wrap="square" lIns="0" tIns="0" rIns="0" bIns="0" rtlCol="0" anchor="ctr"/>
          <a:lstStyle/>
          <a:p>
            <a:pPr indent="0" marL="0">
              <a:buNone/>
            </a:pPr>
            <a:r>
              <a:rPr lang="en-US" sz="1250" b="1" dirty="0">
                <a:solidFill>
                  <a:srgbClr val="B85F12"/>
                </a:solidFill>
              </a:rPr>
              <a:t>Achievable rate of user </a:t>
            </a:r>
            <a:pPr indent="0" marL="0">
              <a:buNone/>
            </a:pPr>
            <a:r>
              <a:rPr lang="en-US" sz="1250" b="1" i="1" dirty="0">
                <a:solidFill>
                  <a:srgbClr val="B85F12"/>
                </a:solidFill>
                <a:latin typeface="+mj-lt" pitchFamily="34" charset="0"/>
                <a:ea typeface="+mj-lt" pitchFamily="34" charset="-122"/>
                <a:cs typeface="+mj-lt" pitchFamily="34" charset="-120"/>
              </a:rPr>
              <a:t>k</a:t>
            </a:r>
            <a:pPr indent="0" marL="0">
              <a:buNone/>
            </a:pPr>
            <a:r>
              <a:rPr lang="en-US" sz="1250" b="1" dirty="0">
                <a:solidFill>
                  <a:srgbClr val="B85F12"/>
                </a:solidFill>
              </a:rPr>
              <a:t> served by UAV </a:t>
            </a:r>
            <a:pPr indent="0" marL="0">
              <a:buNone/>
            </a:pPr>
            <a:r>
              <a:rPr lang="en-US" sz="1250" b="1" i="1" dirty="0">
                <a:solidFill>
                  <a:srgbClr val="B85F12"/>
                </a:solidFill>
                <a:latin typeface="+mj-lt" pitchFamily="34" charset="0"/>
                <a:ea typeface="+mj-lt" pitchFamily="34" charset="-122"/>
                <a:cs typeface="+mj-lt" pitchFamily="34" charset="-120"/>
              </a:rPr>
              <a:t>j</a:t>
            </a:r>
            <a:endParaRPr lang="en-US" sz="1250" dirty="0"/>
          </a:p>
        </p:txBody>
      </p:sp>
      <p:pic>
        <p:nvPicPr>
          <p:cNvPr id="12" name="eq-ma_rate-216" descr="LaTeX: R_k(t)=C_k(t)+\log_2\!\Big(1+\frac{|\mathbf{h}_{j,k}^{H}(t)\,\mathbf{w}_{k}(t)|^2}{I_k^{\mathrm{intra}}(t)+I_k^{\mathrm{inter}}(t)+\sigma^2}\Big)">    </p:cNvPr>
          <p:cNvPicPr>
            <a:picLocks noChangeAspect="1"/>
          </p:cNvPicPr>
          <p:nvPr/>
        </p:nvPicPr>
        <p:blipFill>
          <a:blip r:embed="rId3"/>
          <a:stretch>
            <a:fillRect/>
          </a:stretch>
        </p:blipFill>
        <p:spPr>
          <a:xfrm>
            <a:off x="5852160" y="3240359"/>
            <a:ext cx="4802429" cy="621243"/>
          </a:xfrm>
          <a:prstGeom prst="rect">
            <a:avLst/>
          </a:prstGeom>
        </p:spPr>
      </p:pic>
      <p:sp>
        <p:nvSpPr>
          <p:cNvPr id="13" name="math-card-217"/>
          <p:cNvSpPr/>
          <p:nvPr/>
        </p:nvSpPr>
        <p:spPr>
          <a:xfrm>
            <a:off x="5669280" y="4117635"/>
            <a:ext cx="5971032" cy="1886499"/>
          </a:xfrm>
          <a:prstGeom prst="roundRect">
            <a:avLst>
              <a:gd name="adj" fmla="val 4847"/>
            </a:avLst>
          </a:prstGeom>
          <a:solidFill>
            <a:srgbClr val="F6F8FB"/>
          </a:solidFill>
          <a:ln w="9525">
            <a:solidFill>
              <a:srgbClr val="E1E7EF"/>
            </a:solidFill>
            <a:prstDash val="solid"/>
          </a:ln>
        </p:spPr>
      </p:sp>
      <p:sp>
        <p:nvSpPr>
          <p:cNvPr id="14" name="math-label-218"/>
          <p:cNvSpPr/>
          <p:nvPr/>
        </p:nvSpPr>
        <p:spPr>
          <a:xfrm>
            <a:off x="5852160" y="4218219"/>
            <a:ext cx="5605272" cy="237744"/>
          </a:xfrm>
          <a:prstGeom prst="rect">
            <a:avLst/>
          </a:prstGeom>
          <a:noFill/>
          <a:ln/>
        </p:spPr>
        <p:txBody>
          <a:bodyPr wrap="square" lIns="0" tIns="0" rIns="0" bIns="0" rtlCol="0" anchor="ctr"/>
          <a:lstStyle/>
          <a:p>
            <a:pPr indent="0" marL="0">
              <a:buNone/>
            </a:pPr>
            <a:r>
              <a:rPr lang="en-US" sz="1250" b="1" dirty="0">
                <a:solidFill>
                  <a:srgbClr val="B85F12"/>
                </a:solidFill>
              </a:rPr>
              <a:t>Long-term sum-rate maximization</a:t>
            </a:r>
            <a:endParaRPr lang="en-US" sz="1250" dirty="0"/>
          </a:p>
        </p:txBody>
      </p:sp>
      <p:pic>
        <p:nvPicPr>
          <p:cNvPr id="15" name="eq-ma_problem-219" descr="LaTeX: \begin{aligned} (\mathrm{P3})\ \ \max_{\textcolor{#B85F12}{\mathbf{Q},\,\mathbf{W},\,\mathbf{c}}}\quad &amp; \frac{1}{T}\sum_{t=1}^{T}\sum_{k=1}^{K}R_k(t)\\ \text{s.t.}\quad &amp; \|\mathbf{q}_j(t+1)-\mathbf{q}_j(t)\|\le V_{\max}\Delta t,\quad \|\mathbf{q}_i(t)-\mathbf{q}_j(t)\|\ge d_{\min},\\ &amp; \textstyle\sum_{k\in\mathcal{K}_j}R_k(t)\le C^{\mathrm{sat}}_{j}(t),\quad \mathrm{tr}\big(\mathbf{W}_j\mathbf{W}_j^{H}\big)\le P_{\max},\\ &amp; R_k(t)\ge R_{\min},\quad \forall j,k,t. \end{aligned}">    </p:cNvPr>
          <p:cNvPicPr>
            <a:picLocks noChangeAspect="1"/>
          </p:cNvPicPr>
          <p:nvPr/>
        </p:nvPicPr>
        <p:blipFill>
          <a:blip r:embed="rId4"/>
          <a:stretch>
            <a:fillRect/>
          </a:stretch>
        </p:blipFill>
        <p:spPr>
          <a:xfrm>
            <a:off x="5852160" y="4519971"/>
            <a:ext cx="5605272" cy="1356147"/>
          </a:xfrm>
          <a:prstGeom prst="rect">
            <a:avLst/>
          </a:prstGeom>
        </p:spPr>
      </p:pic>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Proposed Design: MAPPO with a Centralized Critic</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Recast (P3) as a Dec-POMDP and train shared actors with a centralized critic; execution needs only local observations.</a:t>
            </a:r>
            <a:endParaRPr lang="en-US" sz="1600" dirty="0"/>
          </a:p>
        </p:txBody>
      </p:sp>
      <p:pic>
        <p:nvPicPr>
          <p:cNvPr id="5" name="figure-220" descr="MAPPO architecture: decentralized actors with shared weights output movement, power split and common rate; a SAGIN simulator returns observations and rewards; a rollout buffer, central critic and PPO update train the actors.">    </p:cNvPr>
          <p:cNvPicPr>
            <a:picLocks noChangeAspect="1"/>
          </p:cNvPicPr>
          <p:nvPr/>
        </p:nvPicPr>
        <p:blipFill>
          <a:blip r:embed="rId1"/>
          <a:stretch>
            <a:fillRect/>
          </a:stretch>
        </p:blipFill>
        <p:spPr>
          <a:xfrm>
            <a:off x="548640" y="1755648"/>
            <a:ext cx="5852160" cy="2743200"/>
          </a:xfrm>
          <a:prstGeom prst="rect">
            <a:avLst/>
          </a:prstGeom>
        </p:spPr>
      </p:pic>
      <p:sp>
        <p:nvSpPr>
          <p:cNvPr id="6" name="math-card-221"/>
          <p:cNvSpPr/>
          <p:nvPr/>
        </p:nvSpPr>
        <p:spPr>
          <a:xfrm>
            <a:off x="548640" y="4626864"/>
            <a:ext cx="5852160" cy="1595994"/>
          </a:xfrm>
          <a:prstGeom prst="roundRect">
            <a:avLst>
              <a:gd name="adj" fmla="val 5729"/>
            </a:avLst>
          </a:prstGeom>
          <a:solidFill>
            <a:srgbClr val="F6F8FB"/>
          </a:solidFill>
          <a:ln w="9525">
            <a:solidFill>
              <a:srgbClr val="E1E7EF"/>
            </a:solidFill>
            <a:prstDash val="solid"/>
          </a:ln>
        </p:spPr>
      </p:sp>
      <p:sp>
        <p:nvSpPr>
          <p:cNvPr id="7" name="math-label-222"/>
          <p:cNvSpPr/>
          <p:nvPr/>
        </p:nvSpPr>
        <p:spPr>
          <a:xfrm>
            <a:off x="731520" y="4727448"/>
            <a:ext cx="5486400" cy="237744"/>
          </a:xfrm>
          <a:prstGeom prst="rect">
            <a:avLst/>
          </a:prstGeom>
          <a:noFill/>
          <a:ln/>
        </p:spPr>
        <p:txBody>
          <a:bodyPr wrap="square" lIns="0" tIns="0" rIns="0" bIns="0" rtlCol="0" anchor="ctr"/>
          <a:lstStyle/>
          <a:p>
            <a:pPr indent="0" marL="0">
              <a:buNone/>
            </a:pPr>
            <a:r>
              <a:rPr lang="en-US" sz="1250" b="1" dirty="0">
                <a:solidFill>
                  <a:srgbClr val="B85F12"/>
                </a:solidFill>
              </a:rPr>
              <a:t>MAPPO actor (clipped surrogate) and critic losses</a:t>
            </a:r>
            <a:endParaRPr lang="en-US" sz="1250" dirty="0"/>
          </a:p>
        </p:txBody>
      </p:sp>
      <p:pic>
        <p:nvPicPr>
          <p:cNvPr id="8" name="eq-ma_ppo-223" descr="LaTeX: \begin{aligned} \mathcal{L}(\theta_j)&amp;=\mathbb{E}_t\Big[\min\big(\rho_t\hat{A}_t,\ \mathrm{clip}(\rho_t,1-\epsilon,1+\epsilon)\,\hat{A}_t\big)\Big]\\ \rho_t&amp;=\frac{\pi_{\theta_j}(a_{j,t}\,|\,o_{j,t})}{\pi_{\theta_j^{\mathrm{old}}}(a_{j,t}\,|\,o_{j,t})},\qquad \mathcal{L}(\phi)=\mathbb{E}_t\big[(V_{\phi}(s_t)-\hat{R}_t)^2\big] \end{aligned}">    </p:cNvPr>
          <p:cNvPicPr>
            <a:picLocks noChangeAspect="1"/>
          </p:cNvPicPr>
          <p:nvPr/>
        </p:nvPicPr>
        <p:blipFill>
          <a:blip r:embed="rId2"/>
          <a:stretch>
            <a:fillRect/>
          </a:stretch>
        </p:blipFill>
        <p:spPr>
          <a:xfrm>
            <a:off x="731520" y="5029200"/>
            <a:ext cx="5125486" cy="1065642"/>
          </a:xfrm>
          <a:prstGeom prst="rect">
            <a:avLst/>
          </a:prstGeom>
        </p:spPr>
      </p:pic>
      <p:graphicFrame>
        <p:nvGraphicFramePr>
          <p:cNvPr id="20" name="mdp-table-224"/>
          <p:cNvGraphicFramePr>
            <a:graphicFrameLocks noGrp="1"/>
          </p:cNvGraphicFramePr>
          <p:nvPr>
            <p:extLst>
              <p:ext uri="{D42A27DB-BD31-4B8C-83A1-F6EECF244321}">
                <p14:modId xmlns:p14="http://schemas.microsoft.com/office/powerpoint/2010/main" val="1579011935"/>
              </p:ext>
            </p:extLst>
          </p:nvPr>
        </p:nvGraphicFramePr>
        <p:xfrm>
          <a:off x="6629400" y="1755648"/>
          <a:ext cx="5010912" cy="914400"/>
        </p:xfrm>
        <a:graphic>
          <a:graphicData uri="http://schemas.openxmlformats.org/drawingml/2006/table">
            <a:tbl>
              <a:tblPr/>
              <a:tblGrid>
                <a:gridCol w="1481328"/>
                <a:gridCol w="3529584"/>
              </a:tblGrid>
              <a:tr h="0">
                <a:tc>
                  <a:txBody>
                    <a:bodyPr/>
                    <a:lstStyle/>
                    <a:p>
                      <a:pPr indent="0" marL="0">
                        <a:buNone/>
                      </a:pPr>
                      <a:r>
                        <a:rPr lang="en-US" sz="1400" b="1" dirty="0">
                          <a:solidFill>
                            <a:srgbClr val="FFFFFF"/>
                          </a:solidFill>
                        </a:rPr>
                        <a:t>Element</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E07B22"/>
                    </a:solidFill>
                  </a:tcPr>
                </a:tc>
                <a:tc>
                  <a:txBody>
                    <a:bodyPr/>
                    <a:lstStyle/>
                    <a:p>
                      <a:pPr indent="0" marL="0">
                        <a:buNone/>
                      </a:pPr>
                      <a:r>
                        <a:rPr lang="en-US" sz="1400" b="1" dirty="0">
                          <a:solidFill>
                            <a:srgbClr val="FFFFFF"/>
                          </a:solidFill>
                        </a:rPr>
                        <a:t>Design</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E07B22"/>
                    </a:solidFill>
                  </a:tcPr>
                </a:tc>
              </a:tr>
              <a:tr h="0">
                <a:tc>
                  <a:txBody>
                    <a:bodyPr/>
                    <a:lstStyle/>
                    <a:p>
                      <a:pPr indent="0" marL="0">
                        <a:buNone/>
                      </a:pPr>
                      <a:r>
                        <a:rPr lang="en-US" sz="1400" b="1" dirty="0">
                          <a:solidFill>
                            <a:srgbClr val="0B1E3F"/>
                          </a:solidFill>
                        </a:rPr>
                        <a:t>Observation </a:t>
                      </a:r>
                      <a:pPr indent="0" marL="0">
                        <a:buNone/>
                      </a:pPr>
                      <a:r>
                        <a:rPr lang="en-US" sz="1400" b="1" i="1" dirty="0">
                          <a:solidFill>
                            <a:srgbClr val="0B1E3F"/>
                          </a:solidFill>
                          <a:latin typeface="+mj-lt" pitchFamily="34" charset="0"/>
                          <a:ea typeface="+mj-lt" pitchFamily="34" charset="-122"/>
                          <a:cs typeface="+mj-lt" pitchFamily="34" charset="-120"/>
                        </a:rPr>
                        <a:t>o</a:t>
                      </a:r>
                      <a:pPr indent="0" marL="0">
                        <a:buNone/>
                      </a:pPr>
                      <a:r>
                        <a:rPr lang="en-US" sz="1400" b="1" i="1" baseline="-40000" dirty="0">
                          <a:solidFill>
                            <a:srgbClr val="0B1E3F"/>
                          </a:solidFill>
                          <a:latin typeface="+mj-lt" pitchFamily="34" charset="0"/>
                          <a:ea typeface="+mj-lt" pitchFamily="34" charset="-122"/>
                          <a:cs typeface="+mj-lt" pitchFamily="34" charset="-120"/>
                        </a:rPr>
                        <a:t>j</a:t>
                      </a:r>
                      <a:pPr indent="0" marL="0">
                        <a:buNone/>
                      </a:pPr>
                      <a:r>
                        <a:rPr lang="en-US" sz="1400" b="1" dirty="0">
                          <a:solidFill>
                            <a:srgbClr val="0B1E3F"/>
                          </a:solidFill>
                          <a:latin typeface="+mj-lt" pitchFamily="34" charset="0"/>
                          <a:ea typeface="+mj-lt" pitchFamily="34" charset="-122"/>
                          <a:cs typeface="+mj-lt" pitchFamily="34" charset="-120"/>
                        </a:rPr>
                        <a:t>(</a:t>
                      </a:r>
                      <a:pPr indent="0" marL="0">
                        <a:buNone/>
                      </a:pPr>
                      <a:r>
                        <a:rPr lang="en-US" sz="1400" b="1" i="1" dirty="0">
                          <a:solidFill>
                            <a:srgbClr val="0B1E3F"/>
                          </a:solidFill>
                          <a:latin typeface="+mj-lt" pitchFamily="34" charset="0"/>
                          <a:ea typeface="+mj-lt" pitchFamily="34" charset="-122"/>
                          <a:cs typeface="+mj-lt" pitchFamily="34" charset="-120"/>
                        </a:rPr>
                        <a:t>t</a:t>
                      </a:r>
                      <a:pPr indent="0" marL="0">
                        <a:buNone/>
                      </a:pPr>
                      <a:r>
                        <a:rPr lang="en-US" sz="1400" b="1" dirty="0">
                          <a:solidFill>
                            <a:srgbClr val="0B1E3F"/>
                          </a:solidFill>
                          <a:latin typeface="+mj-lt" pitchFamily="34" charset="0"/>
                          <a:ea typeface="+mj-lt" pitchFamily="34" charset="-122"/>
                          <a:cs typeface="+mj-lt" pitchFamily="34" charset="-120"/>
                        </a:rPr>
                        <a:t>)</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CEEE2"/>
                    </a:solidFill>
                  </a:tcPr>
                </a:tc>
                <a:tc>
                  <a:txBody>
                    <a:bodyPr/>
                    <a:lstStyle/>
                    <a:p>
                      <a:pPr indent="0" marL="0">
                        <a:buNone/>
                      </a:pPr>
                      <a:r>
                        <a:rPr lang="en-US" sz="1350" dirty="0">
                          <a:solidFill>
                            <a:srgbClr val="1B2638"/>
                          </a:solidFill>
                        </a:rPr>
                        <a:t>own position </a:t>
                      </a:r>
                      <a:pPr indent="0" marL="0">
                        <a:buNone/>
                      </a:pPr>
                      <a:r>
                        <a:rPr lang="en-US" sz="1350" b="1" dirty="0">
                          <a:solidFill>
                            <a:srgbClr val="1B2638"/>
                          </a:solidFill>
                          <a:latin typeface="+mj-lt" pitchFamily="34" charset="0"/>
                          <a:ea typeface="+mj-lt" pitchFamily="34" charset="-122"/>
                          <a:cs typeface="+mj-lt" pitchFamily="34" charset="-120"/>
                        </a:rPr>
                        <a:t>q</a:t>
                      </a:r>
                      <a:pPr indent="0" marL="0">
                        <a:buNone/>
                      </a:pPr>
                      <a:r>
                        <a:rPr lang="en-US" sz="1350" i="1" baseline="-40000" dirty="0">
                          <a:solidFill>
                            <a:srgbClr val="1B2638"/>
                          </a:solidFill>
                          <a:latin typeface="+mj-lt" pitchFamily="34" charset="0"/>
                          <a:ea typeface="+mj-lt" pitchFamily="34" charset="-122"/>
                          <a:cs typeface="+mj-lt" pitchFamily="34" charset="-120"/>
                        </a:rPr>
                        <a:t>j</a:t>
                      </a:r>
                      <a:pPr indent="0" marL="0">
                        <a:buNone/>
                      </a:pPr>
                      <a:r>
                        <a:rPr lang="en-US" sz="1350" dirty="0">
                          <a:solidFill>
                            <a:srgbClr val="1B2638"/>
                          </a:solidFill>
                        </a:rPr>
                        <a:t>, neighbors' positions, local channel gains, backhaul </a:t>
                      </a:r>
                      <a:pPr indent="0" marL="0">
                        <a:buNone/>
                      </a:pPr>
                      <a:r>
                        <a:rPr lang="en-US" sz="1350" i="1" dirty="0">
                          <a:solidFill>
                            <a:srgbClr val="1B2638"/>
                          </a:solidFill>
                          <a:latin typeface="+mj-lt" pitchFamily="34" charset="0"/>
                          <a:ea typeface="+mj-lt" pitchFamily="34" charset="-122"/>
                          <a:cs typeface="+mj-lt" pitchFamily="34" charset="-120"/>
                        </a:rPr>
                        <a:t>C</a:t>
                      </a:r>
                      <a:pPr indent="0" marL="0">
                        <a:buNone/>
                      </a:pPr>
                      <a:r>
                        <a:rPr lang="en-US" sz="1350" i="1" baseline="-40000" dirty="0">
                          <a:solidFill>
                            <a:srgbClr val="1B2638"/>
                          </a:solidFill>
                          <a:latin typeface="+mj-lt" pitchFamily="34" charset="0"/>
                          <a:ea typeface="+mj-lt" pitchFamily="34" charset="-122"/>
                          <a:cs typeface="+mj-lt" pitchFamily="34" charset="-120"/>
                        </a:rPr>
                        <a:t>j</a:t>
                      </a:r>
                      <a:pPr indent="0" marL="0">
                        <a:buNone/>
                      </a:pPr>
                      <a:r>
                        <a:rPr lang="en-US" sz="1350" baseline="30000" dirty="0">
                          <a:solidFill>
                            <a:srgbClr val="1B2638"/>
                          </a:solidFill>
                          <a:latin typeface="+mj-lt" pitchFamily="34" charset="0"/>
                          <a:ea typeface="+mj-lt" pitchFamily="34" charset="-122"/>
                          <a:cs typeface="+mj-lt" pitchFamily="34" charset="-120"/>
                        </a:rPr>
                        <a:t>sat</a:t>
                      </a:r>
                      <a:pPr indent="0" marL="0">
                        <a:buNone/>
                      </a:pPr>
                      <a:r>
                        <a:rPr lang="en-US" sz="1350" dirty="0">
                          <a:solidFill>
                            <a:srgbClr val="1B2638"/>
                          </a:solidFill>
                        </a:rPr>
                        <a:t>, users' QoS backlog</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E3F"/>
                          </a:solidFill>
                        </a:rPr>
                        <a:t>Action </a:t>
                      </a:r>
                      <a:pPr indent="0" marL="0">
                        <a:buNone/>
                      </a:pPr>
                      <a:r>
                        <a:rPr lang="en-US" sz="1400" b="1" i="1" dirty="0">
                          <a:solidFill>
                            <a:srgbClr val="0B1E3F"/>
                          </a:solidFill>
                          <a:latin typeface="+mj-lt" pitchFamily="34" charset="0"/>
                          <a:ea typeface="+mj-lt" pitchFamily="34" charset="-122"/>
                          <a:cs typeface="+mj-lt" pitchFamily="34" charset="-120"/>
                        </a:rPr>
                        <a:t>a</a:t>
                      </a:r>
                      <a:pPr indent="0" marL="0">
                        <a:buNone/>
                      </a:pPr>
                      <a:r>
                        <a:rPr lang="en-US" sz="1400" b="1" i="1" baseline="-40000" dirty="0">
                          <a:solidFill>
                            <a:srgbClr val="0B1E3F"/>
                          </a:solidFill>
                          <a:latin typeface="+mj-lt" pitchFamily="34" charset="0"/>
                          <a:ea typeface="+mj-lt" pitchFamily="34" charset="-122"/>
                          <a:cs typeface="+mj-lt" pitchFamily="34" charset="-120"/>
                        </a:rPr>
                        <a:t>j</a:t>
                      </a:r>
                      <a:pPr indent="0" marL="0">
                        <a:buNone/>
                      </a:pPr>
                      <a:r>
                        <a:rPr lang="en-US" sz="1400" b="1" dirty="0">
                          <a:solidFill>
                            <a:srgbClr val="0B1E3F"/>
                          </a:solidFill>
                          <a:latin typeface="+mj-lt" pitchFamily="34" charset="0"/>
                          <a:ea typeface="+mj-lt" pitchFamily="34" charset="-122"/>
                          <a:cs typeface="+mj-lt" pitchFamily="34" charset="-120"/>
                        </a:rPr>
                        <a:t>(</a:t>
                      </a:r>
                      <a:pPr indent="0" marL="0">
                        <a:buNone/>
                      </a:pPr>
                      <a:r>
                        <a:rPr lang="en-US" sz="1400" b="1" i="1" dirty="0">
                          <a:solidFill>
                            <a:srgbClr val="0B1E3F"/>
                          </a:solidFill>
                          <a:latin typeface="+mj-lt" pitchFamily="34" charset="0"/>
                          <a:ea typeface="+mj-lt" pitchFamily="34" charset="-122"/>
                          <a:cs typeface="+mj-lt" pitchFamily="34" charset="-120"/>
                        </a:rPr>
                        <a:t>t</a:t>
                      </a:r>
                      <a:pPr indent="0" marL="0">
                        <a:buNone/>
                      </a:pPr>
                      <a:r>
                        <a:rPr lang="en-US" sz="1400" b="1" dirty="0">
                          <a:solidFill>
                            <a:srgbClr val="0B1E3F"/>
                          </a:solidFill>
                          <a:latin typeface="+mj-lt" pitchFamily="34" charset="0"/>
                          <a:ea typeface="+mj-lt" pitchFamily="34" charset="-122"/>
                          <a:cs typeface="+mj-lt" pitchFamily="34" charset="-120"/>
                        </a:rPr>
                        <a:t>)</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CEEE2"/>
                    </a:solidFill>
                  </a:tcPr>
                </a:tc>
                <a:tc>
                  <a:txBody>
                    <a:bodyPr/>
                    <a:lstStyle/>
                    <a:p>
                      <a:pPr indent="0" marL="0">
                        <a:buNone/>
                      </a:pPr>
                      <a:r>
                        <a:rPr lang="en-US" sz="1350" dirty="0">
                          <a:solidFill>
                            <a:srgbClr val="1B2638"/>
                          </a:solidFill>
                        </a:rPr>
                        <a:t>move </a:t>
                      </a:r>
                      <a:pPr indent="0" marL="0">
                        <a:buNone/>
                      </a:pPr>
                      <a:r>
                        <a:rPr lang="en-US" sz="1350" i="1" dirty="0">
                          <a:solidFill>
                            <a:srgbClr val="1B2638"/>
                          </a:solidFill>
                          <a:latin typeface="+mj-lt" pitchFamily="34" charset="0"/>
                          <a:ea typeface="+mj-lt" pitchFamily="34" charset="-122"/>
                          <a:cs typeface="+mj-lt" pitchFamily="34" charset="-120"/>
                        </a:rPr>
                        <a:t>Δ</a:t>
                      </a:r>
                      <a:pPr indent="0" marL="0">
                        <a:buNone/>
                      </a:pPr>
                      <a:r>
                        <a:rPr lang="en-US" sz="1350" b="1" dirty="0">
                          <a:solidFill>
                            <a:srgbClr val="1B2638"/>
                          </a:solidFill>
                          <a:latin typeface="+mj-lt" pitchFamily="34" charset="0"/>
                          <a:ea typeface="+mj-lt" pitchFamily="34" charset="-122"/>
                          <a:cs typeface="+mj-lt" pitchFamily="34" charset="-120"/>
                        </a:rPr>
                        <a:t>q</a:t>
                      </a:r>
                      <a:pPr indent="0" marL="0">
                        <a:buNone/>
                      </a:pPr>
                      <a:r>
                        <a:rPr lang="en-US" sz="1350" i="1" baseline="-40000" dirty="0">
                          <a:solidFill>
                            <a:srgbClr val="1B2638"/>
                          </a:solidFill>
                          <a:latin typeface="+mj-lt" pitchFamily="34" charset="0"/>
                          <a:ea typeface="+mj-lt" pitchFamily="34" charset="-122"/>
                          <a:cs typeface="+mj-lt" pitchFamily="34" charset="-120"/>
                        </a:rPr>
                        <a:t>j</a:t>
                      </a:r>
                      <a:pPr indent="0" marL="0">
                        <a:buNone/>
                      </a:pPr>
                      <a:r>
                        <a:rPr lang="en-US" sz="1350" dirty="0">
                          <a:solidFill>
                            <a:srgbClr val="1B2638"/>
                          </a:solidFill>
                        </a:rPr>
                        <a:t>, common/private power split </a:t>
                      </a:r>
                      <a:pPr indent="0" marL="0">
                        <a:buNone/>
                      </a:pPr>
                      <a:r>
                        <a:rPr lang="en-US" sz="1350" i="1" dirty="0">
                          <a:solidFill>
                            <a:srgbClr val="1B2638"/>
                          </a:solidFill>
                          <a:latin typeface="+mj-lt" pitchFamily="34" charset="0"/>
                          <a:ea typeface="+mj-lt" pitchFamily="34" charset="-122"/>
                          <a:cs typeface="+mj-lt" pitchFamily="34" charset="-120"/>
                        </a:rPr>
                        <a:t>ζ</a:t>
                      </a:r>
                      <a:pPr indent="0" marL="0">
                        <a:buNone/>
                      </a:pPr>
                      <a:r>
                        <a:rPr lang="en-US" sz="1350" i="1" baseline="-40000" dirty="0">
                          <a:solidFill>
                            <a:srgbClr val="1B2638"/>
                          </a:solidFill>
                          <a:latin typeface="+mj-lt" pitchFamily="34" charset="0"/>
                          <a:ea typeface="+mj-lt" pitchFamily="34" charset="-122"/>
                          <a:cs typeface="+mj-lt" pitchFamily="34" charset="-120"/>
                        </a:rPr>
                        <a:t>j</a:t>
                      </a:r>
                      <a:pPr indent="0" marL="0">
                        <a:buNone/>
                      </a:pPr>
                      <a:r>
                        <a:rPr lang="en-US" sz="1350" dirty="0">
                          <a:solidFill>
                            <a:srgbClr val="1B2638"/>
                          </a:solidFill>
                        </a:rPr>
                        <a:t>, common-rate shares </a:t>
                      </a:r>
                      <a:pPr indent="0" marL="0">
                        <a:buNone/>
                      </a:pPr>
                      <a:r>
                        <a:rPr lang="en-US" sz="1350" b="1" dirty="0">
                          <a:solidFill>
                            <a:srgbClr val="1B2638"/>
                          </a:solidFill>
                          <a:latin typeface="+mj-lt" pitchFamily="34" charset="0"/>
                          <a:ea typeface="+mj-lt" pitchFamily="34" charset="-122"/>
                          <a:cs typeface="+mj-lt" pitchFamily="34" charset="-120"/>
                        </a:rPr>
                        <a:t>c</a:t>
                      </a:r>
                      <a:pPr indent="0" marL="0">
                        <a:buNone/>
                      </a:pPr>
                      <a:r>
                        <a:rPr lang="en-US" sz="1350" i="1" baseline="-40000" dirty="0">
                          <a:solidFill>
                            <a:srgbClr val="1B2638"/>
                          </a:solidFill>
                          <a:latin typeface="+mj-lt" pitchFamily="34" charset="0"/>
                          <a:ea typeface="+mj-lt" pitchFamily="34" charset="-122"/>
                          <a:cs typeface="+mj-lt" pitchFamily="34" charset="-120"/>
                        </a:rPr>
                        <a:t>j</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E3F"/>
                          </a:solidFill>
                        </a:rPr>
                        <a:t>Reward </a:t>
                      </a:r>
                      <a:pPr indent="0" marL="0">
                        <a:buNone/>
                      </a:pPr>
                      <a:r>
                        <a:rPr lang="en-US" sz="1400" b="1" i="1" dirty="0">
                          <a:solidFill>
                            <a:srgbClr val="0B1E3F"/>
                          </a:solidFill>
                          <a:latin typeface="+mj-lt" pitchFamily="34" charset="0"/>
                          <a:ea typeface="+mj-lt" pitchFamily="34" charset="-122"/>
                          <a:cs typeface="+mj-lt" pitchFamily="34" charset="-120"/>
                        </a:rPr>
                        <a:t>r</a:t>
                      </a:r>
                      <a:pPr indent="0" marL="0">
                        <a:buNone/>
                      </a:pPr>
                      <a:r>
                        <a:rPr lang="en-US" sz="1400" b="1" dirty="0">
                          <a:solidFill>
                            <a:srgbClr val="0B1E3F"/>
                          </a:solidFill>
                          <a:latin typeface="+mj-lt" pitchFamily="34" charset="0"/>
                          <a:ea typeface="+mj-lt" pitchFamily="34" charset="-122"/>
                          <a:cs typeface="+mj-lt" pitchFamily="34" charset="-120"/>
                        </a:rPr>
                        <a:t>(</a:t>
                      </a:r>
                      <a:pPr indent="0" marL="0">
                        <a:buNone/>
                      </a:pPr>
                      <a:r>
                        <a:rPr lang="en-US" sz="1400" b="1" i="1" dirty="0">
                          <a:solidFill>
                            <a:srgbClr val="0B1E3F"/>
                          </a:solidFill>
                          <a:latin typeface="+mj-lt" pitchFamily="34" charset="0"/>
                          <a:ea typeface="+mj-lt" pitchFamily="34" charset="-122"/>
                          <a:cs typeface="+mj-lt" pitchFamily="34" charset="-120"/>
                        </a:rPr>
                        <a:t>t</a:t>
                      </a:r>
                      <a:pPr indent="0" marL="0">
                        <a:buNone/>
                      </a:pPr>
                      <a:r>
                        <a:rPr lang="en-US" sz="1400" b="1" dirty="0">
                          <a:solidFill>
                            <a:srgbClr val="0B1E3F"/>
                          </a:solidFill>
                          <a:latin typeface="+mj-lt" pitchFamily="34" charset="0"/>
                          <a:ea typeface="+mj-lt" pitchFamily="34" charset="-122"/>
                          <a:cs typeface="+mj-lt" pitchFamily="34" charset="-120"/>
                        </a:rPr>
                        <a:t>)</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CEEE2"/>
                    </a:solidFill>
                  </a:tcPr>
                </a:tc>
                <a:tc>
                  <a:txBody>
                    <a:bodyPr/>
                    <a:lstStyle/>
                    <a:p>
                      <a:pPr indent="0" marL="0">
                        <a:buNone/>
                      </a:pPr>
                      <a:r>
                        <a:rPr lang="en-US" sz="1350" dirty="0">
                          <a:solidFill>
                            <a:srgbClr val="1B2638"/>
                          </a:solidFill>
                        </a:rPr>
                        <a:t>shared: sum rate minus QoS-violation and collision penalties</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B1E3F"/>
                          </a:solidFill>
                        </a:rPr>
                        <a:t>Training</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CEEE2"/>
                    </a:solidFill>
                  </a:tcPr>
                </a:tc>
                <a:tc>
                  <a:txBody>
                    <a:bodyPr/>
                    <a:lstStyle/>
                    <a:p>
                      <a:pPr indent="0" marL="0">
                        <a:buNone/>
                      </a:pPr>
                      <a:r>
                        <a:rPr lang="en-US" sz="1350" dirty="0">
                          <a:solidFill>
                            <a:srgbClr val="1B2638"/>
                          </a:solidFill>
                        </a:rPr>
                        <a:t>CTDE, parameter sharing, GAE, PPO clip </a:t>
                      </a:r>
                      <a:pPr indent="0" marL="0">
                        <a:buNone/>
                      </a:pPr>
                      <a:r>
                        <a:rPr lang="en-US" sz="1350" i="1" dirty="0">
                          <a:solidFill>
                            <a:srgbClr val="1B2638"/>
                          </a:solidFill>
                          <a:latin typeface="+mj-lt" pitchFamily="34" charset="0"/>
                          <a:ea typeface="+mj-lt" pitchFamily="34" charset="-122"/>
                          <a:cs typeface="+mj-lt" pitchFamily="34" charset="-120"/>
                        </a:rPr>
                        <a:t>ε</a:t>
                      </a:r>
                      <a:pPr indent="0" marL="0">
                        <a:buNone/>
                      </a:pPr>
                      <a:r>
                        <a:rPr lang="en-US" sz="1350" dirty="0">
                          <a:solidFill>
                            <a:srgbClr val="1B2638"/>
                          </a:solidFill>
                          <a:latin typeface="+mj-lt" pitchFamily="34" charset="0"/>
                          <a:ea typeface="+mj-lt" pitchFamily="34" charset="-122"/>
                          <a:cs typeface="+mj-lt" pitchFamily="34" charset="-120"/>
                        </a:rPr>
                        <a:t> </a:t>
                      </a:r>
                      <a:pPr indent="0" marL="0">
                        <a:buNone/>
                      </a:pPr>
                      <a:r>
                        <a:rPr lang="en-US" sz="1350" dirty="0">
                          <a:solidFill>
                            <a:srgbClr val="1B2638"/>
                          </a:solidFill>
                          <a:latin typeface="+mj-lt" pitchFamily="34" charset="0"/>
                          <a:ea typeface="+mj-lt" pitchFamily="34" charset="-122"/>
                          <a:cs typeface="+mj-lt" pitchFamily="34" charset="-120"/>
                        </a:rPr>
                        <a:t>=</a:t>
                      </a:r>
                      <a:pPr indent="0" marL="0">
                        <a:buNone/>
                      </a:pPr>
                      <a:r>
                        <a:rPr lang="en-US" sz="1350" dirty="0">
                          <a:solidFill>
                            <a:srgbClr val="1B2638"/>
                          </a:solidFill>
                          <a:latin typeface="+mj-lt" pitchFamily="34" charset="0"/>
                          <a:ea typeface="+mj-lt" pitchFamily="34" charset="-122"/>
                          <a:cs typeface="+mj-lt" pitchFamily="34" charset="-120"/>
                        </a:rPr>
                        <a:t> </a:t>
                      </a:r>
                      <a:pPr indent="0" marL="0">
                        <a:buNone/>
                      </a:pPr>
                      <a:r>
                        <a:rPr lang="en-US" sz="1350" dirty="0">
                          <a:solidFill>
                            <a:srgbClr val="1B2638"/>
                          </a:solidFill>
                          <a:latin typeface="+mj-lt" pitchFamily="34" charset="0"/>
                          <a:ea typeface="+mj-lt" pitchFamily="34" charset="-122"/>
                          <a:cs typeface="+mj-lt" pitchFamily="34" charset="-120"/>
                        </a:rPr>
                        <a:t>0</a:t>
                      </a:r>
                      <a:pPr indent="0" marL="0">
                        <a:buNone/>
                      </a:pPr>
                      <a:r>
                        <a:rPr lang="en-US" sz="1350" dirty="0">
                          <a:solidFill>
                            <a:srgbClr val="1B2638"/>
                          </a:solidFill>
                          <a:latin typeface="+mj-lt" pitchFamily="34" charset="0"/>
                          <a:ea typeface="+mj-lt" pitchFamily="34" charset="-122"/>
                          <a:cs typeface="+mj-lt" pitchFamily="34" charset="-120"/>
                        </a:rPr>
                        <a:t>.</a:t>
                      </a:r>
                      <a:pPr indent="0" marL="0">
                        <a:buNone/>
                      </a:pPr>
                      <a:r>
                        <a:rPr lang="en-US" sz="1350" dirty="0">
                          <a:solidFill>
                            <a:srgbClr val="1B2638"/>
                          </a:solidFill>
                          <a:latin typeface="+mj-lt" pitchFamily="34" charset="0"/>
                          <a:ea typeface="+mj-lt" pitchFamily="34" charset="-122"/>
                          <a:cs typeface="+mj-lt" pitchFamily="34" charset="-120"/>
                        </a:rPr>
                        <a:t>2</a:t>
                      </a:r>
                      <a:endParaRPr lang="en-US" sz="1400" dirty="0"/>
                    </a:p>
                  </a:txBody>
                  <a:tcPr marL="101600" marR="101600" marT="50800" marB="50800" anchor="ctr">
                    <a:lnL w="9525" cap="flat" cmpd="sng" algn="ctr">
                      <a:solidFill>
                        <a:srgbClr val="E1E7EF"/>
                      </a:solidFill>
                      <a:prstDash val="solid"/>
                      <a:round/>
                      <a:headEnd type="none" w="med" len="med"/>
                      <a:tailEnd type="none" w="med" len="med"/>
                    </a:lnL>
                    <a:lnR w="9525" cap="flat" cmpd="sng" algn="ctr">
                      <a:solidFill>
                        <a:srgbClr val="E1E7EF"/>
                      </a:solidFill>
                      <a:prstDash val="solid"/>
                      <a:round/>
                      <a:headEnd type="none" w="med" len="med"/>
                      <a:tailEnd type="none" w="med" len="med"/>
                    </a:lnR>
                    <a:lnT w="9525" cap="flat" cmpd="sng" algn="ctr">
                      <a:solidFill>
                        <a:srgbClr val="E1E7EF"/>
                      </a:solidFill>
                      <a:prstDash val="solid"/>
                      <a:round/>
                      <a:headEnd type="none" w="med" len="med"/>
                      <a:tailEnd type="none" w="med" len="med"/>
                    </a:lnT>
                    <a:lnB w="9525" cap="flat" cmpd="sng" algn="ctr">
                      <a:solidFill>
                        <a:srgbClr val="E1E7EF"/>
                      </a:solidFill>
                      <a:prstDash val="solid"/>
                      <a:round/>
                      <a:headEnd type="none" w="med" len="med"/>
                      <a:tailEnd type="none" w="med" len="med"/>
                    </a:lnB>
                    <a:solidFill>
                      <a:srgbClr val="FFFFFF"/>
                    </a:solidFill>
                  </a:tcPr>
                </a:tc>
              </a:tr>
            </a:tbl>
          </a:graphicData>
        </a:graphic>
      </p:graphicFrame>
      <p:sp>
        <p:nvSpPr>
          <p:cNvPr id="10" name="math-card-225"/>
          <p:cNvSpPr/>
          <p:nvPr/>
        </p:nvSpPr>
        <p:spPr>
          <a:xfrm>
            <a:off x="6629400" y="4626864"/>
            <a:ext cx="5010912" cy="1131260"/>
          </a:xfrm>
          <a:prstGeom prst="roundRect">
            <a:avLst>
              <a:gd name="adj" fmla="val 8083"/>
            </a:avLst>
          </a:prstGeom>
          <a:solidFill>
            <a:srgbClr val="F6F8FB"/>
          </a:solidFill>
          <a:ln w="9525">
            <a:solidFill>
              <a:srgbClr val="E1E7EF"/>
            </a:solidFill>
            <a:prstDash val="solid"/>
          </a:ln>
        </p:spPr>
      </p:sp>
      <p:sp>
        <p:nvSpPr>
          <p:cNvPr id="11" name="math-label-226"/>
          <p:cNvSpPr/>
          <p:nvPr/>
        </p:nvSpPr>
        <p:spPr>
          <a:xfrm>
            <a:off x="6812280" y="4727448"/>
            <a:ext cx="4645152" cy="237744"/>
          </a:xfrm>
          <a:prstGeom prst="rect">
            <a:avLst/>
          </a:prstGeom>
          <a:noFill/>
          <a:ln/>
        </p:spPr>
        <p:txBody>
          <a:bodyPr wrap="square" lIns="0" tIns="0" rIns="0" bIns="0" rtlCol="0" anchor="ctr"/>
          <a:lstStyle/>
          <a:p>
            <a:pPr indent="0" marL="0">
              <a:buNone/>
            </a:pPr>
            <a:r>
              <a:rPr lang="en-US" sz="1250" b="1" dirty="0">
                <a:solidFill>
                  <a:srgbClr val="B85F12"/>
                </a:solidFill>
              </a:rPr>
              <a:t>Shared reward</a:t>
            </a:r>
            <a:endParaRPr lang="en-US" sz="1250" dirty="0"/>
          </a:p>
        </p:txBody>
      </p:sp>
      <p:pic>
        <p:nvPicPr>
          <p:cNvPr id="12" name="eq-ma_reward-227" descr="LaTeX: r(t)=\sum_{k=1}^{K}R_k(t)-\lambda_1\sum_{k=1}^{K}\big[R_{\min}-R_k(t)\big]^{+}-\lambda_2\,\Phi_{\mathrm{col}}(t)">    </p:cNvPr>
          <p:cNvPicPr>
            <a:picLocks noChangeAspect="1"/>
          </p:cNvPicPr>
          <p:nvPr/>
        </p:nvPicPr>
        <p:blipFill>
          <a:blip r:embed="rId3"/>
          <a:stretch>
            <a:fillRect/>
          </a:stretch>
        </p:blipFill>
        <p:spPr>
          <a:xfrm>
            <a:off x="6812280" y="5029200"/>
            <a:ext cx="4645152" cy="600908"/>
          </a:xfrm>
          <a:prstGeom prst="rect">
            <a:avLst/>
          </a:prstGeom>
        </p:spPr>
      </p:pic>
      <p:sp>
        <p:nvSpPr>
          <p:cNvPr id="13" name="note-228"/>
          <p:cNvSpPr/>
          <p:nvPr/>
        </p:nvSpPr>
        <p:spPr>
          <a:xfrm>
            <a:off x="6629400" y="5867852"/>
            <a:ext cx="5010912" cy="457200"/>
          </a:xfrm>
          <a:prstGeom prst="rect">
            <a:avLst/>
          </a:prstGeom>
          <a:noFill/>
          <a:ln/>
        </p:spPr>
        <p:txBody>
          <a:bodyPr wrap="square" lIns="0" tIns="0" rIns="0" bIns="0" rtlCol="0" anchor="t"/>
          <a:lstStyle/>
          <a:p>
            <a:pPr indent="0" marL="0">
              <a:buNone/>
            </a:pPr>
            <a:r>
              <a:rPr lang="en-US" sz="1400" b="1" dirty="0">
                <a:solidFill>
                  <a:srgbClr val="1B2638"/>
                </a:solidFill>
              </a:rPr>
              <a:t>Execution:</a:t>
            </a:r>
            <a:pPr indent="0" marL="0">
              <a:buNone/>
            </a:pPr>
            <a:r>
              <a:rPr lang="en-US" sz="1400" dirty="0">
                <a:solidFill>
                  <a:srgbClr val="1B2638"/>
                </a:solidFill>
              </a:rPr>
              <a:t> each UAV runs its own actor on board from local </a:t>
            </a:r>
            <a:pPr indent="0" marL="0">
              <a:buNone/>
            </a:pPr>
            <a:r>
              <a:rPr lang="en-US" sz="1400" i="1" dirty="0">
                <a:solidFill>
                  <a:srgbClr val="1B2638"/>
                </a:solidFill>
                <a:latin typeface="+mj-lt" pitchFamily="34" charset="0"/>
                <a:ea typeface="+mj-lt" pitchFamily="34" charset="-122"/>
                <a:cs typeface="+mj-lt" pitchFamily="34" charset="-120"/>
              </a:rPr>
              <a:t>o</a:t>
            </a:r>
            <a:pPr indent="0" marL="0">
              <a:buNone/>
            </a:pPr>
            <a:r>
              <a:rPr lang="en-US" sz="1400" i="1" baseline="-40000" dirty="0">
                <a:solidFill>
                  <a:srgbClr val="1B2638"/>
                </a:solidFill>
                <a:latin typeface="+mj-lt" pitchFamily="34" charset="0"/>
                <a:ea typeface="+mj-lt" pitchFamily="34" charset="-122"/>
                <a:cs typeface="+mj-lt" pitchFamily="34" charset="-120"/>
              </a:rPr>
              <a:t>j</a:t>
            </a:r>
            <a:pPr indent="0" marL="0">
              <a:buNone/>
            </a:pPr>
            <a:r>
              <a:rPr lang="en-US" sz="1400" dirty="0">
                <a:solidFill>
                  <a:srgbClr val="1B2638"/>
                </a:solidFill>
              </a:rPr>
              <a:t> only; the critic is dropped after training.</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6"/>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Simulation Results</a:t>
            </a:r>
            <a:endParaRPr lang="en-US" sz="3200" dirty="0"/>
          </a:p>
        </p:txBody>
      </p:sp>
      <p:sp>
        <p:nvSpPr>
          <p:cNvPr id="3" name="Text 6"/>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MAPPO with a centralized critic learns faster and better, and RSMA keeps adding rate when the network is overloaded.</a:t>
            </a:r>
            <a:endParaRPr lang="en-US" sz="1600" dirty="0"/>
          </a:p>
        </p:txBody>
      </p:sp>
      <p:sp>
        <p:nvSpPr>
          <p:cNvPr id="5" name="chart-card-229"/>
          <p:cNvSpPr/>
          <p:nvPr/>
        </p:nvSpPr>
        <p:spPr>
          <a:xfrm>
            <a:off x="548640" y="1755648"/>
            <a:ext cx="5431536" cy="3291840"/>
          </a:xfrm>
          <a:prstGeom prst="roundRect">
            <a:avLst>
              <a:gd name="adj" fmla="val 2778"/>
            </a:avLst>
          </a:prstGeom>
          <a:solidFill>
            <a:srgbClr val="FFFFFF"/>
          </a:solidFill>
          <a:ln w="9525">
            <a:solidFill>
              <a:srgbClr val="E1E7EF"/>
            </a:solidFill>
            <a:prstDash val="solid"/>
          </a:ln>
        </p:spPr>
      </p:sp>
      <p:sp>
        <p:nvSpPr>
          <p:cNvPr id="6" name="chart-title-230"/>
          <p:cNvSpPr/>
          <p:nvPr/>
        </p:nvSpPr>
        <p:spPr>
          <a:xfrm>
            <a:off x="749808" y="1865376"/>
            <a:ext cx="5029200" cy="310896"/>
          </a:xfrm>
          <a:prstGeom prst="rect">
            <a:avLst/>
          </a:prstGeom>
          <a:noFill/>
          <a:ln/>
        </p:spPr>
        <p:txBody>
          <a:bodyPr wrap="square" lIns="0" tIns="0" rIns="0" bIns="0" rtlCol="0" anchor="ctr"/>
          <a:lstStyle/>
          <a:p>
            <a:pPr indent="0" marL="0">
              <a:buNone/>
            </a:pPr>
            <a:r>
              <a:rPr lang="en-US" sz="1500" b="1" dirty="0">
                <a:solidFill>
                  <a:srgbClr val="0B1E3F"/>
                </a:solidFill>
              </a:rPr>
              <a:t>Training convergence</a:t>
            </a:r>
            <a:endParaRPr lang="en-US" sz="1500" dirty="0"/>
          </a:p>
        </p:txBody>
      </p:sp>
      <p:graphicFrame>
        <p:nvGraphicFramePr>
          <p:cNvPr id="7" name="chart-231" descr=""/>
          <p:cNvGraphicFramePr/>
          <p:nvPr/>
        </p:nvGraphicFramePr>
        <p:xfrm>
          <a:off x="640080" y="2212848"/>
          <a:ext cx="5248656" cy="2743200"/>
        </p:xfrm>
        <a:graphic xmlns:a="http://schemas.openxmlformats.org/drawingml/2006/main">
          <a:graphicData uri="http://schemas.openxmlformats.org/drawingml/2006/chart">
            <c:chart xmlns:c="http://schemas.openxmlformats.org/drawingml/2006/chart" r:id="rId1"/>
          </a:graphicData>
        </a:graphic>
      </p:graphicFrame>
      <p:sp>
        <p:nvSpPr>
          <p:cNvPr id="8" name="chart-card-232"/>
          <p:cNvSpPr/>
          <p:nvPr/>
        </p:nvSpPr>
        <p:spPr>
          <a:xfrm>
            <a:off x="6208776" y="1755648"/>
            <a:ext cx="5431536" cy="3291840"/>
          </a:xfrm>
          <a:prstGeom prst="roundRect">
            <a:avLst>
              <a:gd name="adj" fmla="val 2778"/>
            </a:avLst>
          </a:prstGeom>
          <a:solidFill>
            <a:srgbClr val="FFFFFF"/>
          </a:solidFill>
          <a:ln w="9525">
            <a:solidFill>
              <a:srgbClr val="E1E7EF"/>
            </a:solidFill>
            <a:prstDash val="solid"/>
          </a:ln>
        </p:spPr>
      </p:sp>
      <p:sp>
        <p:nvSpPr>
          <p:cNvPr id="9" name="chart-title-233"/>
          <p:cNvSpPr/>
          <p:nvPr/>
        </p:nvSpPr>
        <p:spPr>
          <a:xfrm>
            <a:off x="6409944" y="1865376"/>
            <a:ext cx="5029200" cy="310896"/>
          </a:xfrm>
          <a:prstGeom prst="rect">
            <a:avLst/>
          </a:prstGeom>
          <a:noFill/>
          <a:ln/>
        </p:spPr>
        <p:txBody>
          <a:bodyPr wrap="square" lIns="0" tIns="0" rIns="0" bIns="0" rtlCol="0" anchor="ctr"/>
          <a:lstStyle/>
          <a:p>
            <a:pPr indent="0" marL="0">
              <a:buNone/>
            </a:pPr>
            <a:r>
              <a:rPr lang="en-US" sz="1500" b="1" dirty="0">
                <a:solidFill>
                  <a:srgbClr val="0B1E3F"/>
                </a:solidFill>
              </a:rPr>
              <a:t>Sum rate vs. number of users</a:t>
            </a:r>
            <a:endParaRPr lang="en-US" sz="1500" dirty="0"/>
          </a:p>
        </p:txBody>
      </p:sp>
      <p:graphicFrame>
        <p:nvGraphicFramePr>
          <p:cNvPr id="10" name="chart-234" descr=""/>
          <p:cNvGraphicFramePr/>
          <p:nvPr/>
        </p:nvGraphicFramePr>
        <p:xfrm>
          <a:off x="6300216" y="2212848"/>
          <a:ext cx="5248656" cy="2743200"/>
        </p:xfrm>
        <a:graphic xmlns:a="http://schemas.openxmlformats.org/drawingml/2006/main">
          <a:graphicData uri="http://schemas.openxmlformats.org/drawingml/2006/chart">
            <c:chart xmlns:c="http://schemas.openxmlformats.org/drawingml/2006/chart" r:id="rId2"/>
          </a:graphicData>
        </a:graphic>
      </p:graphicFrame>
      <p:sp>
        <p:nvSpPr>
          <p:cNvPr id="11" name="caption-235"/>
          <p:cNvSpPr/>
          <p:nvPr/>
        </p:nvSpPr>
        <p:spPr>
          <a:xfrm>
            <a:off x="548640" y="5120640"/>
            <a:ext cx="7223760" cy="256032"/>
          </a:xfrm>
          <a:prstGeom prst="rect">
            <a:avLst/>
          </a:prstGeom>
          <a:noFill/>
          <a:ln/>
        </p:spPr>
        <p:txBody>
          <a:bodyPr wrap="square" lIns="0" tIns="0" rIns="0" bIns="0" rtlCol="0" anchor="ctr"/>
          <a:lstStyle/>
          <a:p>
            <a:pPr algn="l" indent="0" marL="0">
              <a:buNone/>
            </a:pPr>
            <a:r>
              <a:rPr lang="en-US" sz="1100" i="1" dirty="0">
                <a:solidFill>
                  <a:srgbClr val="5B6880"/>
                </a:solidFill>
              </a:rPr>
              <a:t>Setup: </a:t>
            </a:r>
            <a:pPr algn="l" indent="0" marL="0">
              <a:buNone/>
            </a:pPr>
            <a:r>
              <a:rPr lang="en-US" sz="1100" i="1" dirty="0">
                <a:solidFill>
                  <a:srgbClr val="5B6880"/>
                </a:solidFill>
                <a:latin typeface="+mj-lt" pitchFamily="34" charset="0"/>
                <a:ea typeface="+mj-lt" pitchFamily="34" charset="-122"/>
                <a:cs typeface="+mj-lt" pitchFamily="34" charset="-120"/>
              </a:rPr>
              <a:t>J</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a:t>
            </a:r>
            <a:pPr algn="l" indent="0" marL="0">
              <a:buNone/>
            </a:pPr>
            <a:r>
              <a:rPr lang="en-US" sz="1100" dirty="0">
                <a:solidFill>
                  <a:srgbClr val="5B6880"/>
                </a:solidFill>
                <a:latin typeface="+mj-lt" pitchFamily="34" charset="0"/>
                <a:ea typeface="+mj-lt" pitchFamily="34" charset="-122"/>
                <a:cs typeface="+mj-lt" pitchFamily="34" charset="-120"/>
              </a:rPr>
              <a:t> </a:t>
            </a:r>
            <a:pPr algn="l" indent="0" marL="0">
              <a:buNone/>
            </a:pPr>
            <a:r>
              <a:rPr lang="en-US" sz="1100" dirty="0">
                <a:solidFill>
                  <a:srgbClr val="5B6880"/>
                </a:solidFill>
                <a:latin typeface="+mj-lt" pitchFamily="34" charset="0"/>
                <a:ea typeface="+mj-lt" pitchFamily="34" charset="-122"/>
                <a:cs typeface="+mj-lt" pitchFamily="34" charset="-120"/>
              </a:rPr>
              <a:t>3</a:t>
            </a:r>
            <a:pPr algn="l" indent="0" marL="0">
              <a:buNone/>
            </a:pPr>
            <a:r>
              <a:rPr lang="en-US" sz="1100" i="1" dirty="0">
                <a:solidFill>
                  <a:srgbClr val="5B6880"/>
                </a:solidFill>
              </a:rPr>
              <a:t> UAVs with 4 antennas, altitude 100 m, LEO backhaul, 3,000 training episodes.</a:t>
            </a:r>
            <a:endParaRPr lang="en-US" sz="1100" dirty="0"/>
          </a:p>
        </p:txBody>
      </p:sp>
      <p:sp>
        <p:nvSpPr>
          <p:cNvPr id="12" name="illustrative-tag-236"/>
          <p:cNvSpPr/>
          <p:nvPr/>
        </p:nvSpPr>
        <p:spPr>
          <a:xfrm>
            <a:off x="8214055" y="5120640"/>
            <a:ext cx="3429000" cy="256032"/>
          </a:xfrm>
          <a:prstGeom prst="roundRect">
            <a:avLst>
              <a:gd name="adj" fmla="val 50000"/>
            </a:avLst>
          </a:prstGeom>
          <a:solidFill>
            <a:srgbClr val="FFF7E3"/>
          </a:solidFill>
          <a:ln w="9525">
            <a:solidFill>
              <a:srgbClr val="F2B53A"/>
            </a:solidFill>
          </a:ln>
        </p:spPr>
        <p:txBody>
          <a:bodyPr wrap="square" lIns="0" tIns="0" rIns="0" bIns="0" rtlCol="0" anchor="ctr"/>
          <a:lstStyle/>
          <a:p>
            <a:pPr algn="ctr" indent="0" marL="0">
              <a:buNone/>
            </a:pPr>
            <a:r>
              <a:rPr lang="en-US" sz="1000" b="1" dirty="0">
                <a:solidFill>
                  <a:srgbClr val="B9821A"/>
                </a:solidFill>
              </a:rPr>
              <a:t>ILLUSTRATIVE DATA · replace with your results</a:t>
            </a:r>
            <a:endParaRPr lang="en-US" sz="1000" dirty="0"/>
          </a:p>
        </p:txBody>
      </p:sp>
      <p:sp>
        <p:nvSpPr>
          <p:cNvPr id="13" name="stat-237"/>
          <p:cNvSpPr/>
          <p:nvPr/>
        </p:nvSpPr>
        <p:spPr>
          <a:xfrm>
            <a:off x="548640" y="5486400"/>
            <a:ext cx="3576218" cy="731520"/>
          </a:xfrm>
          <a:prstGeom prst="roundRect">
            <a:avLst>
              <a:gd name="adj" fmla="val 12500"/>
            </a:avLst>
          </a:prstGeom>
          <a:solidFill>
            <a:srgbClr val="FCEEE2"/>
          </a:solidFill>
          <a:ln w="9525">
            <a:solidFill>
              <a:srgbClr val="FCEEE2"/>
            </a:solidFill>
            <a:prstDash val="solid"/>
          </a:ln>
        </p:spPr>
      </p:sp>
      <p:sp>
        <p:nvSpPr>
          <p:cNvPr id="14" name="stat-value-238"/>
          <p:cNvSpPr/>
          <p:nvPr/>
        </p:nvSpPr>
        <p:spPr>
          <a:xfrm>
            <a:off x="731520" y="5486400"/>
            <a:ext cx="1325880" cy="731520"/>
          </a:xfrm>
          <a:prstGeom prst="rect">
            <a:avLst/>
          </a:prstGeom>
          <a:noFill/>
          <a:ln/>
        </p:spPr>
        <p:txBody>
          <a:bodyPr wrap="square" lIns="0" tIns="0" rIns="0" bIns="0" rtlCol="0" anchor="ctr"/>
          <a:lstStyle/>
          <a:p>
            <a:pPr indent="0" marL="0">
              <a:buNone/>
            </a:pPr>
            <a:r>
              <a:rPr lang="en-US" sz="2800" b="1" dirty="0">
                <a:solidFill>
                  <a:srgbClr val="B85F12"/>
                </a:solidFill>
                <a:latin typeface="+mj-lt" pitchFamily="34" charset="0"/>
                <a:ea typeface="+mj-lt" pitchFamily="34" charset="-122"/>
                <a:cs typeface="+mj-lt" pitchFamily="34" charset="-120"/>
              </a:rPr>
              <a:t>+21%</a:t>
            </a:r>
            <a:endParaRPr lang="en-US" sz="2800" dirty="0"/>
          </a:p>
        </p:txBody>
      </p:sp>
      <p:sp>
        <p:nvSpPr>
          <p:cNvPr id="15" name="stat-label-239"/>
          <p:cNvSpPr/>
          <p:nvPr/>
        </p:nvSpPr>
        <p:spPr>
          <a:xfrm>
            <a:off x="2103120"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final reward vs. MADDPG</a:t>
            </a:r>
            <a:endParaRPr lang="en-US" sz="1400" dirty="0"/>
          </a:p>
        </p:txBody>
      </p:sp>
      <p:sp>
        <p:nvSpPr>
          <p:cNvPr id="16" name="stat-240"/>
          <p:cNvSpPr/>
          <p:nvPr/>
        </p:nvSpPr>
        <p:spPr>
          <a:xfrm>
            <a:off x="4307738" y="5486400"/>
            <a:ext cx="3576218" cy="731520"/>
          </a:xfrm>
          <a:prstGeom prst="roundRect">
            <a:avLst>
              <a:gd name="adj" fmla="val 12500"/>
            </a:avLst>
          </a:prstGeom>
          <a:solidFill>
            <a:srgbClr val="FCEEE2"/>
          </a:solidFill>
          <a:ln w="9525">
            <a:solidFill>
              <a:srgbClr val="FCEEE2"/>
            </a:solidFill>
            <a:prstDash val="solid"/>
          </a:ln>
        </p:spPr>
      </p:sp>
      <p:sp>
        <p:nvSpPr>
          <p:cNvPr id="17" name="stat-value-241"/>
          <p:cNvSpPr/>
          <p:nvPr/>
        </p:nvSpPr>
        <p:spPr>
          <a:xfrm>
            <a:off x="4490618" y="5486400"/>
            <a:ext cx="1325880" cy="731520"/>
          </a:xfrm>
          <a:prstGeom prst="rect">
            <a:avLst/>
          </a:prstGeom>
          <a:noFill/>
          <a:ln/>
        </p:spPr>
        <p:txBody>
          <a:bodyPr wrap="square" lIns="0" tIns="0" rIns="0" bIns="0" rtlCol="0" anchor="ctr"/>
          <a:lstStyle/>
          <a:p>
            <a:pPr indent="0" marL="0">
              <a:buNone/>
            </a:pPr>
            <a:r>
              <a:rPr lang="en-US" sz="2800" b="1" dirty="0">
                <a:solidFill>
                  <a:srgbClr val="B85F12"/>
                </a:solidFill>
                <a:latin typeface="+mj-lt" pitchFamily="34" charset="0"/>
                <a:ea typeface="+mj-lt" pitchFamily="34" charset="-122"/>
                <a:cs typeface="+mj-lt" pitchFamily="34" charset="-120"/>
              </a:rPr>
              <a:t>2.0×</a:t>
            </a:r>
            <a:endParaRPr lang="en-US" sz="2800" dirty="0"/>
          </a:p>
        </p:txBody>
      </p:sp>
      <p:sp>
        <p:nvSpPr>
          <p:cNvPr id="18" name="stat-label-242"/>
          <p:cNvSpPr/>
          <p:nvPr/>
        </p:nvSpPr>
        <p:spPr>
          <a:xfrm>
            <a:off x="5862218"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faster to MADDPG's 90% reward level</a:t>
            </a:r>
            <a:endParaRPr lang="en-US" sz="1400" dirty="0"/>
          </a:p>
        </p:txBody>
      </p:sp>
      <p:sp>
        <p:nvSpPr>
          <p:cNvPr id="19" name="stat-243"/>
          <p:cNvSpPr/>
          <p:nvPr/>
        </p:nvSpPr>
        <p:spPr>
          <a:xfrm>
            <a:off x="8066837" y="5486400"/>
            <a:ext cx="3576218" cy="731520"/>
          </a:xfrm>
          <a:prstGeom prst="roundRect">
            <a:avLst>
              <a:gd name="adj" fmla="val 12500"/>
            </a:avLst>
          </a:prstGeom>
          <a:solidFill>
            <a:srgbClr val="FCEEE2"/>
          </a:solidFill>
          <a:ln w="9525">
            <a:solidFill>
              <a:srgbClr val="FCEEE2"/>
            </a:solidFill>
            <a:prstDash val="solid"/>
          </a:ln>
        </p:spPr>
      </p:sp>
      <p:sp>
        <p:nvSpPr>
          <p:cNvPr id="20" name="stat-value-244"/>
          <p:cNvSpPr/>
          <p:nvPr/>
        </p:nvSpPr>
        <p:spPr>
          <a:xfrm>
            <a:off x="8249717" y="5486400"/>
            <a:ext cx="1325880" cy="731520"/>
          </a:xfrm>
          <a:prstGeom prst="rect">
            <a:avLst/>
          </a:prstGeom>
          <a:noFill/>
          <a:ln/>
        </p:spPr>
        <p:txBody>
          <a:bodyPr wrap="square" lIns="0" tIns="0" rIns="0" bIns="0" rtlCol="0" anchor="ctr"/>
          <a:lstStyle/>
          <a:p>
            <a:pPr indent="0" marL="0">
              <a:buNone/>
            </a:pPr>
            <a:r>
              <a:rPr lang="en-US" sz="2800" b="1" dirty="0">
                <a:solidFill>
                  <a:srgbClr val="B85F12"/>
                </a:solidFill>
                <a:latin typeface="+mj-lt" pitchFamily="34" charset="0"/>
                <a:ea typeface="+mj-lt" pitchFamily="34" charset="-122"/>
                <a:cs typeface="+mj-lt" pitchFamily="34" charset="-120"/>
              </a:rPr>
              <a:t>+34%</a:t>
            </a:r>
            <a:endParaRPr lang="en-US" sz="2800" dirty="0"/>
          </a:p>
        </p:txBody>
      </p:sp>
      <p:sp>
        <p:nvSpPr>
          <p:cNvPr id="21" name="stat-label-245"/>
          <p:cNvSpPr/>
          <p:nvPr/>
        </p:nvSpPr>
        <p:spPr>
          <a:xfrm>
            <a:off x="9621317" y="5486400"/>
            <a:ext cx="1884578" cy="731520"/>
          </a:xfrm>
          <a:prstGeom prst="rect">
            <a:avLst/>
          </a:prstGeom>
          <a:noFill/>
          <a:ln/>
        </p:spPr>
        <p:txBody>
          <a:bodyPr wrap="square" lIns="0" tIns="0" rIns="0" bIns="0" rtlCol="0" anchor="ctr"/>
          <a:lstStyle/>
          <a:p>
            <a:pPr indent="0" marL="0">
              <a:buNone/>
            </a:pPr>
            <a:r>
              <a:rPr lang="en-US" sz="1400" dirty="0">
                <a:solidFill>
                  <a:srgbClr val="1B2638"/>
                </a:solidFill>
              </a:rPr>
              <a:t>sum rate vs. SDMA at K = 36</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5"/>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Conclusion &amp; Future Directions</a:t>
            </a:r>
            <a:endParaRPr lang="en-US" sz="3200" dirty="0"/>
          </a:p>
        </p:txBody>
      </p:sp>
      <p:sp>
        <p:nvSpPr>
          <p:cNvPr id="3" name="Text 5"/>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r>
              <a:rPr lang="en-US" sz="1600" dirty="0">
                <a:solidFill>
                  <a:srgbClr val="5B6880"/>
                </a:solidFill>
              </a:rPr>
              <a:t>Each layer of the SAGIN has its own bottleneck, and each called for a different optimization tool.</a:t>
            </a:r>
            <a:endParaRPr lang="en-US" sz="1600" dirty="0"/>
          </a:p>
        </p:txBody>
      </p:sp>
      <p:sp>
        <p:nvSpPr>
          <p:cNvPr id="5" name="Text 0"/>
          <p:cNvSpPr/>
          <p:nvPr>
            <p:ph idx="100" type="body" hasCustomPrompt="1"/>
          </p:nvPr>
        </p:nvSpPr>
        <p:spPr>
          <a:xfrm>
            <a:off x="548640" y="329184"/>
            <a:ext cx="9326880" cy="274320"/>
          </a:xfrm>
          <a:prstGeom prst="rect">
            <a:avLst/>
          </a:prstGeom>
          <a:noFill/>
          <a:ln/>
        </p:spPr>
        <p:txBody>
          <a:bodyPr wrap="square" lIns="0" tIns="0" rIns="0" bIns="0" rtlCol="0"/>
          <a:lstStyle/>
          <a:p>
            <a:pPr indent="0" marL="0">
              <a:buNone/>
            </a:pPr>
            <a:r>
              <a:rPr lang="en-US" sz="1200" b="1" spc="200" kern="0" dirty="0">
                <a:solidFill>
                  <a:srgbClr val="B9821A"/>
                </a:solidFill>
              </a:rPr>
              <a:t>WRAP-UP</a:t>
            </a:r>
            <a:endParaRPr lang="en-US" sz="1200" dirty="0"/>
          </a:p>
        </p:txBody>
      </p:sp>
      <p:sp>
        <p:nvSpPr>
          <p:cNvPr id="6" name="takeaway-card-246"/>
          <p:cNvSpPr/>
          <p:nvPr/>
        </p:nvSpPr>
        <p:spPr>
          <a:xfrm>
            <a:off x="548640" y="1755648"/>
            <a:ext cx="3545738" cy="1783080"/>
          </a:xfrm>
          <a:prstGeom prst="roundRect">
            <a:avLst>
              <a:gd name="adj" fmla="val 5128"/>
            </a:avLst>
          </a:prstGeom>
          <a:solidFill>
            <a:srgbClr val="E2F5F2"/>
          </a:solidFill>
          <a:ln w="9525">
            <a:solidFill>
              <a:srgbClr val="E2F5F2"/>
            </a:solidFill>
            <a:prstDash val="solid"/>
          </a:ln>
        </p:spPr>
      </p:sp>
      <p:sp>
        <p:nvSpPr>
          <p:cNvPr id="7" name="icon-bg-247"/>
          <p:cNvSpPr/>
          <p:nvPr/>
        </p:nvSpPr>
        <p:spPr>
          <a:xfrm>
            <a:off x="777240" y="1984248"/>
            <a:ext cx="512064" cy="512064"/>
          </a:xfrm>
          <a:prstGeom prst="ellipse">
            <a:avLst/>
          </a:prstGeom>
          <a:solidFill>
            <a:schemeClr val="accent2"/>
          </a:solidFill>
          <a:ln w="6350">
            <a:solidFill>
              <a:schemeClr val="accent2"/>
            </a:solidFill>
            <a:prstDash val="solid"/>
          </a:ln>
        </p:spPr>
      </p:sp>
      <p:pic>
        <p:nvPicPr>
          <p:cNvPr id="8" name="icon-248" descr="Icon: antenna">    </p:cNvPr>
          <p:cNvPicPr>
            <a:picLocks noChangeAspect="1"/>
          </p:cNvPicPr>
          <p:nvPr/>
        </p:nvPicPr>
        <p:blipFill>
          <a:blip r:embed="rId1"/>
          <a:stretch>
            <a:fillRect/>
          </a:stretch>
        </p:blipFill>
        <p:spPr>
          <a:xfrm>
            <a:off x="889894" y="2096902"/>
            <a:ext cx="286756" cy="286756"/>
          </a:xfrm>
          <a:prstGeom prst="rect">
            <a:avLst/>
          </a:prstGeom>
        </p:spPr>
      </p:pic>
      <p:sp>
        <p:nvSpPr>
          <p:cNvPr id="9" name="takeaway-head-249"/>
          <p:cNvSpPr/>
          <p:nvPr/>
        </p:nvSpPr>
        <p:spPr>
          <a:xfrm>
            <a:off x="1417320" y="1984248"/>
            <a:ext cx="2494178" cy="512064"/>
          </a:xfrm>
          <a:prstGeom prst="rect">
            <a:avLst/>
          </a:prstGeom>
          <a:noFill/>
          <a:ln/>
        </p:spPr>
        <p:txBody>
          <a:bodyPr wrap="square" lIns="0" tIns="0" rIns="0" bIns="0" rtlCol="0" anchor="ctr"/>
          <a:lstStyle/>
          <a:p>
            <a:pPr indent="0" marL="0">
              <a:buNone/>
            </a:pPr>
            <a:r>
              <a:rPr lang="en-US" sz="1700" b="1" dirty="0">
                <a:solidFill>
                  <a:srgbClr val="0B1E3F"/>
                </a:solidFill>
              </a:rPr>
              <a:t>Polarforming</a:t>
            </a:r>
            <a:endParaRPr lang="en-US" sz="1700" dirty="0"/>
          </a:p>
        </p:txBody>
      </p:sp>
      <p:sp>
        <p:nvSpPr>
          <p:cNvPr id="10" name="takeaway-body-250"/>
          <p:cNvSpPr/>
          <p:nvPr/>
        </p:nvSpPr>
        <p:spPr>
          <a:xfrm>
            <a:off x="777240" y="2596896"/>
            <a:ext cx="3088538" cy="841248"/>
          </a:xfrm>
          <a:prstGeom prst="rect">
            <a:avLst/>
          </a:prstGeom>
          <a:noFill/>
          <a:ln/>
        </p:spPr>
        <p:txBody>
          <a:bodyPr wrap="square" lIns="0" tIns="0" rIns="0" bIns="0" rtlCol="0" anchor="t"/>
          <a:lstStyle/>
          <a:p>
            <a:pPr indent="0" marL="0">
              <a:buNone/>
            </a:pPr>
            <a:r>
              <a:rPr lang="en-US" sz="1400" dirty="0">
                <a:solidFill>
                  <a:srgbClr val="1B2638"/>
                </a:solidFill>
              </a:rPr>
              <a:t>Polarization is a new degree of freedom: joint polarforming + RSMA design removes mismatch loss and adds diversity.</a:t>
            </a:r>
            <a:endParaRPr lang="en-US" sz="1400" dirty="0"/>
          </a:p>
        </p:txBody>
      </p:sp>
      <p:sp>
        <p:nvSpPr>
          <p:cNvPr id="11" name="takeaway-card-251"/>
          <p:cNvSpPr/>
          <p:nvPr/>
        </p:nvSpPr>
        <p:spPr>
          <a:xfrm>
            <a:off x="4322978" y="1755648"/>
            <a:ext cx="3545738" cy="1783080"/>
          </a:xfrm>
          <a:prstGeom prst="roundRect">
            <a:avLst>
              <a:gd name="adj" fmla="val 5128"/>
            </a:avLst>
          </a:prstGeom>
          <a:solidFill>
            <a:srgbClr val="EFEAFC"/>
          </a:solidFill>
          <a:ln w="9525">
            <a:solidFill>
              <a:srgbClr val="EFEAFC"/>
            </a:solidFill>
            <a:prstDash val="solid"/>
          </a:ln>
        </p:spPr>
      </p:sp>
      <p:sp>
        <p:nvSpPr>
          <p:cNvPr id="12" name="icon-bg-252"/>
          <p:cNvSpPr/>
          <p:nvPr/>
        </p:nvSpPr>
        <p:spPr>
          <a:xfrm>
            <a:off x="4551578" y="1984248"/>
            <a:ext cx="512064" cy="512064"/>
          </a:xfrm>
          <a:prstGeom prst="ellipse">
            <a:avLst/>
          </a:prstGeom>
          <a:solidFill>
            <a:schemeClr val="accent3"/>
          </a:solidFill>
          <a:ln w="6350">
            <a:solidFill>
              <a:schemeClr val="accent3"/>
            </a:solidFill>
            <a:prstDash val="solid"/>
          </a:ln>
        </p:spPr>
      </p:sp>
      <p:pic>
        <p:nvPicPr>
          <p:cNvPr id="13" name="icon-253" descr="Icon: atom">    </p:cNvPr>
          <p:cNvPicPr>
            <a:picLocks noChangeAspect="1"/>
          </p:cNvPicPr>
          <p:nvPr/>
        </p:nvPicPr>
        <p:blipFill>
          <a:blip r:embed="rId2"/>
          <a:stretch>
            <a:fillRect/>
          </a:stretch>
        </p:blipFill>
        <p:spPr>
          <a:xfrm>
            <a:off x="4664232" y="2096902"/>
            <a:ext cx="286756" cy="286756"/>
          </a:xfrm>
          <a:prstGeom prst="rect">
            <a:avLst/>
          </a:prstGeom>
        </p:spPr>
      </p:pic>
      <p:sp>
        <p:nvSpPr>
          <p:cNvPr id="14" name="takeaway-head-254"/>
          <p:cNvSpPr/>
          <p:nvPr/>
        </p:nvSpPr>
        <p:spPr>
          <a:xfrm>
            <a:off x="5191658" y="1984248"/>
            <a:ext cx="2494178" cy="512064"/>
          </a:xfrm>
          <a:prstGeom prst="rect">
            <a:avLst/>
          </a:prstGeom>
          <a:noFill/>
          <a:ln/>
        </p:spPr>
        <p:txBody>
          <a:bodyPr wrap="square" lIns="0" tIns="0" rIns="0" bIns="0" rtlCol="0" anchor="ctr"/>
          <a:lstStyle/>
          <a:p>
            <a:pPr indent="0" marL="0">
              <a:buNone/>
            </a:pPr>
            <a:r>
              <a:rPr lang="en-US" sz="1700" b="1" dirty="0">
                <a:solidFill>
                  <a:srgbClr val="0B1E3F"/>
                </a:solidFill>
              </a:rPr>
              <a:t>Atomic receivers</a:t>
            </a:r>
            <a:endParaRPr lang="en-US" sz="1700" dirty="0"/>
          </a:p>
        </p:txBody>
      </p:sp>
      <p:sp>
        <p:nvSpPr>
          <p:cNvPr id="15" name="takeaway-body-255"/>
          <p:cNvSpPr/>
          <p:nvPr/>
        </p:nvSpPr>
        <p:spPr>
          <a:xfrm>
            <a:off x="4551578" y="2596896"/>
            <a:ext cx="3088538" cy="841248"/>
          </a:xfrm>
          <a:prstGeom prst="rect">
            <a:avLst/>
          </a:prstGeom>
          <a:noFill/>
          <a:ln/>
        </p:spPr>
        <p:txBody>
          <a:bodyPr wrap="square" lIns="0" tIns="0" rIns="0" bIns="0" rtlCol="0" anchor="t"/>
          <a:lstStyle/>
          <a:p>
            <a:pPr indent="0" marL="0">
              <a:buNone/>
            </a:pPr>
            <a:r>
              <a:rPr lang="en-US" sz="1400" dirty="0">
                <a:solidFill>
                  <a:srgbClr val="1B2638"/>
                </a:solidFill>
              </a:rPr>
              <a:t>Quantum front ends extend space–ground links; LO and Doppler awareness decide how much of the gain is realized.</a:t>
            </a:r>
            <a:endParaRPr lang="en-US" sz="1400" dirty="0"/>
          </a:p>
        </p:txBody>
      </p:sp>
      <p:sp>
        <p:nvSpPr>
          <p:cNvPr id="16" name="takeaway-card-256"/>
          <p:cNvSpPr/>
          <p:nvPr/>
        </p:nvSpPr>
        <p:spPr>
          <a:xfrm>
            <a:off x="8097317" y="1755648"/>
            <a:ext cx="3545738" cy="1783080"/>
          </a:xfrm>
          <a:prstGeom prst="roundRect">
            <a:avLst>
              <a:gd name="adj" fmla="val 5128"/>
            </a:avLst>
          </a:prstGeom>
          <a:solidFill>
            <a:srgbClr val="FCEEE2"/>
          </a:solidFill>
          <a:ln w="9525">
            <a:solidFill>
              <a:srgbClr val="FCEEE2"/>
            </a:solidFill>
            <a:prstDash val="solid"/>
          </a:ln>
        </p:spPr>
      </p:sp>
      <p:sp>
        <p:nvSpPr>
          <p:cNvPr id="17" name="icon-bg-257"/>
          <p:cNvSpPr/>
          <p:nvPr/>
        </p:nvSpPr>
        <p:spPr>
          <a:xfrm>
            <a:off x="8325917" y="1984248"/>
            <a:ext cx="512064" cy="512064"/>
          </a:xfrm>
          <a:prstGeom prst="ellipse">
            <a:avLst/>
          </a:prstGeom>
          <a:solidFill>
            <a:schemeClr val="accent4"/>
          </a:solidFill>
          <a:ln w="6350">
            <a:solidFill>
              <a:schemeClr val="accent4"/>
            </a:solidFill>
            <a:prstDash val="solid"/>
          </a:ln>
        </p:spPr>
      </p:sp>
      <p:pic>
        <p:nvPicPr>
          <p:cNvPr id="18" name="icon-258" descr="Icon: brain">    </p:cNvPr>
          <p:cNvPicPr>
            <a:picLocks noChangeAspect="1"/>
          </p:cNvPicPr>
          <p:nvPr/>
        </p:nvPicPr>
        <p:blipFill>
          <a:blip r:embed="rId3"/>
          <a:stretch>
            <a:fillRect/>
          </a:stretch>
        </p:blipFill>
        <p:spPr>
          <a:xfrm>
            <a:off x="8438571" y="2096902"/>
            <a:ext cx="286756" cy="286756"/>
          </a:xfrm>
          <a:prstGeom prst="rect">
            <a:avLst/>
          </a:prstGeom>
        </p:spPr>
      </p:pic>
      <p:sp>
        <p:nvSpPr>
          <p:cNvPr id="19" name="takeaway-head-259"/>
          <p:cNvSpPr/>
          <p:nvPr/>
        </p:nvSpPr>
        <p:spPr>
          <a:xfrm>
            <a:off x="8965997" y="1984248"/>
            <a:ext cx="2494178" cy="512064"/>
          </a:xfrm>
          <a:prstGeom prst="rect">
            <a:avLst/>
          </a:prstGeom>
          <a:noFill/>
          <a:ln/>
        </p:spPr>
        <p:txBody>
          <a:bodyPr wrap="square" lIns="0" tIns="0" rIns="0" bIns="0" rtlCol="0" anchor="ctr"/>
          <a:lstStyle/>
          <a:p>
            <a:pPr indent="0" marL="0">
              <a:buNone/>
            </a:pPr>
            <a:r>
              <a:rPr lang="en-US" sz="1700" b="1" dirty="0">
                <a:solidFill>
                  <a:srgbClr val="0B1E3F"/>
                </a:solidFill>
              </a:rPr>
              <a:t>MADRL + RSMA</a:t>
            </a:r>
            <a:endParaRPr lang="en-US" sz="1700" dirty="0"/>
          </a:p>
        </p:txBody>
      </p:sp>
      <p:sp>
        <p:nvSpPr>
          <p:cNvPr id="20" name="takeaway-body-260"/>
          <p:cNvSpPr/>
          <p:nvPr/>
        </p:nvSpPr>
        <p:spPr>
          <a:xfrm>
            <a:off x="8325917" y="2596896"/>
            <a:ext cx="3088538" cy="841248"/>
          </a:xfrm>
          <a:prstGeom prst="rect">
            <a:avLst/>
          </a:prstGeom>
          <a:noFill/>
          <a:ln/>
        </p:spPr>
        <p:txBody>
          <a:bodyPr wrap="square" lIns="0" tIns="0" rIns="0" bIns="0" rtlCol="0" anchor="t"/>
          <a:lstStyle/>
          <a:p>
            <a:pPr indent="0" marL="0">
              <a:buNone/>
            </a:pPr>
            <a:r>
              <a:rPr lang="en-US" sz="1400" dirty="0">
                <a:solidFill>
                  <a:srgbClr val="1B2638"/>
                </a:solidFill>
              </a:rPr>
              <a:t>CTDE learning steers UAV trajectories and RSMA power and rate splitting in real time, from local observations only.</a:t>
            </a:r>
            <a:endParaRPr lang="en-US" sz="1400" dirty="0"/>
          </a:p>
        </p:txBody>
      </p:sp>
      <p:sp>
        <p:nvSpPr>
          <p:cNvPr id="21" name="label-261"/>
          <p:cNvSpPr/>
          <p:nvPr/>
        </p:nvSpPr>
        <p:spPr>
          <a:xfrm>
            <a:off x="548640" y="3767328"/>
            <a:ext cx="5486400" cy="329184"/>
          </a:xfrm>
          <a:prstGeom prst="rect">
            <a:avLst/>
          </a:prstGeom>
          <a:noFill/>
          <a:ln/>
        </p:spPr>
        <p:txBody>
          <a:bodyPr wrap="square" lIns="0" tIns="0" rIns="0" bIns="0" rtlCol="0" anchor="ctr"/>
          <a:lstStyle/>
          <a:p>
            <a:pPr indent="0" marL="0">
              <a:buNone/>
            </a:pPr>
            <a:r>
              <a:rPr lang="en-US" sz="1700" b="1" dirty="0">
                <a:solidFill>
                  <a:srgbClr val="0B1E3F"/>
                </a:solidFill>
              </a:rPr>
              <a:t>Future directions</a:t>
            </a:r>
            <a:endParaRPr lang="en-US" sz="1700" dirty="0"/>
          </a:p>
        </p:txBody>
      </p:sp>
      <p:sp>
        <p:nvSpPr>
          <p:cNvPr id="22" name="icon-bg-262"/>
          <p:cNvSpPr/>
          <p:nvPr/>
        </p:nvSpPr>
        <p:spPr>
          <a:xfrm>
            <a:off x="548640" y="4206240"/>
            <a:ext cx="420624" cy="420624"/>
          </a:xfrm>
          <a:prstGeom prst="ellipse">
            <a:avLst/>
          </a:prstGeom>
          <a:solidFill>
            <a:schemeClr val="accent5"/>
          </a:solidFill>
          <a:ln w="6350">
            <a:solidFill>
              <a:schemeClr val="accent5"/>
            </a:solidFill>
            <a:prstDash val="solid"/>
          </a:ln>
        </p:spPr>
      </p:sp>
      <p:pic>
        <p:nvPicPr>
          <p:cNvPr id="23" name="icon-263" descr="Icon: sparkles">    </p:cNvPr>
          <p:cNvPicPr>
            <a:picLocks noChangeAspect="1"/>
          </p:cNvPicPr>
          <p:nvPr/>
        </p:nvPicPr>
        <p:blipFill>
          <a:blip r:embed="rId4"/>
          <a:stretch>
            <a:fillRect/>
          </a:stretch>
        </p:blipFill>
        <p:spPr>
          <a:xfrm>
            <a:off x="641177" y="4298777"/>
            <a:ext cx="235549" cy="235549"/>
          </a:xfrm>
          <a:prstGeom prst="rect">
            <a:avLst/>
          </a:prstGeom>
        </p:spPr>
      </p:pic>
      <p:sp>
        <p:nvSpPr>
          <p:cNvPr id="24" name="future-264"/>
          <p:cNvSpPr/>
          <p:nvPr/>
        </p:nvSpPr>
        <p:spPr>
          <a:xfrm>
            <a:off x="1115568" y="4151376"/>
            <a:ext cx="4815688" cy="530352"/>
          </a:xfrm>
          <a:prstGeom prst="rect">
            <a:avLst/>
          </a:prstGeom>
          <a:noFill/>
          <a:ln/>
        </p:spPr>
        <p:txBody>
          <a:bodyPr wrap="square" lIns="0" tIns="0" rIns="0" bIns="0" rtlCol="0" anchor="ctr"/>
          <a:lstStyle/>
          <a:p>
            <a:pPr indent="0" marL="0">
              <a:buNone/>
            </a:pPr>
            <a:r>
              <a:rPr lang="en-US" sz="1400" dirty="0">
                <a:solidFill>
                  <a:srgbClr val="1B2638"/>
                </a:solidFill>
              </a:rPr>
              <a:t>Polarization-resolved atomic receivers: polarforming meets Rydberg sensing</a:t>
            </a:r>
            <a:endParaRPr lang="en-US" sz="1400" dirty="0"/>
          </a:p>
        </p:txBody>
      </p:sp>
      <p:sp>
        <p:nvSpPr>
          <p:cNvPr id="25" name="icon-bg-265"/>
          <p:cNvSpPr/>
          <p:nvPr/>
        </p:nvSpPr>
        <p:spPr>
          <a:xfrm>
            <a:off x="6233008" y="4206240"/>
            <a:ext cx="420624" cy="420624"/>
          </a:xfrm>
          <a:prstGeom prst="ellipse">
            <a:avLst/>
          </a:prstGeom>
          <a:solidFill>
            <a:schemeClr val="accent5"/>
          </a:solidFill>
          <a:ln w="6350">
            <a:solidFill>
              <a:schemeClr val="accent5"/>
            </a:solidFill>
            <a:prstDash val="solid"/>
          </a:ln>
        </p:spPr>
      </p:sp>
      <p:pic>
        <p:nvPicPr>
          <p:cNvPr id="26" name="icon-266" descr="Icon: radar">    </p:cNvPr>
          <p:cNvPicPr>
            <a:picLocks noChangeAspect="1"/>
          </p:cNvPicPr>
          <p:nvPr/>
        </p:nvPicPr>
        <p:blipFill>
          <a:blip r:embed="rId5"/>
          <a:stretch>
            <a:fillRect/>
          </a:stretch>
        </p:blipFill>
        <p:spPr>
          <a:xfrm>
            <a:off x="6325545" y="4298777"/>
            <a:ext cx="235549" cy="235549"/>
          </a:xfrm>
          <a:prstGeom prst="rect">
            <a:avLst/>
          </a:prstGeom>
        </p:spPr>
      </p:pic>
      <p:sp>
        <p:nvSpPr>
          <p:cNvPr id="27" name="future-267"/>
          <p:cNvSpPr/>
          <p:nvPr/>
        </p:nvSpPr>
        <p:spPr>
          <a:xfrm>
            <a:off x="6799936" y="4151376"/>
            <a:ext cx="4815688" cy="530352"/>
          </a:xfrm>
          <a:prstGeom prst="rect">
            <a:avLst/>
          </a:prstGeom>
          <a:noFill/>
          <a:ln/>
        </p:spPr>
        <p:txBody>
          <a:bodyPr wrap="square" lIns="0" tIns="0" rIns="0" bIns="0" rtlCol="0" anchor="ctr"/>
          <a:lstStyle/>
          <a:p>
            <a:pPr indent="0" marL="0">
              <a:buNone/>
            </a:pPr>
            <a:r>
              <a:rPr lang="en-US" sz="1400" dirty="0">
                <a:solidFill>
                  <a:srgbClr val="1B2638"/>
                </a:solidFill>
              </a:rPr>
              <a:t>Integrated sensing and communication across SAGIN layers</a:t>
            </a:r>
            <a:endParaRPr lang="en-US" sz="1400" dirty="0"/>
          </a:p>
        </p:txBody>
      </p:sp>
      <p:sp>
        <p:nvSpPr>
          <p:cNvPr id="28" name="icon-bg-268"/>
          <p:cNvSpPr/>
          <p:nvPr/>
        </p:nvSpPr>
        <p:spPr>
          <a:xfrm>
            <a:off x="548640" y="4828032"/>
            <a:ext cx="420624" cy="420624"/>
          </a:xfrm>
          <a:prstGeom prst="ellipse">
            <a:avLst/>
          </a:prstGeom>
          <a:solidFill>
            <a:schemeClr val="accent5"/>
          </a:solidFill>
          <a:ln w="6350">
            <a:solidFill>
              <a:schemeClr val="accent5"/>
            </a:solidFill>
            <a:prstDash val="solid"/>
          </a:ln>
        </p:spPr>
      </p:sp>
      <p:pic>
        <p:nvPicPr>
          <p:cNvPr id="29" name="icon-269" descr="Icon: bulb">    </p:cNvPr>
          <p:cNvPicPr>
            <a:picLocks noChangeAspect="1"/>
          </p:cNvPicPr>
          <p:nvPr/>
        </p:nvPicPr>
        <p:blipFill>
          <a:blip r:embed="rId6"/>
          <a:stretch>
            <a:fillRect/>
          </a:stretch>
        </p:blipFill>
        <p:spPr>
          <a:xfrm>
            <a:off x="641177" y="4920569"/>
            <a:ext cx="235549" cy="235549"/>
          </a:xfrm>
          <a:prstGeom prst="rect">
            <a:avLst/>
          </a:prstGeom>
        </p:spPr>
      </p:pic>
      <p:sp>
        <p:nvSpPr>
          <p:cNvPr id="30" name="future-270"/>
          <p:cNvSpPr/>
          <p:nvPr/>
        </p:nvSpPr>
        <p:spPr>
          <a:xfrm>
            <a:off x="1115568" y="4773168"/>
            <a:ext cx="4815688" cy="530352"/>
          </a:xfrm>
          <a:prstGeom prst="rect">
            <a:avLst/>
          </a:prstGeom>
          <a:noFill/>
          <a:ln/>
        </p:spPr>
        <p:txBody>
          <a:bodyPr wrap="square" lIns="0" tIns="0" rIns="0" bIns="0" rtlCol="0" anchor="ctr"/>
          <a:lstStyle/>
          <a:p>
            <a:pPr indent="0" marL="0">
              <a:buNone/>
            </a:pPr>
            <a:r>
              <a:rPr lang="en-US" sz="1400" dirty="0">
                <a:solidFill>
                  <a:srgbClr val="1B2638"/>
                </a:solidFill>
              </a:rPr>
              <a:t>LLM-assisted and foundation-model MADRL for network control</a:t>
            </a:r>
            <a:endParaRPr lang="en-US" sz="1400" dirty="0"/>
          </a:p>
        </p:txBody>
      </p:sp>
      <p:sp>
        <p:nvSpPr>
          <p:cNvPr id="31" name="icon-bg-271"/>
          <p:cNvSpPr/>
          <p:nvPr/>
        </p:nvSpPr>
        <p:spPr>
          <a:xfrm>
            <a:off x="6233008" y="4828032"/>
            <a:ext cx="420624" cy="420624"/>
          </a:xfrm>
          <a:prstGeom prst="ellipse">
            <a:avLst/>
          </a:prstGeom>
          <a:solidFill>
            <a:schemeClr val="accent5"/>
          </a:solidFill>
          <a:ln w="6350">
            <a:solidFill>
              <a:schemeClr val="accent5"/>
            </a:solidFill>
            <a:prstDash val="solid"/>
          </a:ln>
        </p:spPr>
      </p:sp>
      <p:pic>
        <p:nvPicPr>
          <p:cNvPr id="32" name="icon-272" descr="Icon: tool">    </p:cNvPr>
          <p:cNvPicPr>
            <a:picLocks noChangeAspect="1"/>
          </p:cNvPicPr>
          <p:nvPr/>
        </p:nvPicPr>
        <p:blipFill>
          <a:blip r:embed="rId7"/>
          <a:stretch>
            <a:fillRect/>
          </a:stretch>
        </p:blipFill>
        <p:spPr>
          <a:xfrm>
            <a:off x="6325545" y="4920569"/>
            <a:ext cx="235549" cy="235549"/>
          </a:xfrm>
          <a:prstGeom prst="rect">
            <a:avLst/>
          </a:prstGeom>
        </p:spPr>
      </p:pic>
      <p:sp>
        <p:nvSpPr>
          <p:cNvPr id="33" name="future-273"/>
          <p:cNvSpPr/>
          <p:nvPr/>
        </p:nvSpPr>
        <p:spPr>
          <a:xfrm>
            <a:off x="6799936" y="4773168"/>
            <a:ext cx="4815688" cy="530352"/>
          </a:xfrm>
          <a:prstGeom prst="rect">
            <a:avLst/>
          </a:prstGeom>
          <a:noFill/>
          <a:ln/>
        </p:spPr>
        <p:txBody>
          <a:bodyPr wrap="square" lIns="0" tIns="0" rIns="0" bIns="0" rtlCol="0" anchor="ctr"/>
          <a:lstStyle/>
          <a:p>
            <a:pPr indent="0" marL="0">
              <a:buNone/>
            </a:pPr>
            <a:r>
              <a:rPr lang="en-US" sz="1400" dirty="0">
                <a:solidFill>
                  <a:srgbClr val="1B2638"/>
                </a:solidFill>
              </a:rPr>
              <a:t>Hardware prototypes and over-the-air validation</a:t>
            </a:r>
            <a:endParaRPr lang="en-US" sz="1400" dirty="0"/>
          </a:p>
        </p:txBody>
      </p:sp>
      <p:sp>
        <p:nvSpPr>
          <p:cNvPr id="34" name="take-home-274"/>
          <p:cNvSpPr/>
          <p:nvPr/>
        </p:nvSpPr>
        <p:spPr>
          <a:xfrm>
            <a:off x="548640" y="5541264"/>
            <a:ext cx="11094415" cy="658368"/>
          </a:xfrm>
          <a:prstGeom prst="roundRect">
            <a:avLst>
              <a:gd name="adj" fmla="val 13889"/>
            </a:avLst>
          </a:prstGeom>
          <a:solidFill>
            <a:schemeClr val="tx2"/>
          </a:solidFill>
          <a:ln w="6350">
            <a:solidFill>
              <a:schemeClr val="tx2"/>
            </a:solidFill>
            <a:prstDash val="solid"/>
          </a:ln>
        </p:spPr>
      </p:sp>
      <p:sp>
        <p:nvSpPr>
          <p:cNvPr id="35" name="icon-bg-275"/>
          <p:cNvSpPr/>
          <p:nvPr/>
        </p:nvSpPr>
        <p:spPr>
          <a:xfrm>
            <a:off x="731520" y="5660136"/>
            <a:ext cx="420624" cy="420624"/>
          </a:xfrm>
          <a:prstGeom prst="ellipse">
            <a:avLst/>
          </a:prstGeom>
          <a:solidFill>
            <a:schemeClr val="accent5"/>
          </a:solidFill>
          <a:ln w="6350">
            <a:solidFill>
              <a:schemeClr val="accent5"/>
            </a:solidFill>
            <a:prstDash val="solid"/>
          </a:ln>
        </p:spPr>
      </p:sp>
      <p:pic>
        <p:nvPicPr>
          <p:cNvPr id="36" name="icon-276" descr="Icon: target">    </p:cNvPr>
          <p:cNvPicPr>
            <a:picLocks noChangeAspect="1"/>
          </p:cNvPicPr>
          <p:nvPr/>
        </p:nvPicPr>
        <p:blipFill>
          <a:blip r:embed="rId8"/>
          <a:stretch>
            <a:fillRect/>
          </a:stretch>
        </p:blipFill>
        <p:spPr>
          <a:xfrm>
            <a:off x="824057" y="5752673"/>
            <a:ext cx="235549" cy="235549"/>
          </a:xfrm>
          <a:prstGeom prst="rect">
            <a:avLst/>
          </a:prstGeom>
        </p:spPr>
      </p:pic>
      <p:sp>
        <p:nvSpPr>
          <p:cNvPr id="37" name="take-home-text-277"/>
          <p:cNvSpPr/>
          <p:nvPr/>
        </p:nvSpPr>
        <p:spPr>
          <a:xfrm>
            <a:off x="1298448" y="5541264"/>
            <a:ext cx="10180015" cy="658368"/>
          </a:xfrm>
          <a:prstGeom prst="rect">
            <a:avLst/>
          </a:prstGeom>
          <a:noFill/>
          <a:ln/>
        </p:spPr>
        <p:txBody>
          <a:bodyPr wrap="square" lIns="0" tIns="0" rIns="0" bIns="0" rtlCol="0" anchor="ctr"/>
          <a:lstStyle/>
          <a:p>
            <a:pPr indent="0" marL="0">
              <a:buNone/>
            </a:pPr>
            <a:r>
              <a:rPr lang="en-US" sz="1500" b="1" dirty="0">
                <a:solidFill>
                  <a:srgbClr val="FFFFFF"/>
                </a:solidFill>
              </a:rPr>
              <a:t>Take-home:</a:t>
            </a:r>
            <a:pPr indent="0" marL="0">
              <a:buNone/>
            </a:pPr>
            <a:r>
              <a:rPr lang="en-US" sz="1500" dirty="0">
                <a:solidFill>
                  <a:srgbClr val="FFFFFF"/>
                </a:solidFill>
              </a:rPr>
              <a:t> match the optimization tool to each layer's bottleneck: polarization, receiver sensitivity, or coordination.</a:t>
            </a:r>
            <a:endParaRPr lang="en-US" sz="15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5"/>
          <p:cNvSpPr/>
          <p:nvPr>
            <p:ph idx="106" type="title" hasCustomPrompt="1"/>
          </p:nvPr>
        </p:nvSpPr>
        <p:spPr>
          <a:xfrm>
            <a:off x="548640" y="566928"/>
            <a:ext cx="11094415" cy="566928"/>
          </a:xfrm>
          <a:prstGeom prst="rect">
            <a:avLst/>
          </a:prstGeom>
          <a:noFill/>
          <a:ln/>
        </p:spPr>
        <p:txBody>
          <a:bodyPr wrap="square" lIns="0" tIns="0" rIns="0" bIns="0" rtlCol="0" anchor="ctr"/>
          <a:lstStyle/>
          <a:p>
            <a:pPr algn="l" indent="0" marL="0">
              <a:buNone/>
            </a:pPr>
            <a:r>
              <a:rPr lang="en-US" sz="3200" b="1" dirty="0">
                <a:solidFill>
                  <a:srgbClr val="0B1E3F"/>
                </a:solidFill>
                <a:latin typeface="+mj-lt" pitchFamily="34" charset="0"/>
                <a:ea typeface="+mj-lt" pitchFamily="34" charset="-122"/>
                <a:cs typeface="+mj-lt" pitchFamily="34" charset="-120"/>
              </a:rPr>
              <a:t>References</a:t>
            </a:r>
            <a:endParaRPr lang="en-US" sz="3200" dirty="0"/>
          </a:p>
        </p:txBody>
      </p:sp>
      <p:sp>
        <p:nvSpPr>
          <p:cNvPr id="4" name="Text 0"/>
          <p:cNvSpPr/>
          <p:nvPr>
            <p:ph idx="100" type="body" hasCustomPrompt="1"/>
          </p:nvPr>
        </p:nvSpPr>
        <p:spPr>
          <a:xfrm>
            <a:off x="548640" y="329184"/>
            <a:ext cx="9326880" cy="274320"/>
          </a:xfrm>
          <a:prstGeom prst="rect">
            <a:avLst/>
          </a:prstGeom>
          <a:noFill/>
          <a:ln/>
        </p:spPr>
        <p:txBody>
          <a:bodyPr wrap="square" lIns="0" tIns="0" rIns="0" bIns="0" rtlCol="0"/>
          <a:lstStyle/>
          <a:p>
            <a:pPr indent="0" marL="0">
              <a:buNone/>
            </a:pPr>
            <a:r>
              <a:rPr lang="en-US" sz="1200" b="1" spc="200" kern="0" dirty="0">
                <a:solidFill>
                  <a:srgbClr val="B9821A"/>
                </a:solidFill>
              </a:rPr>
              <a:t>KEY LITERATURE</a:t>
            </a:r>
            <a:endParaRPr lang="en-US" sz="1200" dirty="0"/>
          </a:p>
        </p:txBody>
      </p:sp>
      <p:sp>
        <p:nvSpPr>
          <p:cNvPr id="5" name="refs-278"/>
          <p:cNvSpPr/>
          <p:nvPr/>
        </p:nvSpPr>
        <p:spPr>
          <a:xfrm>
            <a:off x="548640" y="1371600"/>
            <a:ext cx="5394960" cy="4846320"/>
          </a:xfrm>
          <a:prstGeom prst="rect">
            <a:avLst/>
          </a:prstGeom>
          <a:noFill/>
          <a:ln/>
        </p:spPr>
        <p:txBody>
          <a:bodyPr wrap="square" lIns="0" tIns="0" rIns="0" bIns="0" rtlCol="0" anchor="t"/>
          <a:lstStyle/>
          <a:p>
            <a:pPr indent="0" marL="0">
              <a:spcAft>
                <a:spcPts val="1400"/>
              </a:spcAft>
              <a:buNone/>
            </a:pPr>
            <a:r>
              <a:rPr lang="en-US" sz="1400" dirty="0">
                <a:solidFill>
                  <a:srgbClr val="1B2638"/>
                </a:solidFill>
              </a:rPr>
              <a:t>[1]  J. Liu, Y. Shi, Z. M. Fadlullah, and N. Kato, “Space-air-ground integrated network: A survey,” IEEE Commun. Surveys Tuts., vol. 20, no. 4, pp. 2714–2741, 2018.</a:t>
            </a:r>
            <a:endParaRPr lang="en-US" sz="1400" dirty="0"/>
          </a:p>
          <a:p>
            <a:pPr indent="0" marL="0">
              <a:spcAft>
                <a:spcPts val="1400"/>
              </a:spcAft>
              <a:buNone/>
            </a:pPr>
            <a:r>
              <a:rPr lang="en-US" sz="1400" dirty="0">
                <a:solidFill>
                  <a:srgbClr val="1B2638"/>
                </a:solidFill>
              </a:rPr>
              <a:t>[2]  Z. Zhou, J. Ding, C. Wang, B. Jiao, and R. Zhang, “Polarforming for wireless communications: Modeling and performance analysis,” arXiv:2409.07771, 2024.</a:t>
            </a:r>
            <a:endParaRPr lang="en-US" sz="1400" dirty="0"/>
          </a:p>
          <a:p>
            <a:pPr indent="0" marL="0">
              <a:spcAft>
                <a:spcPts val="1400"/>
              </a:spcAft>
              <a:buNone/>
            </a:pPr>
            <a:r>
              <a:rPr lang="en-US" sz="1400" dirty="0">
                <a:solidFill>
                  <a:srgbClr val="1B2638"/>
                </a:solidFill>
              </a:rPr>
              <a:t>[3]  T. Gong et al., “Rydberg atomic quantum receivers for classical wireless communication and sensing,” IEEE Wireless Commun., 2025 (arXiv:2409.14501).</a:t>
            </a:r>
            <a:endParaRPr lang="en-US" sz="1400" dirty="0"/>
          </a:p>
          <a:p>
            <a:pPr indent="0" marL="0">
              <a:spcAft>
                <a:spcPts val="1400"/>
              </a:spcAft>
              <a:buNone/>
            </a:pPr>
            <a:r>
              <a:rPr lang="en-US" sz="1400" dirty="0">
                <a:solidFill>
                  <a:srgbClr val="1B2638"/>
                </a:solidFill>
              </a:rPr>
              <a:t>[4]  M. Jing et al., “Atomic superheterodyne receiver based on microwave-dressed Rydberg spectroscopy,” Nature Physics, vol. 16, pp. 911–915, 2020.</a:t>
            </a:r>
            <a:endParaRPr lang="en-US" sz="1400" dirty="0"/>
          </a:p>
          <a:p>
            <a:pPr indent="0" marL="0">
              <a:spcAft>
                <a:spcPts val="1400"/>
              </a:spcAft>
              <a:buNone/>
            </a:pPr>
            <a:r>
              <a:rPr lang="en-US" sz="1400" dirty="0">
                <a:solidFill>
                  <a:srgbClr val="1B2638"/>
                </a:solidFill>
              </a:rPr>
              <a:t>[5]  Y. Mao, B. Clerckx, and V. O. K. Li, “Rate-splitting multiple access for downlink communication systems: Bridging, generalizing, and outperforming SDMA and NOMA,” EURASIP J. Wireless Commun. Netw., art. 133, 2018.</a:t>
            </a:r>
            <a:endParaRPr lang="en-US" sz="1400" dirty="0"/>
          </a:p>
        </p:txBody>
      </p:sp>
      <p:sp>
        <p:nvSpPr>
          <p:cNvPr id="6" name="refs-279"/>
          <p:cNvSpPr/>
          <p:nvPr/>
        </p:nvSpPr>
        <p:spPr>
          <a:xfrm>
            <a:off x="6245352" y="1371600"/>
            <a:ext cx="5394960" cy="4846320"/>
          </a:xfrm>
          <a:prstGeom prst="rect">
            <a:avLst/>
          </a:prstGeom>
          <a:noFill/>
          <a:ln/>
        </p:spPr>
        <p:txBody>
          <a:bodyPr wrap="square" lIns="0" tIns="0" rIns="0" bIns="0" rtlCol="0" anchor="t"/>
          <a:lstStyle/>
          <a:p>
            <a:pPr indent="0" marL="0">
              <a:spcAft>
                <a:spcPts val="1400"/>
              </a:spcAft>
              <a:buNone/>
            </a:pPr>
            <a:r>
              <a:rPr lang="en-US" sz="1400" dirty="0">
                <a:solidFill>
                  <a:srgbClr val="1B2638"/>
                </a:solidFill>
              </a:rPr>
              <a:t>[6]  Y. Mao, O. Dizdar, B. Clerckx, R. Schober, P. Popovski, and H. V. Poor, “Rate-splitting multiple access: Fundamentals, survey, and future research trends,” IEEE Commun. Surveys Tuts., vol. 24, no. 4, pp. 2073–2126, 2022.</a:t>
            </a:r>
            <a:endParaRPr lang="en-US" sz="1400" dirty="0"/>
          </a:p>
          <a:p>
            <a:pPr indent="0" marL="0">
              <a:spcAft>
                <a:spcPts val="1400"/>
              </a:spcAft>
              <a:buNone/>
            </a:pPr>
            <a:r>
              <a:rPr lang="en-US" sz="1400" dirty="0">
                <a:solidFill>
                  <a:srgbClr val="1B2638"/>
                </a:solidFill>
              </a:rPr>
              <a:t>[7]  R. Lowe et al., “Multi-agent actor-critic for mixed cooperative-competitive environments,” in Proc. NeurIPS, 2017.</a:t>
            </a:r>
            <a:endParaRPr lang="en-US" sz="1400" dirty="0"/>
          </a:p>
          <a:p>
            <a:pPr indent="0" marL="0">
              <a:spcAft>
                <a:spcPts val="1400"/>
              </a:spcAft>
              <a:buNone/>
            </a:pPr>
            <a:r>
              <a:rPr lang="en-US" sz="1400" dirty="0">
                <a:solidFill>
                  <a:srgbClr val="1B2638"/>
                </a:solidFill>
              </a:rPr>
              <a:t>[8]  C. Yu et al., “The surprising effectiveness of PPO in cooperative multi-agent games,” in Proc. NeurIPS Datasets and Benchmarks Track, 2022.</a:t>
            </a:r>
            <a:endParaRPr lang="en-US" sz="1400" dirty="0"/>
          </a:p>
          <a:p>
            <a:pPr indent="0" marL="0">
              <a:spcAft>
                <a:spcPts val="1400"/>
              </a:spcAft>
              <a:buNone/>
            </a:pPr>
            <a:r>
              <a:rPr lang="en-US" sz="1400" dirty="0">
                <a:solidFill>
                  <a:srgbClr val="1B2638"/>
                </a:solidFill>
              </a:rPr>
              <a:t>[9]  M. Cui, Q. Zeng, and K. Huang, “Towards atomic MIMO receivers,” arXiv:2404.04864, 2024.</a:t>
            </a:r>
            <a:endParaRPr lang="en-US" sz="1400" dirty="0"/>
          </a:p>
        </p:txBody>
      </p:sp>
      <p:sp>
        <p:nvSpPr>
          <p:cNvPr id="7" name="Text 5"/>
          <p:cNvSpPr/>
          <p:nvPr>
            <p:ph idx="107" type="body" hasCustomPrompt="1"/>
          </p:nvPr>
        </p:nvSpPr>
        <p:spPr>
          <a:xfrm>
            <a:off x="548640" y="1152144"/>
            <a:ext cx="11094415" cy="420624"/>
          </a:xfrm>
          <a:prstGeom prst="rect">
            <a:avLst/>
          </a:prstGeom>
          <a:noFill/>
          <a:ln/>
        </p:spPr>
        <p:txBody>
          <a:bodyPr wrap="square" lIns="0" tIns="0" rIns="0" bIns="0" rtlCol="0" anchor="ctr"/>
          <a:lstStyle/>
          <a:p>
            <a:pPr algn="l" indent="0" marL="0">
              <a:buNone/>
            </a:pPr>
            <a:endParaRPr lang="en-US" sz="16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8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394960" y="1737360"/>
            <a:ext cx="6217920" cy="1188720"/>
          </a:xfrm>
          <a:prstGeom prst="rect">
            <a:avLst/>
          </a:prstGeom>
          <a:noFill/>
          <a:ln/>
        </p:spPr>
        <p:txBody>
          <a:bodyPr wrap="square" lIns="0" tIns="0" rIns="0" bIns="0" rtlCol="0" anchor="b"/>
          <a:lstStyle/>
          <a:p>
            <a:pPr algn="l" indent="0" marL="0">
              <a:buNone/>
            </a:pPr>
            <a:r>
              <a:rPr lang="en-US" sz="5400" b="1" dirty="0">
                <a:solidFill>
                  <a:srgbClr val="FFFFFF"/>
                </a:solidFill>
                <a:latin typeface="+mj-lt" pitchFamily="34" charset="0"/>
                <a:ea typeface="+mj-lt" pitchFamily="34" charset="-122"/>
                <a:cs typeface="+mj-lt" pitchFamily="34" charset="-120"/>
              </a:rPr>
              <a:t>Thank You</a:t>
            </a:r>
            <a:endParaRPr lang="en-US" sz="5400" dirty="0"/>
          </a:p>
        </p:txBody>
      </p:sp>
      <p:sp>
        <p:nvSpPr>
          <p:cNvPr id="3" name="Text 0"/>
          <p:cNvSpPr/>
          <p:nvPr>
            <p:ph idx="101" type="body" hasCustomPrompt="1"/>
          </p:nvPr>
        </p:nvSpPr>
        <p:spPr>
          <a:xfrm>
            <a:off x="5440680" y="3108960"/>
            <a:ext cx="6126480" cy="2011680"/>
          </a:xfrm>
          <a:prstGeom prst="rect">
            <a:avLst/>
          </a:prstGeom>
          <a:noFill/>
          <a:ln/>
        </p:spPr>
        <p:txBody>
          <a:bodyPr wrap="square" lIns="0" tIns="0" rIns="0" bIns="0" rtlCol="0" anchor="t"/>
          <a:lstStyle/>
          <a:p>
            <a:pPr algn="l" indent="0" marL="0">
              <a:buNone/>
            </a:pPr>
            <a:r>
              <a:rPr lang="en-US" sz="2200" dirty="0">
                <a:solidFill>
                  <a:srgbClr val="A8D8FF"/>
                </a:solidFill>
              </a:rPr>
              <a:t>Questions &amp; discussion</a:t>
            </a:r>
            <a:endParaRPr lang="en-US" sz="1800" dirty="0"/>
          </a:p>
          <a:p>
            <a:pPr algn="l" indent="0" marL="0">
              <a:buNone/>
            </a:pPr>
            <a:r>
              <a:rPr lang="en-US" sz="1000" dirty="0">
                <a:solidFill>
                  <a:srgbClr val="D6E2F2"/>
                </a:solidFill>
              </a:rPr>
              <a:t> </a:t>
            </a:r>
            <a:endParaRPr lang="en-US" sz="1800" dirty="0"/>
          </a:p>
          <a:p>
            <a:pPr algn="l" indent="0" marL="0">
              <a:buNone/>
            </a:pPr>
            <a:r>
              <a:rPr lang="en-US" sz="1600" dirty="0">
                <a:solidFill>
                  <a:srgbClr val="D6E2F2"/>
                </a:solidFill>
              </a:rPr>
              <a:t>Miao Zhang  ·  your.email@university.edu</a:t>
            </a:r>
            <a:endParaRPr lang="en-US" sz="1800" dirty="0"/>
          </a:p>
          <a:p>
            <a:pPr algn="l" indent="0" marL="0">
              <a:buNone/>
            </a:pPr>
            <a:r>
              <a:rPr lang="en-US" sz="1600" dirty="0">
                <a:solidFill>
                  <a:srgbClr val="D6E2F2"/>
                </a:solidFill>
              </a:rPr>
              <a:t>Department / Laboratory, University</a:t>
            </a:r>
            <a:endParaRPr lang="en-US" sz="1800" dirty="0"/>
          </a:p>
        </p:txBody>
      </p:sp>
    </p:spTree>
  </p:cSld>
  <p:clrMapOvr>
    <a:masterClrMapping/>
  </p:clrMapOvr>
</p:sld>
</file>

<file path=ppt/theme/theme1.xml><?xml version="1.0" encoding="utf-8"?>
<a:theme xmlns:a="http://schemas.openxmlformats.org/drawingml/2006/main" name="SAGIN Seminar">
  <a:themeElements>
    <a:clrScheme name="SAGIN Seminar">
      <a:dk1>
        <a:srgbClr val="1B2638"/>
      </a:dk1>
      <a:lt1>
        <a:srgbClr val="FFFFFF"/>
      </a:lt1>
      <a:dk2>
        <a:srgbClr val="0B1E3F"/>
      </a:dk2>
      <a:lt2>
        <a:srgbClr val="F0F4F9"/>
      </a:lt2>
      <a:accent1>
        <a:srgbClr val="2188D8"/>
      </a:accent1>
      <a:accent2>
        <a:srgbClr val="0F9F8F"/>
      </a:accent2>
      <a:accent3>
        <a:srgbClr val="7A4FD8"/>
      </a:accent3>
      <a:accent4>
        <a:srgbClr val="E07B22"/>
      </a:accent4>
      <a:accent5>
        <a:srgbClr val="F2B53A"/>
      </a:accent5>
      <a:accent6>
        <a:srgbClr val="8C97AB"/>
      </a:accent6>
      <a:hlink>
        <a:srgbClr val="1670B3"/>
      </a:hlink>
      <a:folHlink>
        <a:srgbClr val="5F37BE"/>
      </a:folHlink>
    </a:clrScheme>
    <a:fontScheme name="SAGIN Semina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Department /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Techniques for Space-Air-Ground Integrated Networks</dc:title>
  <dc:subject>Seminar slide template</dc:subject>
  <dc:creator>Miao Zhang</dc:creator>
  <cp:lastModifiedBy>Miao Zhang</cp:lastModifiedBy>
  <cp:revision>1</cp:revision>
  <dcterms:created xsi:type="dcterms:W3CDTF">2026-10-28T13:33:41Z</dcterms:created>
  <dcterms:modified xsi:type="dcterms:W3CDTF">2026-10-28T13:33:41Z</dcterms:modified>
</cp:coreProperties>
</file>