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目录 Opening" id="{bb7fba4d-3a73-5c38-0386-3adb127951c8}">
          <p14:sldIdLst>
            <p14:sldId id="256"/>
            <p14:sldId id="257"/>
          </p14:sldIdLst>
        </p14:section>
        <p14:section name="2.1 空天地信道特征" id="{5c01ac49-023e-e88c-c67f-337df7bf7641}">
          <p14:sldIdLst>
            <p14:sldId id="258"/>
          </p14:sldIdLst>
        </p14:section>
        <p14:section name="2.2 空天地一体化通信关键技术" id="{cfc35550-0084-10ac-0afc-34341d0a9aee}">
          <p14:sldIdLst>
            <p14:sldId id="259"/>
          </p14:sldIdLst>
        </p14:section>
        <p14:section name="2.3 空天地一体化通信应用场景" id="{ee95d4a8-eb98-e200-1f31-856c16eb5a08}">
          <p14:sldIdLst>
            <p14:sldId id="260"/>
          </p14:sldIdLst>
        </p14:section>
        <p14:section name="结束 Closing" id="{6dbd8664-ec9e-ae0f-15df-6ffb8740ec1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第2章 空天地一体化通信系统（Space-Air-Ground Integrated Communication Systems）。学时：6 学时。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目录与本章教学要求（依据课程教学大纲：学时、学习达成、支撑课程目标、教学方法、课外环节、思政融入点）。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【2.1 空天地信道特征 / Space-Air-Ground Channel Characteristics】
教学要求：掌握空天地一体化组网；教学方法：讲授 + 项目式；课外环节：作业；思政融入点：低空经济引领空天地一体化通信。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【2.2 空天地一体化通信关键技术 / Key Technologies of Space-Air-Ground Integrated Communications】
教学要求：掌握空天地一体化组网；教学方法：讲授 + 项目式；课外环节：作业；思政融入点：低空经济引领空天地一体化通信。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【2.3 空天地一体化通信应用场景 / Application Scenarios of Space-Air-Ground Integrated Communications】
教学要求：掌握空天地一体化组网；教学方法：讲授 + 项目式；课外环节：作业；思政融入点：低空经济引领空天地一体化通信。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s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and-Conten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le-Only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9DCF2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课程名称 Course title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600" b="1" spc="200" kern="0" dirty="0">
                <a:solidFill>
                  <a:srgbClr val="9AD8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9AD8FF"/>
                </a:solidFill>
              </a:rPr>
              <a:t>第 N 章 · CHAPTER N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章标题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400" dirty="0">
                <a:solidFill>
                  <a:srgbClr val="FFC5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400" dirty="0">
                <a:solidFill>
                  <a:srgbClr val="FFC56B"/>
                </a:solidFill>
              </a:rPr>
              <a:t>Chapter title in English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B4C3DD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B4C3DD"/>
                </a:solidFill>
              </a:rPr>
              <a:t>本章小节 Sections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200" dirty="0">
                <a:solidFill>
                  <a:srgbClr val="B4C3DD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200" dirty="0">
                <a:solidFill>
                  <a:srgbClr val="B4C3DD"/>
                </a:solidFill>
              </a:rPr>
              <a:t>学院 · 主讲教师 School · Instructor</a:t>
            </a: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目录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spc="600" kern="0" dirty="0">
                <a:solidFill>
                  <a:srgbClr val="9AD8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spc="600" kern="0" dirty="0">
                <a:solidFill>
                  <a:srgbClr val="9AD8FF"/>
                </a:solidFill>
              </a:rPr>
              <a:t>CONTENTS</a:t>
            </a:r>
            <a:endParaRPr lang="zh-CN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节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1000" b="1" dirty="0">
                <a:solidFill>
                  <a:srgbClr val="9AD8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1000" b="1" dirty="0">
                <a:solidFill>
                  <a:srgbClr val="9AD8FF"/>
                </a:solidFill>
              </a:rPr>
              <a:t>N.N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节标题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000" dirty="0">
                <a:solidFill>
                  <a:srgbClr val="FFC5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000" dirty="0">
                <a:solidFill>
                  <a:srgbClr val="FFC56B"/>
                </a:solidFill>
              </a:rPr>
              <a:t>Section title in English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300" dirty="0">
                <a:solidFill>
                  <a:srgbClr val="B4C3DD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300" dirty="0">
                <a:solidFill>
                  <a:srgbClr val="B4C3DD"/>
                </a:solidFill>
              </a:rPr>
              <a:t>本节要点 Key topics</a:t>
            </a:r>
            <a:endParaRPr lang="zh-CN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标题和内容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600"/>
              </a:spcAft>
              <a:buSzPct val="100000"/>
              <a:buChar char="•"/>
              <a:defRPr lang="zh-CN" altLang="en-US" sz="1800" dirty="0">
                <a:solidFill>
                  <a:schemeClr val="tx1"/>
                </a:solidFill>
              </a:defRPr>
            </a:lvl1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CN" altLang="en-US" sz="1800" dirty="0">
                <a:solidFill>
                  <a:schemeClr val="tx1"/>
                </a:solidFill>
              </a:rPr>
              <a:t>单击此处添加内容 / Click to add content</a:t>
            </a:r>
            <a:endParaRPr lang="zh-CN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F"/>
                </a:solidFill>
              </a:rPr>
              <a:t>新一代移动通信系统（双语）｜第2章 空天地一体化通信系统  ·  Ch.2 SAGIN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仅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F"/>
                </a:solidFill>
              </a:rPr>
              <a:t>新一代移动通信系统（双语）｜第2章 空天地一体化通信系统  ·  Ch.2 SAGIN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结束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600" dirty="0">
                <a:solidFill>
                  <a:srgbClr val="FFC5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600" dirty="0">
                <a:solidFill>
                  <a:srgbClr val="FFC56B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B4C3DD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B4C3DD"/>
                </a:solidFill>
              </a:rPr>
              <a:t>下一章预告 / Next chapter</a:t>
            </a:r>
            <a:endParaRPr 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新一代移动通信系统（双语）   |   Next-Generation Mobile Communication Systems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9AD8FF"/>
                </a:solidFill>
              </a:rPr>
              <a:t>第 2 章   ·   CHAPTER 02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空天地一体化通信系统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FC56B"/>
                </a:solidFill>
              </a:rPr>
              <a:t>Space-Air-Ground Integrated Communication Systems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B4C3DD"/>
                </a:solidFill>
              </a:rPr>
              <a:t>2.1 空天地信道特征     2.2 空天地一体化通信关键技术     2.3 空天地一体化通信应用场景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B4C3DD"/>
                </a:solidFill>
              </a:rPr>
              <a:t>信息科学与工程学院  School of Information Science and Engineering     ·     主讲教师 Instructor：张淼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spc="600" kern="0" dirty="0">
                <a:solidFill>
                  <a:srgbClr val="9AD8FF"/>
                </a:solidFill>
              </a:rPr>
              <a:t>CONTENTS</a:t>
            </a:r>
            <a:endParaRPr lang="zh-CN" sz="1500" dirty="0"/>
          </a:p>
        </p:txBody>
      </p:sp>
      <p:sp>
        <p:nvSpPr>
          <p:cNvPr id="4" name="目录编号 2.1"/>
          <p:cNvSpPr txBox="1"/>
          <p:nvPr/>
        </p:nvSpPr>
        <p:spPr>
          <a:xfrm>
            <a:off x="685800" y="2103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9AD8FF"/>
                </a:solidFill>
              </a:rPr>
              <a:t>2.1</a:t>
            </a:r>
            <a:endParaRPr lang="en-US" sz="3400" dirty="0"/>
          </a:p>
        </p:txBody>
      </p:sp>
      <p:sp>
        <p:nvSpPr>
          <p:cNvPr id="5" name="目录标题 2.1"/>
          <p:cNvSpPr txBox="1"/>
          <p:nvPr/>
        </p:nvSpPr>
        <p:spPr>
          <a:xfrm>
            <a:off x="2057400" y="20848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空天地信道特征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B4C3DD"/>
                </a:solidFill>
              </a:rPr>
              <a:t>Space-Air-Ground Channel Characteristics</a:t>
            </a:r>
            <a:endParaRPr lang="en-US" sz="2100" dirty="0"/>
          </a:p>
        </p:txBody>
      </p:sp>
      <p:sp>
        <p:nvSpPr>
          <p:cNvPr id="6" name="目录编号 2.2"/>
          <p:cNvSpPr txBox="1"/>
          <p:nvPr/>
        </p:nvSpPr>
        <p:spPr>
          <a:xfrm>
            <a:off x="685800" y="33101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9AD8FF"/>
                </a:solidFill>
              </a:rPr>
              <a:t>2.2</a:t>
            </a:r>
            <a:endParaRPr lang="en-US" sz="3400" dirty="0"/>
          </a:p>
        </p:txBody>
      </p:sp>
      <p:sp>
        <p:nvSpPr>
          <p:cNvPr id="7" name="目录标题 2.2"/>
          <p:cNvSpPr txBox="1"/>
          <p:nvPr/>
        </p:nvSpPr>
        <p:spPr>
          <a:xfrm>
            <a:off x="2057400" y="3291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空天地一体化通信关键技术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B4C3DD"/>
                </a:solidFill>
              </a:rPr>
              <a:t>Key Technologies of Space-Air-Ground Integrated Communications</a:t>
            </a:r>
            <a:endParaRPr lang="en-US" sz="2100" dirty="0"/>
          </a:p>
        </p:txBody>
      </p:sp>
      <p:sp>
        <p:nvSpPr>
          <p:cNvPr id="8" name="目录编号 2.3"/>
          <p:cNvSpPr txBox="1"/>
          <p:nvPr/>
        </p:nvSpPr>
        <p:spPr>
          <a:xfrm>
            <a:off x="685800" y="451713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9AD8FF"/>
                </a:solidFill>
              </a:rPr>
              <a:t>2.3</a:t>
            </a:r>
            <a:endParaRPr lang="en-US" sz="3400" dirty="0"/>
          </a:p>
        </p:txBody>
      </p:sp>
      <p:sp>
        <p:nvSpPr>
          <p:cNvPr id="9" name="目录标题 2.3"/>
          <p:cNvSpPr txBox="1"/>
          <p:nvPr/>
        </p:nvSpPr>
        <p:spPr>
          <a:xfrm>
            <a:off x="2057400" y="44988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空天地一体化通信应用场景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B4C3DD"/>
                </a:solidFill>
              </a:rPr>
              <a:t>Application Scenarios of Space-Air-Ground Integrated Communications</a:t>
            </a:r>
            <a:endParaRPr lang="en-US" sz="2100" dirty="0"/>
          </a:p>
        </p:txBody>
      </p:sp>
      <p:sp>
        <p:nvSpPr>
          <p:cNvPr id="10" name="教学要求面板"/>
          <p:cNvSpPr/>
          <p:nvPr/>
        </p:nvSpPr>
        <p:spPr>
          <a:xfrm>
            <a:off x="7269480" y="1417320"/>
            <a:ext cx="4373575" cy="4992624"/>
          </a:xfrm>
          <a:prstGeom prst="roundRect">
            <a:avLst>
              <a:gd name="adj" fmla="val 2509"/>
            </a:avLst>
          </a:prstGeom>
          <a:solidFill>
            <a:srgbClr val="04112A">
              <a:alpha val="84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面板标题"/>
          <p:cNvSpPr txBox="1"/>
          <p:nvPr/>
        </p:nvSpPr>
        <p:spPr>
          <a:xfrm>
            <a:off x="7525512" y="1563624"/>
            <a:ext cx="3916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本章教学要求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B4C3DD"/>
                </a:solidFill>
              </a:rPr>
              <a:t>Teaching requirements (from the syllabus)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Hours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148840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6 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6 class hours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27523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学习达成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Outcome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2752344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掌握空天地一体化组网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Master space-air-ground integrated networking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3355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支撑课程目标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3355848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目标2、目标3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Course Objectives 2 &amp; 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9593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教学方法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Methods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3959352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讲授 + 项目式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Lecture + project-based learning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25512" y="45628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课外环节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After class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4562856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作业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Homework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5166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思政融入点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Ideology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50808" y="5166360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低空经济引领空天地一体化通信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The low-altitude economy drives SAGIN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57698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AD8FF"/>
                </a:solidFill>
              </a:rPr>
              <a:t>配套实验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Lab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50808" y="5769864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实验一：空天地一体化通信系统仿真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4C3DD"/>
                </a:solidFill>
              </a:rPr>
              <a:t>Lab 1 (4 h, design): SAGIN system simulation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D6FD6"/>
                </a:solidFill>
              </a:rPr>
              <a:t>2.1  </a:t>
            </a:r>
            <a:r>
              <a:rPr lang="zh-CN" altLang="en-US" sz="3000" b="1" dirty="0">
                <a:solidFill>
                  <a:schemeClr val="tx2"/>
                </a:solidFill>
              </a:rPr>
              <a:t>空天地信道特征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Space-Air-Ground Channel Characteristics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D6FD6"/>
                </a:solidFill>
              </a:rPr>
              <a:t>2.2  </a:t>
            </a:r>
            <a:r>
              <a:rPr lang="zh-CN" altLang="en-US" sz="3000" b="1" dirty="0">
                <a:solidFill>
                  <a:schemeClr val="tx2"/>
                </a:solidFill>
              </a:rPr>
              <a:t>空天地一体化通信关键技术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Key Technologies of Space-Air-Ground Integrated Communications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D6FD6"/>
                </a:solidFill>
              </a:rPr>
              <a:t>2.3  </a:t>
            </a:r>
            <a:r>
              <a:rPr lang="zh-CN" altLang="en-US" sz="3000" b="1" dirty="0">
                <a:solidFill>
                  <a:schemeClr val="tx2"/>
                </a:solidFill>
              </a:rPr>
              <a:t>空天地一体化通信应用场景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Application Scenarios of Space-Air-Ground Integrated Communications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2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谢谢聆听！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FFC56B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下一章预告：第3章 新型收发机技术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250" dirty="0">
                <a:solidFill>
                  <a:srgbClr val="B4C3DD"/>
                </a:solidFill>
              </a:rPr>
              <a:t>Next: Chapter 3  Novel Transceiver Technologies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一代移动通信系统 第2章">
  <a:themeElements>
    <a:clrScheme name="新一代移动通信系统 第2章">
      <a:dk1>
        <a:srgbClr val="1E2533"/>
      </a:dk1>
      <a:lt1>
        <a:srgbClr val="FFFFFF"/>
      </a:lt1>
      <a:dk2>
        <a:srgbClr val="0B2A55"/>
      </a:dk2>
      <a:lt2>
        <a:srgbClr val="EAF3FF"/>
      </a:lt2>
      <a:accent1>
        <a:srgbClr val="1D6FD6"/>
      </a:accent1>
      <a:accent2>
        <a:srgbClr val="0A9AB8"/>
      </a:accent2>
      <a:accent3>
        <a:srgbClr val="EE7F1F"/>
      </a:accent3>
      <a:accent4>
        <a:srgbClr val="2BA36B"/>
      </a:accent4>
      <a:accent5>
        <a:srgbClr val="9AD8FF"/>
      </a:accent5>
      <a:accent6>
        <a:srgbClr val="FFC56B"/>
      </a:accent6>
      <a:hlink>
        <a:srgbClr val="1D6FD6"/>
      </a:hlink>
      <a:folHlink>
        <a:srgbClr val="5B6CB8"/>
      </a:folHlink>
    </a:clrScheme>
    <a:fontScheme name="新一代移动通信系统 第2章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信息科学与工程学院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新一代移动通信系统（双语） 第2章 空天地一体化通信系统</dc:title>
  <dc:subject>Next-Generation Mobile Communication Systems - Chapter 2 Space-Air-Ground Integrated Communication Systems</dc:subject>
  <dc:creator>张淼</dc:creator>
  <cp:lastModifiedBy>张淼</cp:lastModifiedBy>
  <cp:revision>1</cp:revision>
  <dcterms:created xsi:type="dcterms:W3CDTF">2026-10-29T11:49:27Z</dcterms:created>
  <dcterms:modified xsi:type="dcterms:W3CDTF">2026-10-29T11:49:27Z</dcterms:modified>
</cp:coreProperties>
</file>