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与导学 Opening" id="{86cd75bd-c88e-a809-e20e-0e9e010aec0b}">
          <p14:sldIdLst>
            <p14:sldId id="256"/>
            <p14:sldId id="257"/>
            <p14:sldId id="258"/>
          </p14:sldIdLst>
        </p14:section>
        <p14:section name="1.1 5G-6G标准演进 Standards Evolution" id="{a935427b-d4f8-e10e-14c0-7c1cac03e25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1.2 移动通信前沿技术简介 Frontier Technologies" id="{824379de-c607-557d-d452-fed1e893456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总结 Wrap-up" id="{ac823724-5d77-ebff-28ae-6f500cdc36bb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data rate (Gbit/s)</c:v>
                </c:pt>
              </c:strCache>
            </c:strRef>
          </c:tx>
          <c:spPr>
            <a:solidFill>
              <a:srgbClr val="BDB1F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DB1F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7D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3F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3F8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3G · 2 Mbit/s</c:v>
                  </c:pt>
                  <c:pt idx="1">
                    <c:v>4G · 1 Gbit/s</c:v>
                  </c:pt>
                  <c:pt idx="2">
                    <c:v>5G · 20 Gbit/s</c:v>
                  </c:pt>
                  <c:pt idx="3">
                    <c:v>6G · 200 Gbit/s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0.002</c:v>
                </c:pt>
                <c:pt idx="1">
                  <c:v>1</c:v>
                </c:pt>
                <c:pt idx="2">
                  <c:v>20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01"/>
        </c:scaling>
        <c:delete val="0"/>
        <c:axPos val="l"/>
        <c:majorGridlines>
          <c:spPr>
            <a:ln w="9525" cap="flat">
              <a:solidFill>
                <a:srgbClr val="E3E5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56B8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656B80"/>
                    </a:solidFill>
                    <a:latin typeface="+mn-lt"/>
                  </a:rPr>
                  <a:t>Gbit/s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5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第1章 概述（Overview）。学时：2 学时。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目录与本章教学要求（依据课程教学大纲：学时、学习达成、支撑课程目标、教学方法、课外环节、思政融入点）。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本章导学：学习目标对应课程目标1（深刻理解5G-6G标准演进）。重点放在5G与6G场景/指标对比和标准化路线；难点是ITU-R与3GPP的分工协同、各项指标之间的权衡。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每十年一代：1G模拟语音（AMPS/TACS），2G数字化（GSM/IS-95），3G移动互联网（WCDMA/CDMA2000/TD-SCDMA），4G移动宽带（OFDM+MIMO），5G万物互联（2019年商用），6G预计2030年前后商用。引导学生思考每一代的“新空口+新频谱+新业务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峰值速率为ITU-R给出的指标（非实测）：IMT-2000约2 Mbit/s，IMT-Advanced 1 Gbit/s（低速），IMT-2020 20 Gbit/s，IMT-2030研究目标50/100/200 Gbit/s。纵轴为对数坐标。香农公式 C = B·log2(1+SNR) × 流数：带宽、频谱效率、空间复用是三条主线。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三类组织：WRC负责频谱（无线电规则），ITU-R WP 5D负责IMT愿景/需求/评估，3GPP负责具体技术规范并作为候选技术提交ITU-R。3GPP的7个组织伙伴：ARIB、TTC（日本）、ATIS（美国）、CCSA（中国）、ETSI（欧洲）、TSDSI（印度）、TTA（韩国）。WRC-27议题1.7研究4.4–4.8 GHz、7.125–8.4 GHz、14.8–15.35 GHz用于IMT。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5G三大场景（ITU-R M.2083）：eMBB、URLLC、mMTC。八大关键能力：峰值速率20 Gbit/s、用户体验速率100 Mbit/s、时延1 ms、移动性500 km/h、连接密度10^6/km²、频谱效率3倍、网络能效100倍、区域流量10 Mbit/s/m²。说明：不同场景侧重不同指标，并不要求同时达到。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3GPP版本：Rel-15首个5G标准（NSA 2017.12、SA 2018.06）；Rel-16（2020）URLLC/IIoT/V2X；Rel-17（2022）NTN、RedCap、71 GHz；Rel-18（2024）为5G-Advanced首个版本；Rel-19（2025）；Rel-20含5G-A演进与6G研究（RAN#108，2025年6月批准6G研究项目）；Rel-21为首个6G标准版本：Stage-1冻结2027.03、Stage-2 2028.06、Stage-3 2028.12、ASN.1 2029.03（TSG#112，2026年6月）。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5G-Advanced（5.5G）自Rel-18起，是5G向6G的过渡。六个方向：万兆体验、通感一体、无源物联、内生智能、天地一体、绿色低碳。2024年为我国5G-A商用元年；据GSMA 2026报告，5G-A已在我国330多个城市商用；合肥5G-A通感一体专网覆盖主城区600米以下低空，服务低空经济（呼应第2章思政点）。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ITU-R M.2160（2023年11月批准）给出6G六大场景：由5G扩展的沉浸式通信、HRLLC、超大规模连接，以及全新的泛在连接、AI与通信、通信感知一体化（ISAC）；四大设计原则：可持续性、连接未连接、泛在智能、安全/隐私/韧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T-2030共15项能力：9项由IMT-2020增强（峰值速率、用户体验速率、频谱效率、区域流量、连接密度、移动性、时延、可靠性、安全与韧性），6项新增（覆盖、定位、感知、AI相关、可持续性、互操作性）。数值为“研究目标”，ITU-R强调不同场景不必同时满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ITU-R：2023年11月批准M.2160框架；2024–2026年制定技术性能需求与评估方法；候选技术提交窗口从WP 5D第54次会议（2027年2月）到第59次会议（2029年2月）；之后评估并形成IMT-2030规范（约2030年）。WRC-27议题1.7研究4.4–4.8 GHz、7.125–8.4 GHz、14.8–15.35 GHz。3GPP：Rel-20开展6G研究（2025年6月启动），Rel-21制定首个6G标准，Stage-3于2028年12月冻结、ASN.1于2029年3月冻结，2030年前后商用。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八项关键使能技术：前四项（空天地一体化、极化赋形、里德堡原子接收机、太赫兹）对应本课程第2–4章；ISAC、AI原生空口、RIS、超大规模MIMO作为拓展阅读。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天地一体化：天基（GEO/MEO/LEO）、空基（HAPS/UAV）、地基（蜂窝网络）三层协同。公开跟踪数据显示，截至2026年10月Starlink在轨工作卫星约1万颗，我国国网与千帆星座在轨合计约480颗（不同统计口径略有差异）。3GPP在Rel-17首次引入NTN（TR 38.811、TR 38.821）。详见第2章。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极化赋形（Polarforming）：通过可重构天线把极化塑造成所需状态，实现极化匹配/失配，缓解去极化、抑制干扰（参考 arXiv:2409.07771）。里德堡原子接收机：铷原子经780 nm探测光与约480 nm耦合光激发到里德堡态，形成EIT；射频场引起AT分裂，由探测光透射谱读出电场；Jing等（Nature Physics 2020）实现55 nV·cm^-1·Hz^-1/2灵敏度。详见第3章。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太赫兹频段0.1–10 THz，介于毫米波与红外之间（“太赫兹空隙”）。优势：数十GHz带宽、窄波束、高分辨率感知；挑战：自由空间损耗 FSPL=20lg(4πdf/c)，300 GHz、10 m约102 dB，并有水汽等分子吸收，器件功率与噪声、波束对准与遮挡。2026年日本团队报道560 GHz、112 Gbit/s（16QAM）实验。详见第4章。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1G空白、2G跟随、3G突破、4G同步、5G引领”：1987年广东开通TACS模拟网；1993年浙江嘉兴开通首个GSM网；2000年5月TD-SCDMA被ITU批准为3G国际标准之一；2012年1月TD-LTE-Advanced成为IMT-Advanced（4G）国际标准之一，2013年发放4G牌照；2019年6月发放5G商用牌照；2019年6月成立IMT-2030(6G)推进组。引导学生体会自主创新与标准话语权的重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至2026年9月末，我国5G基站总数达525.4万座（国新办发布会，2026年10月20日）；截至8月末，5G移动电话用户13.11亿户，占移动电话用户70.9%；我国5G标准必要专利声明量全球占比42%（工信部，2026年1月发布）；5G-A已在330多个城市商用（GSMA）。讨论：从“跟跑”到“领跑”靠的是持续自主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小结四点：演进规律、5G与5G-A、6G愿景与标准、前沿技术与后续章节的衔接。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课外环节（大纲）：网络自学。建议学生浏览ITU-R IMT-2030主页与3GPP版本页面，阅读IMT-2030(6G)推进组白皮书，完成三道思考题，下次课交流。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参考文献含ITU-R建议书、3GPP时间表、代表性综述论文、里德堡与极化赋形论文、工信部统计数据及课程教材。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s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itle-and-Conten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Title-Only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D9DCF2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课程名称 Course title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600" b="1" spc="200" kern="0" dirty="0">
                <a:solidFill>
                  <a:srgbClr val="9FE3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9FE3FF"/>
                </a:solidFill>
              </a:rPr>
              <a:t>第 N 章 · CHAPTER N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章标题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400" dirty="0">
                <a:solidFill>
                  <a:srgbClr val="C3B6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400" dirty="0">
                <a:solidFill>
                  <a:srgbClr val="C3B6FF"/>
                </a:solidFill>
              </a:rPr>
              <a:t>Chapter title in English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B9BDE0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B9BDE0"/>
                </a:solidFill>
              </a:rPr>
              <a:t>本章小节 Sections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200" dirty="0">
                <a:solidFill>
                  <a:srgbClr val="B9BDE0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200" dirty="0">
                <a:solidFill>
                  <a:srgbClr val="B9BDE0"/>
                </a:solidFill>
              </a:rPr>
              <a:t>学院 · 主讲教师 School · Instructor</a:t>
            </a:r>
            <a:endParaRPr 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目录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spc="600" kern="0" dirty="0">
                <a:solidFill>
                  <a:srgbClr val="9FE3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spc="600" kern="0" dirty="0">
                <a:solidFill>
                  <a:srgbClr val="9FE3FF"/>
                </a:solidFill>
              </a:rPr>
              <a:t>CONTENTS</a:t>
            </a:r>
            <a:endParaRPr lang="zh-CN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节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1000" b="1" dirty="0">
                <a:solidFill>
                  <a:srgbClr val="9FE3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1000" b="1" dirty="0">
                <a:solidFill>
                  <a:srgbClr val="9FE3FF"/>
                </a:solidFill>
              </a:rPr>
              <a:t>N.N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节标题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000" dirty="0">
                <a:solidFill>
                  <a:srgbClr val="C3B6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000" dirty="0">
                <a:solidFill>
                  <a:srgbClr val="C3B6FF"/>
                </a:solidFill>
              </a:rPr>
              <a:t>Section title in English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300" dirty="0">
                <a:solidFill>
                  <a:srgbClr val="B9BDE0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300" dirty="0">
                <a:solidFill>
                  <a:srgbClr val="B9BDE0"/>
                </a:solidFill>
              </a:rPr>
              <a:t>本节要点 Key topics</a:t>
            </a:r>
            <a:endParaRPr lang="zh-CN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标题和内容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08760"/>
            <a:ext cx="11094415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600"/>
              </a:spcAft>
              <a:buSzPct val="100000"/>
              <a:buChar char="•"/>
              <a:defRPr lang="zh-CN" altLang="en-US" sz="1800" dirty="0">
                <a:solidFill>
                  <a:schemeClr val="tx1"/>
                </a:solidFill>
              </a:defRPr>
            </a:lvl1pPr>
          </a:lstStyle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zh-CN" altLang="en-US" sz="1800" dirty="0">
                <a:solidFill>
                  <a:schemeClr val="tx1"/>
                </a:solidFill>
              </a:rPr>
              <a:t>单击此处添加内容 / Click to add content</a:t>
            </a:r>
            <a:endParaRPr lang="zh-CN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新一代移动通信系统（双语）｜第1章 概述  ·  Ch.1 Overview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仅标题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单击此处添加标题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5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Click to add the English title</a:t>
            </a:r>
            <a:endParaRPr lang="zh-CN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282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新一代移动通信系统（双语）｜第1章 概述  ·  Ch.1 Overview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结束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2600" dirty="0">
                <a:solidFill>
                  <a:srgbClr val="C3B6FF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2600" dirty="0">
                <a:solidFill>
                  <a:srgbClr val="C3B6FF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zh-CN" altLang="en-US" sz="1400" dirty="0">
                <a:solidFill>
                  <a:srgbClr val="B9BDE0"/>
                </a:solidFill>
              </a:defRPr>
            </a:lvl1pPr>
          </a:lstStyle>
          <a:p>
            <a:pPr indent="0" marL="0">
              <a:buNone/>
            </a:pPr>
            <a:r>
              <a:rPr lang="zh-CN" altLang="en-US" sz="1400" dirty="0">
                <a:solidFill>
                  <a:srgbClr val="B9BDE0"/>
                </a:solidFill>
              </a:rPr>
              <a:t>下一章预告 / Next chapter</a:t>
            </a:r>
            <a:endParaRPr 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D9DCF2"/>
                </a:solidFill>
              </a:rPr>
              <a:t>新一代移动通信系统（双语）   |   Next-Generation Mobile Communication Systems</a:t>
            </a:r>
            <a:endParaRPr lang="zh-CN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spc="200" kern="0" dirty="0">
                <a:solidFill>
                  <a:srgbClr val="9FE3FF"/>
                </a:solidFill>
              </a:rPr>
              <a:t>第 1 章   ·   CHAPTER 01</a:t>
            </a:r>
            <a:endParaRPr lang="zh-CN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0116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概述</a:t>
            </a:r>
            <a:endParaRPr lang="zh-CN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1546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C3B6FF"/>
                </a:solidFill>
              </a:rPr>
              <a:t>Overview</a:t>
            </a:r>
            <a:endParaRPr lang="zh-CN" sz="24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42245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B9BDE0"/>
                </a:solidFill>
              </a:rPr>
              <a:t>1.1 5G-6G标准演进     1.2 移动通信前沿技术简介</a:t>
            </a:r>
            <a:endParaRPr lang="zh-CN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B9BDE0"/>
                </a:solidFill>
              </a:rPr>
              <a:t>信息科学与工程学院  School of Information Science and Engineering     ·     主讲教师 Instructor：张淼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目录</a:t>
            </a:r>
            <a:endParaRPr lang="zh-C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261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spc="600" kern="0" dirty="0">
                <a:solidFill>
                  <a:srgbClr val="9FE3FF"/>
                </a:solidFill>
              </a:rPr>
              <a:t>CONTENTS</a:t>
            </a:r>
            <a:endParaRPr lang="zh-CN" sz="1500" dirty="0"/>
          </a:p>
        </p:txBody>
      </p:sp>
      <p:sp>
        <p:nvSpPr>
          <p:cNvPr id="4" name="目录编号 1.1"/>
          <p:cNvSpPr txBox="1"/>
          <p:nvPr/>
        </p:nvSpPr>
        <p:spPr>
          <a:xfrm>
            <a:off x="685800" y="23317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9FE3FF"/>
                </a:solidFill>
              </a:rPr>
              <a:t>1.1</a:t>
            </a:r>
            <a:endParaRPr lang="en-US" sz="3400" dirty="0"/>
          </a:p>
        </p:txBody>
      </p:sp>
      <p:sp>
        <p:nvSpPr>
          <p:cNvPr id="5" name="目录标题 1.1"/>
          <p:cNvSpPr txBox="1"/>
          <p:nvPr/>
        </p:nvSpPr>
        <p:spPr>
          <a:xfrm>
            <a:off x="2057400" y="23134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5G-6G标准演进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B9BDE0"/>
                </a:solidFill>
              </a:rPr>
              <a:t>Evolution of 5G-to-6G Standards</a:t>
            </a:r>
            <a:endParaRPr lang="en-US" sz="2100" dirty="0"/>
          </a:p>
        </p:txBody>
      </p:sp>
      <p:sp>
        <p:nvSpPr>
          <p:cNvPr id="6" name="目录编号 1.2"/>
          <p:cNvSpPr txBox="1"/>
          <p:nvPr/>
        </p:nvSpPr>
        <p:spPr>
          <a:xfrm>
            <a:off x="685800" y="370332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9FE3FF"/>
                </a:solidFill>
              </a:rPr>
              <a:t>1.2</a:t>
            </a:r>
            <a:endParaRPr lang="en-US" sz="3400" dirty="0"/>
          </a:p>
        </p:txBody>
      </p:sp>
      <p:sp>
        <p:nvSpPr>
          <p:cNvPr id="7" name="目录标题 1.2"/>
          <p:cNvSpPr txBox="1"/>
          <p:nvPr/>
        </p:nvSpPr>
        <p:spPr>
          <a:xfrm>
            <a:off x="2057400" y="36850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2100" b="1" dirty="0">
                <a:solidFill>
                  <a:srgbClr val="FFFFFF"/>
                </a:solidFill>
              </a:rPr>
              <a:t>移动通信前沿技术简介</a:t>
            </a:r>
            <a:endParaRPr lang="en-US" sz="2100" dirty="0"/>
          </a:p>
          <a:p>
            <a:pPr indent="0" marL="0">
              <a:spcAft>
                <a:spcPts val="400"/>
              </a:spcAft>
              <a:buNone/>
            </a:pPr>
            <a:r>
              <a:rPr lang="zh-CN" altLang="en-US" sz="1250" dirty="0">
                <a:solidFill>
                  <a:srgbClr val="B9BDE0"/>
                </a:solidFill>
              </a:rPr>
              <a:t>Introduction to Frontier Technologies in Mobile Communications</a:t>
            </a:r>
            <a:endParaRPr lang="en-US" sz="2100" dirty="0"/>
          </a:p>
        </p:txBody>
      </p:sp>
      <p:sp>
        <p:nvSpPr>
          <p:cNvPr id="8" name="教学要求面板"/>
          <p:cNvSpPr/>
          <p:nvPr/>
        </p:nvSpPr>
        <p:spPr>
          <a:xfrm>
            <a:off x="7269480" y="1417320"/>
            <a:ext cx="4373575" cy="4718304"/>
          </a:xfrm>
          <a:prstGeom prst="roundRect">
            <a:avLst>
              <a:gd name="adj" fmla="val 2509"/>
            </a:avLst>
          </a:prstGeom>
          <a:solidFill>
            <a:srgbClr val="0F0C33">
              <a:alpha val="84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面板标题"/>
          <p:cNvSpPr txBox="1"/>
          <p:nvPr/>
        </p:nvSpPr>
        <p:spPr>
          <a:xfrm>
            <a:off x="7525512" y="1563624"/>
            <a:ext cx="39163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本章教学要求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B9BDE0"/>
                </a:solidFill>
              </a:rPr>
              <a:t>Teaching requirements (from the syllabus)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25512" y="21488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FE3FF"/>
                </a:solidFill>
              </a:rPr>
              <a:t>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Hours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750808" y="214884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2 学时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2 class hours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25512" y="28072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FE3FF"/>
                </a:solidFill>
              </a:rPr>
              <a:t>学习达成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Outcome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750808" y="2807208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下一代移动通信系统的认知能力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Cognitive grasp of next-generation mobile systems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346557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FE3FF"/>
                </a:solidFill>
              </a:rPr>
              <a:t>支撑课程目标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Objectives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3465576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目标1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Course Objective 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25512" y="41239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FE3FF"/>
                </a:solidFill>
              </a:rPr>
              <a:t>教学方法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Methods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750808" y="4123944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讲授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Lecture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47823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FE3FF"/>
                </a:solidFill>
              </a:rPr>
              <a:t>课外环节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After class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750808" y="4782312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网络自学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Online self-study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25512" y="544068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rgbClr val="9FE3FF"/>
                </a:solidFill>
              </a:rPr>
              <a:t>思政融入点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Ideology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5440680"/>
            <a:ext cx="2681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rgbClr val="FFFFFF"/>
                </a:solidFill>
              </a:rPr>
              <a:t>中国移动通信的逆袭之路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B9BDE0"/>
                </a:solidFill>
              </a:rPr>
              <a:t>China's rise in mobile communications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本章导学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Chapter Guide: Objectives, Key Points and Difficulties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学习目标</a:t>
            </a:r>
            <a:endParaRPr lang="en-US" sz="18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accent1"/>
                </a:solidFill>
              </a:rPr>
              <a:t>Learning objectives</a:t>
            </a:r>
            <a:endParaRPr lang="en-US" sz="1800" dirty="0"/>
          </a:p>
        </p:txBody>
      </p:sp>
      <p:sp>
        <p:nvSpPr>
          <p:cNvPr id="5" name="目标1"/>
          <p:cNvSpPr/>
          <p:nvPr/>
        </p:nvSpPr>
        <p:spPr>
          <a:xfrm>
            <a:off x="548640" y="2286000"/>
            <a:ext cx="6355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240487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957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了解1G–6G移动通信的演进脉络与驱动力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Trace the evolution of mobile generations from 1G to 6G and its drivers</a:t>
            </a:r>
            <a:endParaRPr lang="en-US" sz="1400" dirty="0"/>
          </a:p>
        </p:txBody>
      </p:sp>
      <p:sp>
        <p:nvSpPr>
          <p:cNvPr id="8" name="目标2"/>
          <p:cNvSpPr/>
          <p:nvPr/>
        </p:nvSpPr>
        <p:spPr>
          <a:xfrm>
            <a:off x="548640" y="3273552"/>
            <a:ext cx="6355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33924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383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掌握IMT-2020（5G）三大应用场景与关键能力指标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Master the usage scenarios and key capabilities of IMT-2020 (5G)</a:t>
            </a:r>
            <a:endParaRPr lang="en-US" sz="1400" dirty="0"/>
          </a:p>
        </p:txBody>
      </p:sp>
      <p:sp>
        <p:nvSpPr>
          <p:cNvPr id="11" name="目标3"/>
          <p:cNvSpPr/>
          <p:nvPr/>
        </p:nvSpPr>
        <p:spPr>
          <a:xfrm>
            <a:off x="548640" y="4261104"/>
            <a:ext cx="6355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49808" y="437997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3708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理解IMT-2030（6G）愿景、能力指标与标准化时间表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Understand the IMT-2030 (6G) vision, capabilities and standards timeline</a:t>
            </a:r>
            <a:endParaRPr lang="en-US" sz="1400" dirty="0"/>
          </a:p>
        </p:txBody>
      </p:sp>
      <p:sp>
        <p:nvSpPr>
          <p:cNvPr id="14" name="目标4"/>
          <p:cNvSpPr/>
          <p:nvPr/>
        </p:nvSpPr>
        <p:spPr>
          <a:xfrm>
            <a:off x="548640" y="5248656"/>
            <a:ext cx="63550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" y="536752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535838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了解空天地一体化、新型收发机、太赫兹等前沿技术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Get an overview of SAGIN, novel transceivers, THz and other frontier technologies</a:t>
            </a:r>
            <a:endParaRPr lang="en-US" sz="1400" dirty="0"/>
          </a:p>
        </p:txBody>
      </p:sp>
      <p:sp>
        <p:nvSpPr>
          <p:cNvPr id="17" name="重点"/>
          <p:cNvSpPr/>
          <p:nvPr/>
        </p:nvSpPr>
        <p:spPr>
          <a:xfrm>
            <a:off x="7360920" y="1572768"/>
            <a:ext cx="4282135" cy="2148840"/>
          </a:xfrm>
          <a:prstGeom prst="roundRect">
            <a:avLst>
              <a:gd name="adj" fmla="val 4255"/>
            </a:avLst>
          </a:prstGeom>
          <a:solidFill>
            <a:srgbClr val="F1EFFF"/>
          </a:solidFill>
          <a:ln/>
        </p:spPr>
      </p:sp>
      <p:sp>
        <p:nvSpPr>
          <p:cNvPr id="18" name="重点 图标底"/>
          <p:cNvSpPr/>
          <p:nvPr/>
        </p:nvSpPr>
        <p:spPr>
          <a:xfrm>
            <a:off x="7589520" y="1801368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9" name="重点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0221" y="1922069"/>
            <a:ext cx="307238" cy="30723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275320" y="1773936"/>
            <a:ext cx="3184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accent1"/>
                </a:solidFill>
              </a:rPr>
              <a:t>重点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Key points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2532888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300" dirty="0">
                <a:solidFill>
                  <a:schemeClr val="tx1"/>
                </a:solidFill>
              </a:rPr>
              <a:t>5G/6G应用场景与关键能力指标的对比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5G vs 6G usage scenarios and key capabilities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300" dirty="0">
                <a:solidFill>
                  <a:schemeClr val="tx1"/>
                </a:solidFill>
              </a:rPr>
              <a:t>3GPP版本演进与6G标准化时间表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3GPP release roadmap and the 6G timeline</a:t>
            </a:r>
            <a:endParaRPr lang="en-US" sz="1300" dirty="0"/>
          </a:p>
        </p:txBody>
      </p:sp>
      <p:sp>
        <p:nvSpPr>
          <p:cNvPr id="22" name="难点"/>
          <p:cNvSpPr/>
          <p:nvPr/>
        </p:nvSpPr>
        <p:spPr>
          <a:xfrm>
            <a:off x="7360920" y="3904488"/>
            <a:ext cx="4282135" cy="2148840"/>
          </a:xfrm>
          <a:prstGeom prst="roundRect">
            <a:avLst>
              <a:gd name="adj" fmla="val 4255"/>
            </a:avLst>
          </a:prstGeom>
          <a:solidFill>
            <a:srgbClr val="FFF4F8"/>
          </a:solidFill>
          <a:ln/>
        </p:spPr>
      </p:sp>
      <p:sp>
        <p:nvSpPr>
          <p:cNvPr id="23" name="难点 图标底"/>
          <p:cNvSpPr/>
          <p:nvPr/>
        </p:nvSpPr>
        <p:spPr>
          <a:xfrm>
            <a:off x="7589520" y="4133088"/>
            <a:ext cx="548640" cy="548640"/>
          </a:xfrm>
          <a:prstGeom prst="ellipse">
            <a:avLst/>
          </a:prstGeom>
          <a:solidFill>
            <a:srgbClr val="D63F86"/>
          </a:solidFill>
          <a:ln/>
        </p:spPr>
      </p:sp>
      <p:pic>
        <p:nvPicPr>
          <p:cNvPr id="24" name="难点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221" y="4253789"/>
            <a:ext cx="307238" cy="30723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275320" y="4105656"/>
            <a:ext cx="3184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accent3"/>
                </a:solidFill>
              </a:rPr>
              <a:t>难点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Difficulties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635240" y="4864608"/>
            <a:ext cx="3779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300" dirty="0">
                <a:solidFill>
                  <a:schemeClr val="tx1"/>
                </a:solidFill>
              </a:rPr>
              <a:t>ITU-R与3GPP协同的标准化流程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How ITU-R and 3GPP work together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300" dirty="0">
                <a:solidFill>
                  <a:schemeClr val="tx1"/>
                </a:solidFill>
              </a:rPr>
              <a:t>性能指标之间的权衡与取舍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Trade-offs among performance targets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1000" b="1" dirty="0">
                <a:solidFill>
                  <a:srgbClr val="9FE3FF"/>
                </a:solidFill>
              </a:rPr>
              <a:t>1.1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5G-6G标准演进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C3B6FF"/>
                </a:solidFill>
              </a:rPr>
              <a:t>Evolution of 5G-to-6G Standards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B9BDE0"/>
                </a:solidFill>
              </a:rPr>
              <a:t>代际演进 · 标准化体系 · 5G与5G-Advanced · IMT-2030愿景与指标 · 6G时间表</a:t>
            </a:r>
            <a:endParaRPr lang="zh-CN" sz="1300" dirty="0"/>
          </a:p>
          <a:p>
            <a:pPr indent="0" marL="0">
              <a:buNone/>
            </a:pPr>
            <a:r>
              <a:rPr lang="zh-CN" altLang="en-US" sz="1300" dirty="0">
                <a:solidFill>
                  <a:srgbClr val="B9BDE0"/>
                </a:solidFill>
              </a:rPr>
              <a:t>Generations · Standards bodies · 5G &amp; 5G-Advanced · IMT-2030 vision · 6G timeline</a:t>
            </a:r>
            <a:endParaRPr lang="zh-CN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移动通信代际演进：约十年一代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From 1G to 6G: A New Generation Roughly Every Decade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1394460" y="2212848"/>
            <a:ext cx="9402775" cy="0"/>
          </a:xfrm>
          <a:prstGeom prst="line">
            <a:avLst/>
          </a:prstGeom>
          <a:noFill/>
          <a:ln w="25400">
            <a:solidFill>
              <a:srgbClr val="AEA0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17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656B80"/>
                </a:solidFill>
              </a:rPr>
              <a:t>1980s</a:t>
            </a:r>
            <a:endParaRPr lang="en-US" sz="1300" dirty="0"/>
          </a:p>
        </p:txBody>
      </p:sp>
      <p:sp>
        <p:nvSpPr>
          <p:cNvPr id="6" name="代际 1G"/>
          <p:cNvSpPr txBox="1"/>
          <p:nvPr/>
        </p:nvSpPr>
        <p:spPr>
          <a:xfrm>
            <a:off x="1028700" y="1847088"/>
            <a:ext cx="731520" cy="731520"/>
          </a:xfrm>
          <a:prstGeom prst="ellipse">
            <a:avLst/>
          </a:prstGeom>
          <a:solidFill>
            <a:srgbClr val="BDB1F4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1G</a:t>
            </a:r>
            <a:endParaRPr lang="en-US" sz="1700" dirty="0"/>
          </a:p>
        </p:txBody>
      </p:sp>
      <p:sp>
        <p:nvSpPr>
          <p:cNvPr id="7" name="1G 说明卡"/>
          <p:cNvSpPr/>
          <p:nvPr/>
        </p:nvSpPr>
        <p:spPr>
          <a:xfrm>
            <a:off x="548640" y="278892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" y="2926080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模拟语音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Analog voice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关键技术 Key tech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FDMA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模拟调频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代表系统 Systems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AMPS / TACS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NMT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429195" y="1517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656B80"/>
                </a:solidFill>
              </a:rPr>
              <a:t>1990s</a:t>
            </a:r>
            <a:endParaRPr lang="en-US" sz="1300" dirty="0"/>
          </a:p>
        </p:txBody>
      </p:sp>
      <p:sp>
        <p:nvSpPr>
          <p:cNvPr id="10" name="代际 2G"/>
          <p:cNvSpPr txBox="1"/>
          <p:nvPr/>
        </p:nvSpPr>
        <p:spPr>
          <a:xfrm>
            <a:off x="2909255" y="1847088"/>
            <a:ext cx="731520" cy="731520"/>
          </a:xfrm>
          <a:prstGeom prst="ellipse">
            <a:avLst/>
          </a:prstGeom>
          <a:solidFill>
            <a:srgbClr val="A595E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2G</a:t>
            </a:r>
            <a:endParaRPr lang="en-US" sz="1700" dirty="0"/>
          </a:p>
        </p:txBody>
      </p:sp>
      <p:sp>
        <p:nvSpPr>
          <p:cNvPr id="11" name="2G 说明卡"/>
          <p:cNvSpPr/>
          <p:nvPr/>
        </p:nvSpPr>
        <p:spPr>
          <a:xfrm>
            <a:off x="2429195" y="278892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575499" y="2926080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数字语音与短信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Digital voice &amp; SMS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关键技术 Key tech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TDMA / CDMA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代表系统 Systems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GSM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IS-95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09750" y="1517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656B80"/>
                </a:solidFill>
              </a:rPr>
              <a:t>2000s</a:t>
            </a:r>
            <a:endParaRPr lang="en-US" sz="1300" dirty="0"/>
          </a:p>
        </p:txBody>
      </p:sp>
      <p:sp>
        <p:nvSpPr>
          <p:cNvPr id="14" name="代际 3G"/>
          <p:cNvSpPr txBox="1"/>
          <p:nvPr/>
        </p:nvSpPr>
        <p:spPr>
          <a:xfrm>
            <a:off x="4789810" y="1847088"/>
            <a:ext cx="731520" cy="731520"/>
          </a:xfrm>
          <a:prstGeom prst="ellipse">
            <a:avLst/>
          </a:prstGeom>
          <a:solidFill>
            <a:srgbClr val="8C78E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3G</a:t>
            </a:r>
            <a:endParaRPr lang="en-US" sz="1700" dirty="0"/>
          </a:p>
        </p:txBody>
      </p:sp>
      <p:sp>
        <p:nvSpPr>
          <p:cNvPr id="15" name="3G 说明卡"/>
          <p:cNvSpPr/>
          <p:nvPr/>
        </p:nvSpPr>
        <p:spPr>
          <a:xfrm>
            <a:off x="4309750" y="278892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56054" y="2926080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移动互联网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Mobile Internet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关键技术 Key tech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宽带CDMA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代表系统 Systems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WCDMA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CDMA2000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TD-SCDMA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0305" y="1517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656B80"/>
                </a:solidFill>
              </a:rPr>
              <a:t>2010s</a:t>
            </a:r>
            <a:endParaRPr lang="en-US" sz="1300" dirty="0"/>
          </a:p>
        </p:txBody>
      </p:sp>
      <p:sp>
        <p:nvSpPr>
          <p:cNvPr id="18" name="代际 4G"/>
          <p:cNvSpPr txBox="1"/>
          <p:nvPr/>
        </p:nvSpPr>
        <p:spPr>
          <a:xfrm>
            <a:off x="6670365" y="1847088"/>
            <a:ext cx="731520" cy="731520"/>
          </a:xfrm>
          <a:prstGeom prst="ellipse">
            <a:avLst/>
          </a:prstGeom>
          <a:solidFill>
            <a:srgbClr val="745CE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4G</a:t>
            </a:r>
            <a:endParaRPr lang="en-US" sz="1700" dirty="0"/>
          </a:p>
        </p:txBody>
      </p:sp>
      <p:sp>
        <p:nvSpPr>
          <p:cNvPr id="19" name="4G 说明卡"/>
          <p:cNvSpPr/>
          <p:nvPr/>
        </p:nvSpPr>
        <p:spPr>
          <a:xfrm>
            <a:off x="6190305" y="278892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36609" y="2926080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移动宽带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Mobile broadband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关键技术 Key tech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OFDM + MIMO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代表系统 Systems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LTE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LTE-Advanced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70860" y="1517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656B80"/>
                </a:solidFill>
              </a:rPr>
              <a:t>2019–</a:t>
            </a:r>
            <a:endParaRPr lang="en-US" sz="1300" dirty="0"/>
          </a:p>
        </p:txBody>
      </p:sp>
      <p:sp>
        <p:nvSpPr>
          <p:cNvPr id="22" name="代际 5G"/>
          <p:cNvSpPr txBox="1"/>
          <p:nvPr/>
        </p:nvSpPr>
        <p:spPr>
          <a:xfrm>
            <a:off x="8550920" y="1847088"/>
            <a:ext cx="731520" cy="731520"/>
          </a:xfrm>
          <a:prstGeom prst="ellipse">
            <a:avLst/>
          </a:prstGeom>
          <a:solidFill>
            <a:srgbClr val="5B3FE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5G</a:t>
            </a:r>
            <a:endParaRPr lang="en-US" sz="1700" dirty="0"/>
          </a:p>
        </p:txBody>
      </p:sp>
      <p:sp>
        <p:nvSpPr>
          <p:cNvPr id="23" name="5G 说明卡"/>
          <p:cNvSpPr/>
          <p:nvPr/>
        </p:nvSpPr>
        <p:spPr>
          <a:xfrm>
            <a:off x="8070860" y="278892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17164" y="2926080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万物互联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Internet of Everything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关键技术 Key tech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Massive MIMO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毫米波 mmWave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代表系统 Systems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5G NR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5G-Advanced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951415" y="15179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656B80"/>
                </a:solidFill>
              </a:rPr>
              <a:t>≈2030</a:t>
            </a:r>
            <a:endParaRPr lang="en-US" sz="1300" dirty="0"/>
          </a:p>
        </p:txBody>
      </p:sp>
      <p:sp>
        <p:nvSpPr>
          <p:cNvPr id="26" name="代际 6G"/>
          <p:cNvSpPr txBox="1"/>
          <p:nvPr/>
        </p:nvSpPr>
        <p:spPr>
          <a:xfrm>
            <a:off x="10431475" y="1847088"/>
            <a:ext cx="731520" cy="731520"/>
          </a:xfrm>
          <a:prstGeom prst="ellipse">
            <a:avLst/>
          </a:prstGeom>
          <a:solidFill>
            <a:srgbClr val="D63F86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</a:rPr>
              <a:t>6G</a:t>
            </a:r>
            <a:endParaRPr lang="en-US" sz="1700" dirty="0"/>
          </a:p>
        </p:txBody>
      </p:sp>
      <p:sp>
        <p:nvSpPr>
          <p:cNvPr id="27" name="6G 说明卡"/>
          <p:cNvSpPr/>
          <p:nvPr/>
        </p:nvSpPr>
        <p:spPr>
          <a:xfrm>
            <a:off x="9951415" y="278892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097719" y="2926080"/>
            <a:ext cx="1417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</a:rPr>
              <a:t>智慧泛在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zh-CN" altLang="en-US" sz="1050" dirty="0">
                <a:solidFill>
                  <a:schemeClr val="accent3"/>
                </a:solidFill>
              </a:rPr>
              <a:t>Ubiquitous intelligence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关键技术 Key tech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空天地一体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通感一体 · AI原生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950" b="1" dirty="0">
                <a:solidFill>
                  <a:srgbClr val="656B80"/>
                </a:solidFill>
              </a:rPr>
              <a:t>代表系统 Systems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IMT-2030</a:t>
            </a:r>
            <a:endParaRPr lang="en-US" sz="1500" dirty="0"/>
          </a:p>
        </p:txBody>
      </p:sp>
      <p:sp>
        <p:nvSpPr>
          <p:cNvPr id="29" name="演进规律"/>
          <p:cNvSpPr/>
          <p:nvPr/>
        </p:nvSpPr>
        <p:spPr>
          <a:xfrm>
            <a:off x="548640" y="54864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F1EFFF"/>
          </a:solidFill>
          <a:ln/>
        </p:spPr>
      </p:sp>
      <p:sp>
        <p:nvSpPr>
          <p:cNvPr id="30" name="演进规律 图标底"/>
          <p:cNvSpPr/>
          <p:nvPr/>
        </p:nvSpPr>
        <p:spPr>
          <a:xfrm>
            <a:off x="731520" y="5586984"/>
            <a:ext cx="512064" cy="512064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31" name="演进规律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174" y="5699638"/>
            <a:ext cx="286756" cy="28675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417320" y="5532120"/>
            <a:ext cx="100428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2"/>
                </a:solidFill>
              </a:rPr>
              <a:t>规律：每一代 ≈ 新空口 + 新频谱 + 新业务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Pattern: each generation brings a new air interface, new spectrum and new services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峰值速率指标的代际跃升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Peak Data Rate Targets Across IMT Generations</a:t>
            </a:r>
            <a:endParaRPr lang="zh-CN" sz="1500" dirty="0"/>
          </a:p>
        </p:txBody>
      </p:sp>
      <p:graphicFrame>
        <p:nvGraphicFramePr>
          <p:cNvPr id="4" name="峰值速率柱状图" descr=""/>
          <p:cNvGraphicFramePr/>
          <p:nvPr/>
        </p:nvGraphicFramePr>
        <p:xfrm>
          <a:off x="548640" y="1481328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倍数卡"/>
          <p:cNvSpPr/>
          <p:nvPr/>
        </p:nvSpPr>
        <p:spPr>
          <a:xfrm>
            <a:off x="7726680" y="1554480"/>
            <a:ext cx="3916375" cy="2057400"/>
          </a:xfrm>
          <a:prstGeom prst="roundRect">
            <a:avLst>
              <a:gd name="adj" fmla="val 4444"/>
            </a:avLst>
          </a:prstGeom>
          <a:solidFill>
            <a:srgbClr val="F1E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645920"/>
            <a:ext cx="3459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400" b="1" dirty="0">
                <a:solidFill>
                  <a:schemeClr val="accent1"/>
                </a:solidFill>
              </a:rPr>
              <a:t>10</a:t>
            </a:r>
            <a:r>
              <a:rPr lang="zh-CN" altLang="en-US" sz="5400" b="1" baseline="30000" dirty="0">
                <a:solidFill>
                  <a:schemeClr val="accent1"/>
                </a:solidFill>
              </a:rPr>
              <a:t>5</a:t>
            </a:r>
            <a:r>
              <a:rPr lang="zh-CN" altLang="en-US" sz="4000" b="1" dirty="0">
                <a:solidFill>
                  <a:schemeClr val="accent1"/>
                </a:solidFill>
              </a:rPr>
              <a:t> ×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633472"/>
            <a:ext cx="3459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3G → 6G：峰值速率指标提升约十万倍</a:t>
            </a:r>
            <a:endParaRPr lang="en-US" sz="1400" dirty="0"/>
          </a:p>
          <a:p>
            <a:pPr indent="0" marL="0"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2 Mbit/s → 200 Gbit/s, about 100,000× in four generations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794760"/>
            <a:ext cx="38706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速率从哪里来？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Where does the gain come from?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更宽的带宽：从MHz走向GHz（毫米波、太赫兹）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Wider bandwidth: MHz → GHz (mmWave, THz)</a:t>
            </a:r>
            <a:endParaRPr lang="en-US" sz="14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更高的频谱效率：高阶调制、先进编码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Higher spectral efficiency: modulation &amp; coding</a:t>
            </a:r>
            <a:endParaRPr lang="en-US" sz="1400" dirty="0"/>
          </a:p>
          <a:p>
            <a:pPr marL="165100" indent="-165100"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更多的空间维度：MIMO → Massive MIMO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More spatial streams: MIMO → massive MIMO</a:t>
            </a:r>
            <a:endParaRPr lang="en-US" sz="1400" dirty="0"/>
          </a:p>
        </p:txBody>
      </p:sp>
      <p:sp>
        <p:nvSpPr>
          <p:cNvPr id="9" name="来源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来源 Source：ITU-R M.1645（IMT-2000 / IMT-Advanced）、M.2083（IMT-2020）、M.2160（IMT-2030，取50/100/200 Gbit/s示例值的上限）；纵轴为对数坐标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标准化体系：ITU-R定框架，3GPP出规范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The Standards Ecosystem: ITU-R Sets the Framework, 3GPP Writes the Specifications</a:t>
            </a:r>
            <a:endParaRPr lang="zh-CN" sz="1500" dirty="0"/>
          </a:p>
        </p:txBody>
      </p:sp>
      <p:sp>
        <p:nvSpPr>
          <p:cNvPr id="4" name="WRC"/>
          <p:cNvSpPr/>
          <p:nvPr/>
        </p:nvSpPr>
        <p:spPr>
          <a:xfrm>
            <a:off x="548640" y="1572768"/>
            <a:ext cx="3127248" cy="3547872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WRC 图标底"/>
          <p:cNvSpPr/>
          <p:nvPr/>
        </p:nvSpPr>
        <p:spPr>
          <a:xfrm>
            <a:off x="777240" y="1801368"/>
            <a:ext cx="566928" cy="566928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6" name="WRC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926092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9164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</a:rPr>
              <a:t>WRC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世界无线电通信大会</a:t>
            </a:r>
            <a:endParaRPr lang="en-US" sz="15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World Radiocommunication Conference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96896"/>
            <a:ext cx="2715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accent1"/>
                </a:solidFill>
              </a:rPr>
              <a:t>每3–4年修订《无线电规则》，为IMT标识频谱</a:t>
            </a:r>
            <a:endParaRPr lang="en-US" sz="115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Revises the Radio Regulations and identifies IMT spectrum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93008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WRC-19：标识多个毫米波频段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24.25–71 GHz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WRC-23：设立WRC-27议题1.7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研究6G候选频段 Candidate 6G bands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WRC-27：6G频谱决策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4.4–4.8 / 7.125–8.4 / 14.8–15.35 GHz</a:t>
            </a:r>
            <a:endParaRPr lang="en-US" sz="1150" dirty="0"/>
          </a:p>
        </p:txBody>
      </p:sp>
      <p:sp>
        <p:nvSpPr>
          <p:cNvPr id="10" name="ITU-R WP 5D"/>
          <p:cNvSpPr/>
          <p:nvPr/>
        </p:nvSpPr>
        <p:spPr>
          <a:xfrm>
            <a:off x="4532224" y="1572768"/>
            <a:ext cx="3127248" cy="3547872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1" name="ITU-R WP 5D 图标底"/>
          <p:cNvSpPr/>
          <p:nvPr/>
        </p:nvSpPr>
        <p:spPr>
          <a:xfrm>
            <a:off x="4760824" y="1801368"/>
            <a:ext cx="566928" cy="566928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2" name="ITU-R WP 5D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548" y="1926092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6624" y="169164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</a:rPr>
              <a:t>ITU-R WP 5D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国际电联无线电通信部门</a:t>
            </a:r>
            <a:endParaRPr lang="en-US" sz="15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ITU-R Working Party 5D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60824" y="2596896"/>
            <a:ext cx="2715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accent1"/>
                </a:solidFill>
              </a:rPr>
              <a:t>制定IMT愿景框架与最低技术性能要求，评估并批准IMT标准</a:t>
            </a:r>
            <a:endParaRPr lang="en-US" sz="115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Sets the IMT framework and requirements; evaluates and approves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760824" y="3493008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IMT-2020愿景框架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ITU-R M.2083（2015）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IMT-2030愿景框架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ITU-R M.2160（2023）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需求 → 评估 → 批准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Requirements → evaluation → approval</a:t>
            </a:r>
            <a:endParaRPr lang="en-US" sz="1150" dirty="0"/>
          </a:p>
        </p:txBody>
      </p:sp>
      <p:sp>
        <p:nvSpPr>
          <p:cNvPr id="16" name="3GPP"/>
          <p:cNvSpPr/>
          <p:nvPr/>
        </p:nvSpPr>
        <p:spPr>
          <a:xfrm>
            <a:off x="8515807" y="1572768"/>
            <a:ext cx="3127248" cy="3547872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7" name="3GPP 图标底"/>
          <p:cNvSpPr/>
          <p:nvPr/>
        </p:nvSpPr>
        <p:spPr>
          <a:xfrm>
            <a:off x="8744407" y="1801368"/>
            <a:ext cx="566928" cy="566928"/>
          </a:xfrm>
          <a:prstGeom prst="ellipse">
            <a:avLst/>
          </a:prstGeom>
          <a:solidFill>
            <a:srgbClr val="1E1856"/>
          </a:solidFill>
          <a:ln/>
        </p:spPr>
      </p:sp>
      <p:pic>
        <p:nvPicPr>
          <p:cNvPr id="18" name="3GPP 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131" y="1926092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430207" y="169164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3GPP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第三代合作伙伴计划</a:t>
            </a:r>
            <a:endParaRPr lang="en-US" sz="15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3rd Generation Partnership Project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744407" y="2596896"/>
            <a:ext cx="2715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accent1"/>
                </a:solidFill>
              </a:rPr>
              <a:t>由7个区域标准组织组成，以版本（Release）发布技术规范</a:t>
            </a:r>
            <a:endParaRPr lang="en-US" sz="115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Seven partner SDOs publish specifications as Releases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744407" y="3493008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研究SI → 工作项目WI → 冻结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Study → work item → freeze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Stage 1需求 / 2架构 / 3协议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Requirements / architecture / protocols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zh-CN" altLang="en-US" sz="1150" dirty="0">
                <a:solidFill>
                  <a:schemeClr val="tx1"/>
                </a:solidFill>
              </a:rPr>
              <a:t>7个组织伙伴 Partners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ARIB, ATIS, CCSA, ETSI, TSDSI, TTA, TTC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749040" y="2971800"/>
            <a:ext cx="710032" cy="0"/>
          </a:xfrm>
          <a:prstGeom prst="line">
            <a:avLst/>
          </a:prstGeom>
          <a:noFill/>
          <a:ln w="25400">
            <a:solidFill>
              <a:srgbClr val="0E8FB5"/>
            </a:solidFill>
            <a:prstDash val="solid"/>
            <a:tailEnd type="triangle"/>
          </a:ln>
        </p:spPr>
      </p:sp>
      <p:sp>
        <p:nvSpPr>
          <p:cNvPr id="23" name="Text 18"/>
          <p:cNvSpPr txBox="1"/>
          <p:nvPr/>
        </p:nvSpPr>
        <p:spPr>
          <a:xfrm>
            <a:off x="3703320" y="2441448"/>
            <a:ext cx="801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accent2"/>
                </a:solidFill>
              </a:rPr>
              <a:t>频谱</a:t>
            </a:r>
            <a:endParaRPr lang="en-US" sz="1100" dirty="0"/>
          </a:p>
          <a:p>
            <a:pPr algn="ctr"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Spectrum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732624" y="2743200"/>
            <a:ext cx="710032" cy="0"/>
          </a:xfrm>
          <a:prstGeom prst="line">
            <a:avLst/>
          </a:prstGeom>
          <a:noFill/>
          <a:ln w="25400">
            <a:solidFill>
              <a:srgbClr val="5B3FE0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641184" y="2212848"/>
            <a:ext cx="856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accent1"/>
                </a:solidFill>
              </a:rPr>
              <a:t>需求</a:t>
            </a:r>
            <a:endParaRPr lang="en-US" sz="1100" dirty="0"/>
          </a:p>
          <a:p>
            <a:pPr algn="ctr"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 flipH="1">
            <a:off x="7732624" y="3429000"/>
            <a:ext cx="710032" cy="0"/>
          </a:xfrm>
          <a:prstGeom prst="line">
            <a:avLst/>
          </a:prstGeom>
          <a:noFill/>
          <a:ln w="25400">
            <a:solidFill>
              <a:srgbClr val="1E1856"/>
            </a:solidFill>
            <a:prstDash val="solid"/>
            <a:tailEnd type="triangle"/>
          </a:ln>
        </p:spPr>
      </p:sp>
      <p:sp>
        <p:nvSpPr>
          <p:cNvPr id="27" name="Text 22"/>
          <p:cNvSpPr txBox="1"/>
          <p:nvPr/>
        </p:nvSpPr>
        <p:spPr>
          <a:xfrm>
            <a:off x="7641184" y="3493008"/>
            <a:ext cx="856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chemeClr val="tx2"/>
                </a:solidFill>
              </a:rPr>
              <a:t>候选技术</a:t>
            </a:r>
            <a:endParaRPr lang="en-US" sz="1100" dirty="0"/>
          </a:p>
          <a:p>
            <a:pPr algn="ctr"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Candidates</a:t>
            </a:r>
            <a:endParaRPr lang="en-US" sz="1100" dirty="0"/>
          </a:p>
        </p:txBody>
      </p:sp>
      <p:sp>
        <p:nvSpPr>
          <p:cNvPr id="28" name="我国对口"/>
          <p:cNvSpPr/>
          <p:nvPr/>
        </p:nvSpPr>
        <p:spPr>
          <a:xfrm>
            <a:off x="548640" y="5376672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F1EFFF"/>
          </a:solidFill>
          <a:ln/>
        </p:spPr>
      </p:sp>
      <p:sp>
        <p:nvSpPr>
          <p:cNvPr id="29" name="我国对口 图标底"/>
          <p:cNvSpPr/>
          <p:nvPr/>
        </p:nvSpPr>
        <p:spPr>
          <a:xfrm>
            <a:off x="749808" y="5513832"/>
            <a:ext cx="548640" cy="548640"/>
          </a:xfrm>
          <a:prstGeom prst="ellipse">
            <a:avLst/>
          </a:prstGeom>
          <a:solidFill>
            <a:srgbClr val="D63F86"/>
          </a:solidFill>
          <a:ln/>
        </p:spPr>
      </p:sp>
      <p:pic>
        <p:nvPicPr>
          <p:cNvPr id="30" name="我国对口 图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9" y="5634533"/>
            <a:ext cx="307238" cy="30723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463040" y="5422392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b="1" dirty="0">
                <a:solidFill>
                  <a:schemeClr val="tx2"/>
                </a:solidFill>
              </a:rPr>
              <a:t>我国对口：CCSA（中国通信标准化协会）是3GPP组织伙伴；IMT-2030(6G)推进组统筹国内6G研究</a:t>
            </a:r>
            <a:endParaRPr lang="en-US" sz="125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In China, CCSA is a 3GPP organizational partner and the IMT-2030 (6G) Promotion Group coordinates national 6G research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5G：IMT-2020三大应用场景与八大关键能力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5G (IMT-2020): Three Usage Scenarios and Eight Key Capabilities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 flipH="1">
            <a:off x="1600200" y="2286000"/>
            <a:ext cx="1280160" cy="2148840"/>
          </a:xfrm>
          <a:prstGeom prst="line">
            <a:avLst/>
          </a:prstGeom>
          <a:noFill/>
          <a:ln w="19050">
            <a:solidFill>
              <a:srgbClr val="B5A9F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80360" y="2286000"/>
            <a:ext cx="1280160" cy="2148840"/>
          </a:xfrm>
          <a:prstGeom prst="line">
            <a:avLst/>
          </a:prstGeom>
          <a:noFill/>
          <a:ln w="19050">
            <a:solidFill>
              <a:srgbClr val="B5A9F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00200" y="4434840"/>
            <a:ext cx="2560320" cy="0"/>
          </a:xfrm>
          <a:prstGeom prst="line">
            <a:avLst/>
          </a:prstGeom>
          <a:noFill/>
          <a:ln w="19050">
            <a:solidFill>
              <a:srgbClr val="B5A9F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965960" y="34930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chemeClr val="tx2"/>
                </a:solidFill>
              </a:rPr>
              <a:t>IMT-2020</a:t>
            </a:r>
            <a:endParaRPr lang="en-US" sz="1300" dirty="0"/>
          </a:p>
          <a:p>
            <a:pPr algn="ctr"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三大场景 Scenarios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0008" y="1755648"/>
            <a:ext cx="1060704" cy="10607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6BCF4"/>
            </a:solidFill>
            <a:prstDash val="solid"/>
          </a:ln>
        </p:spPr>
      </p:sp>
      <p:sp>
        <p:nvSpPr>
          <p:cNvPr id="9" name="eMBB 增强移动宽带 图标底"/>
          <p:cNvSpPr/>
          <p:nvPr/>
        </p:nvSpPr>
        <p:spPr>
          <a:xfrm>
            <a:off x="2423160" y="1828800"/>
            <a:ext cx="914400" cy="9144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0" name="eMBB 增强移动宽带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02996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5204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50" b="1" dirty="0">
                <a:solidFill>
                  <a:schemeClr val="tx2"/>
                </a:solidFill>
              </a:rPr>
              <a:t>eMBB 增强移动宽带</a:t>
            </a:r>
            <a:endParaRPr lang="en-US" sz="12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Enhanced Mobile Broadband</a:t>
            </a:r>
            <a:endParaRPr lang="en-US" sz="125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4K/8K视频 · AR/VR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69848" y="3904488"/>
            <a:ext cx="1060704" cy="10607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BD8E5"/>
            </a:solidFill>
            <a:prstDash val="solid"/>
          </a:ln>
        </p:spPr>
      </p:sp>
      <p:sp>
        <p:nvSpPr>
          <p:cNvPr id="13" name="URLLC 超高可靠低时延 图标底"/>
          <p:cNvSpPr/>
          <p:nvPr/>
        </p:nvSpPr>
        <p:spPr>
          <a:xfrm>
            <a:off x="1143000" y="3977640"/>
            <a:ext cx="914400" cy="91440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14" name="URLLC 超高可靠低时延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417880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920" y="5001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chemeClr val="tx2"/>
                </a:solidFill>
              </a:rPr>
              <a:t>URLLC 超高可靠低时延</a:t>
            </a:r>
            <a:endParaRPr lang="en-US" sz="1250" dirty="0"/>
          </a:p>
          <a:p>
            <a:pPr algn="ctr"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Ultra-Reliable Low-Latency</a:t>
            </a:r>
            <a:endParaRPr lang="en-US" sz="125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工业控制 · 车联网 · 远程医疗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630168" y="3904488"/>
            <a:ext cx="1060704" cy="10607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1BCD5"/>
            </a:solidFill>
            <a:prstDash val="solid"/>
          </a:ln>
        </p:spPr>
      </p:sp>
      <p:sp>
        <p:nvSpPr>
          <p:cNvPr id="17" name="mMTC 海量机器类通信 图标底"/>
          <p:cNvSpPr/>
          <p:nvPr/>
        </p:nvSpPr>
        <p:spPr>
          <a:xfrm>
            <a:off x="3703320" y="3977640"/>
            <a:ext cx="914400" cy="914400"/>
          </a:xfrm>
          <a:prstGeom prst="ellipse">
            <a:avLst/>
          </a:prstGeom>
          <a:solidFill>
            <a:srgbClr val="D63F86"/>
          </a:solidFill>
          <a:ln/>
        </p:spPr>
      </p:sp>
      <p:pic>
        <p:nvPicPr>
          <p:cNvPr id="18" name="mMTC 海量机器类通信 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417880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63240" y="50017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50" b="1" dirty="0">
                <a:solidFill>
                  <a:schemeClr val="tx2"/>
                </a:solidFill>
              </a:rPr>
              <a:t>mMTC 海量机器类通信</a:t>
            </a:r>
            <a:endParaRPr lang="en-US" sz="1250" dirty="0"/>
          </a:p>
          <a:p>
            <a:pPr algn="ctr"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Massive Machine-Type</a:t>
            </a:r>
            <a:endParaRPr lang="en-US" sz="125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智慧城市 · 环境监测 · 物联网</a:t>
            </a:r>
            <a:endParaRPr lang="en-US" sz="1250" dirty="0"/>
          </a:p>
        </p:txBody>
      </p:sp>
      <p:sp>
        <p:nvSpPr>
          <p:cNvPr id="20" name="指标 峰值速率"/>
          <p:cNvSpPr/>
          <p:nvPr/>
        </p:nvSpPr>
        <p:spPr>
          <a:xfrm>
            <a:off x="5715000" y="1554480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5916168" y="1664208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20 Gbit/s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5916168" y="2103120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峰值速率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Peak data rate</a:t>
            </a:r>
            <a:endParaRPr lang="en-US" sz="1200" dirty="0"/>
          </a:p>
        </p:txBody>
      </p:sp>
      <p:sp>
        <p:nvSpPr>
          <p:cNvPr id="23" name="指标 用户体验速率"/>
          <p:cNvSpPr/>
          <p:nvPr/>
        </p:nvSpPr>
        <p:spPr>
          <a:xfrm>
            <a:off x="8770468" y="1554480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8971636" y="1664208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100 Mbit/s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8971636" y="2103120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用户体验速率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User experienced data rate</a:t>
            </a:r>
            <a:endParaRPr lang="en-US" sz="1200" dirty="0"/>
          </a:p>
        </p:txBody>
      </p:sp>
      <p:sp>
        <p:nvSpPr>
          <p:cNvPr id="26" name="指标 空口时延"/>
          <p:cNvSpPr/>
          <p:nvPr/>
        </p:nvSpPr>
        <p:spPr>
          <a:xfrm>
            <a:off x="5715000" y="2715768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5916168" y="2825496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1 ms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5916168" y="3264408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空口时延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Latency (air interface)</a:t>
            </a:r>
            <a:endParaRPr lang="en-US" sz="1200" dirty="0"/>
          </a:p>
        </p:txBody>
      </p:sp>
      <p:sp>
        <p:nvSpPr>
          <p:cNvPr id="29" name="指标 移动性"/>
          <p:cNvSpPr/>
          <p:nvPr/>
        </p:nvSpPr>
        <p:spPr>
          <a:xfrm>
            <a:off x="8770468" y="2715768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8971636" y="2825496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500 km/h</a:t>
            </a:r>
            <a:endParaRPr lang="en-US" sz="2200" dirty="0"/>
          </a:p>
        </p:txBody>
      </p:sp>
      <p:sp>
        <p:nvSpPr>
          <p:cNvPr id="31" name="Text 26"/>
          <p:cNvSpPr txBox="1"/>
          <p:nvPr/>
        </p:nvSpPr>
        <p:spPr>
          <a:xfrm>
            <a:off x="8971636" y="3264408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移动性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Mobility</a:t>
            </a:r>
            <a:endParaRPr lang="en-US" sz="1200" dirty="0"/>
          </a:p>
        </p:txBody>
      </p:sp>
      <p:sp>
        <p:nvSpPr>
          <p:cNvPr id="32" name="指标 连接密度"/>
          <p:cNvSpPr/>
          <p:nvPr/>
        </p:nvSpPr>
        <p:spPr>
          <a:xfrm>
            <a:off x="5715000" y="3877056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5916168" y="3986784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10</a:t>
            </a:r>
            <a:r>
              <a:rPr lang="zh-CN" altLang="en-US" sz="2200" b="1" baseline="30000" dirty="0">
                <a:solidFill>
                  <a:schemeClr val="accent1"/>
                </a:solidFill>
              </a:rPr>
              <a:t>6</a:t>
            </a:r>
            <a:r>
              <a:rPr lang="zh-CN" altLang="en-US" sz="2200" b="1" dirty="0">
                <a:solidFill>
                  <a:schemeClr val="accent1"/>
                </a:solidFill>
              </a:rPr>
              <a:t> /km²</a:t>
            </a:r>
            <a:endParaRPr lang="en-US" sz="2200" dirty="0"/>
          </a:p>
        </p:txBody>
      </p:sp>
      <p:sp>
        <p:nvSpPr>
          <p:cNvPr id="34" name="Text 29"/>
          <p:cNvSpPr txBox="1"/>
          <p:nvPr/>
        </p:nvSpPr>
        <p:spPr>
          <a:xfrm>
            <a:off x="5916168" y="4425696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连接密度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Connection density</a:t>
            </a:r>
            <a:endParaRPr lang="en-US" sz="1200" dirty="0"/>
          </a:p>
        </p:txBody>
      </p:sp>
      <p:sp>
        <p:nvSpPr>
          <p:cNvPr id="35" name="指标 频谱效率（相对4G）"/>
          <p:cNvSpPr/>
          <p:nvPr/>
        </p:nvSpPr>
        <p:spPr>
          <a:xfrm>
            <a:off x="8770468" y="3877056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8971636" y="3986784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3×</a:t>
            </a:r>
            <a:endParaRPr lang="en-US" sz="2200" dirty="0"/>
          </a:p>
        </p:txBody>
      </p:sp>
      <p:sp>
        <p:nvSpPr>
          <p:cNvPr id="37" name="Text 32"/>
          <p:cNvSpPr txBox="1"/>
          <p:nvPr/>
        </p:nvSpPr>
        <p:spPr>
          <a:xfrm>
            <a:off x="8971636" y="4425696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频谱效率（相对4G）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Spectrum efficiency vs IMT-A</a:t>
            </a:r>
            <a:endParaRPr lang="en-US" sz="1200" dirty="0"/>
          </a:p>
        </p:txBody>
      </p:sp>
      <p:sp>
        <p:nvSpPr>
          <p:cNvPr id="38" name="指标 网络能效（相对4G）"/>
          <p:cNvSpPr/>
          <p:nvPr/>
        </p:nvSpPr>
        <p:spPr>
          <a:xfrm>
            <a:off x="5715000" y="5038344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5916168" y="5148072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100×</a:t>
            </a:r>
            <a:endParaRPr lang="en-US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5916168" y="5586984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网络能效（相对4G）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Network energy efficiency vs IMT-A</a:t>
            </a:r>
            <a:endParaRPr lang="en-US" sz="1200" dirty="0"/>
          </a:p>
        </p:txBody>
      </p:sp>
      <p:sp>
        <p:nvSpPr>
          <p:cNvPr id="41" name="指标 区域流量容量"/>
          <p:cNvSpPr/>
          <p:nvPr/>
        </p:nvSpPr>
        <p:spPr>
          <a:xfrm>
            <a:off x="8770468" y="5038344"/>
            <a:ext cx="2872588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8971636" y="5148072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10 Mbit/s/m²</a:t>
            </a:r>
            <a:endParaRPr lang="en-US" sz="2200" dirty="0"/>
          </a:p>
        </p:txBody>
      </p:sp>
      <p:sp>
        <p:nvSpPr>
          <p:cNvPr id="43" name="Text 38"/>
          <p:cNvSpPr txBox="1"/>
          <p:nvPr/>
        </p:nvSpPr>
        <p:spPr>
          <a:xfrm>
            <a:off x="8971636" y="5586984"/>
            <a:ext cx="25068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区域流量容量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Area traffic capacity</a:t>
            </a:r>
            <a:endParaRPr lang="en-US" sz="1200" dirty="0"/>
          </a:p>
        </p:txBody>
      </p:sp>
      <p:sp>
        <p:nvSpPr>
          <p:cNvPr id="44" name="来源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来源 Source：ITU-R M.2083-0, IMT Vision – Framework and overall objectives of the future development of IMT for 2020 and beyond (2015)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3GPP版本演进：从Rel-15到Rel-21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3GPP Release Roadmap: From Rel-15 to Rel-21</a:t>
            </a:r>
            <a:endParaRPr lang="zh-CN" sz="1500" dirty="0"/>
          </a:p>
        </p:txBody>
      </p:sp>
      <p:sp>
        <p:nvSpPr>
          <p:cNvPr id="4" name="阶段 5G"/>
          <p:cNvSpPr txBox="1"/>
          <p:nvPr/>
        </p:nvSpPr>
        <p:spPr>
          <a:xfrm>
            <a:off x="548640" y="1691640"/>
            <a:ext cx="4673498" cy="329184"/>
          </a:xfrm>
          <a:prstGeom prst="roundRect">
            <a:avLst>
              <a:gd name="adj" fmla="val 50000"/>
            </a:avLst>
          </a:prstGeom>
          <a:solidFill>
            <a:srgbClr val="0E8F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5G</a:t>
            </a:r>
            <a:endParaRPr lang="en-US" sz="1200" dirty="0"/>
          </a:p>
        </p:txBody>
      </p:sp>
      <p:sp>
        <p:nvSpPr>
          <p:cNvPr id="5" name="阶段 5G-Advanced"/>
          <p:cNvSpPr txBox="1"/>
          <p:nvPr/>
        </p:nvSpPr>
        <p:spPr>
          <a:xfrm>
            <a:off x="5364328" y="1691640"/>
            <a:ext cx="4673498" cy="329184"/>
          </a:xfrm>
          <a:prstGeom prst="roundRect">
            <a:avLst>
              <a:gd name="adj" fmla="val 50000"/>
            </a:avLst>
          </a:prstGeom>
          <a:solidFill>
            <a:srgbClr val="5B3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5G-Advanced</a:t>
            </a:r>
            <a:endParaRPr lang="en-US" sz="1200" dirty="0"/>
          </a:p>
        </p:txBody>
      </p:sp>
      <p:sp>
        <p:nvSpPr>
          <p:cNvPr id="6" name="阶段 6G"/>
          <p:cNvSpPr txBox="1"/>
          <p:nvPr/>
        </p:nvSpPr>
        <p:spPr>
          <a:xfrm>
            <a:off x="10180015" y="169164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D6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6G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2697480"/>
            <a:ext cx="9631375" cy="0"/>
          </a:xfrm>
          <a:prstGeom prst="line">
            <a:avLst/>
          </a:prstGeom>
          <a:noFill/>
          <a:ln w="25400">
            <a:solidFill>
              <a:srgbClr val="AEA0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2018</a:t>
            </a:r>
            <a:endParaRPr lang="en-US" sz="1150" dirty="0"/>
          </a:p>
        </p:txBody>
      </p:sp>
      <p:sp>
        <p:nvSpPr>
          <p:cNvPr id="9" name="Rel-15"/>
          <p:cNvSpPr txBox="1"/>
          <p:nvPr/>
        </p:nvSpPr>
        <p:spPr>
          <a:xfrm>
            <a:off x="987552" y="2404872"/>
            <a:ext cx="585216" cy="585216"/>
          </a:xfrm>
          <a:prstGeom prst="ellipse">
            <a:avLst/>
          </a:prstGeom>
          <a:solidFill>
            <a:srgbClr val="0E8FB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R15</a:t>
            </a:r>
            <a:endParaRPr lang="en-US" sz="1300" dirty="0"/>
          </a:p>
        </p:txBody>
      </p:sp>
      <p:sp>
        <p:nvSpPr>
          <p:cNvPr id="10" name="Rel-15 说明"/>
          <p:cNvSpPr/>
          <p:nvPr/>
        </p:nvSpPr>
        <p:spPr>
          <a:xfrm>
            <a:off x="548640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6656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Rel-15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首个5G NR标准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NSA 2017.12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SA 2018.06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First 5G NR (NSA and SA)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53869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2020</a:t>
            </a:r>
            <a:endParaRPr lang="en-US" sz="1150" dirty="0"/>
          </a:p>
        </p:txBody>
      </p:sp>
      <p:sp>
        <p:nvSpPr>
          <p:cNvPr id="13" name="Rel-16"/>
          <p:cNvSpPr txBox="1"/>
          <p:nvPr/>
        </p:nvSpPr>
        <p:spPr>
          <a:xfrm>
            <a:off x="2592781" y="2404872"/>
            <a:ext cx="585216" cy="585216"/>
          </a:xfrm>
          <a:prstGeom prst="ellipse">
            <a:avLst/>
          </a:prstGeom>
          <a:solidFill>
            <a:srgbClr val="0E8FB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R16</a:t>
            </a:r>
            <a:endParaRPr lang="en-US" sz="1300" dirty="0"/>
          </a:p>
        </p:txBody>
      </p:sp>
      <p:sp>
        <p:nvSpPr>
          <p:cNvPr id="14" name="Rel-16 说明"/>
          <p:cNvSpPr/>
          <p:nvPr/>
        </p:nvSpPr>
        <p:spPr>
          <a:xfrm>
            <a:off x="2153869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281885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Rel-16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URLLC增强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工业物联网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V2X · NR-U · 定位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URLLC, IIoT, V2X, NR-U, positioning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59098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2022</a:t>
            </a:r>
            <a:endParaRPr lang="en-US" sz="1150" dirty="0"/>
          </a:p>
        </p:txBody>
      </p:sp>
      <p:sp>
        <p:nvSpPr>
          <p:cNvPr id="17" name="Rel-17"/>
          <p:cNvSpPr txBox="1"/>
          <p:nvPr/>
        </p:nvSpPr>
        <p:spPr>
          <a:xfrm>
            <a:off x="4198010" y="2404872"/>
            <a:ext cx="585216" cy="585216"/>
          </a:xfrm>
          <a:prstGeom prst="ellipse">
            <a:avLst/>
          </a:prstGeom>
          <a:solidFill>
            <a:srgbClr val="0E8FB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R17</a:t>
            </a:r>
            <a:endParaRPr lang="en-US" sz="1300" dirty="0"/>
          </a:p>
        </p:txBody>
      </p:sp>
      <p:sp>
        <p:nvSpPr>
          <p:cNvPr id="18" name="Rel-17 说明"/>
          <p:cNvSpPr/>
          <p:nvPr/>
        </p:nvSpPr>
        <p:spPr>
          <a:xfrm>
            <a:off x="3759098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87114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Rel-17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非地面网络NTN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RedCap轻量终端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扩展至71 GHz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NTN, RedCap, up to 71 GHz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64328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2024</a:t>
            </a:r>
            <a:endParaRPr lang="en-US" sz="1150" dirty="0"/>
          </a:p>
        </p:txBody>
      </p:sp>
      <p:sp>
        <p:nvSpPr>
          <p:cNvPr id="21" name="Rel-18"/>
          <p:cNvSpPr txBox="1"/>
          <p:nvPr/>
        </p:nvSpPr>
        <p:spPr>
          <a:xfrm>
            <a:off x="5803240" y="2404872"/>
            <a:ext cx="585216" cy="585216"/>
          </a:xfrm>
          <a:prstGeom prst="ellipse">
            <a:avLst/>
          </a:prstGeom>
          <a:solidFill>
            <a:srgbClr val="5B3FE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R18</a:t>
            </a:r>
            <a:endParaRPr lang="en-US" sz="1300" dirty="0"/>
          </a:p>
        </p:txBody>
      </p:sp>
      <p:sp>
        <p:nvSpPr>
          <p:cNvPr id="22" name="Rel-18 说明"/>
          <p:cNvSpPr/>
          <p:nvPr/>
        </p:nvSpPr>
        <p:spPr>
          <a:xfrm>
            <a:off x="5364328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492344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Rel-18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5G-A首个版本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AI/ML空口研究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网络节能 · XR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First 5G-A: AI/ML study, energy saving, XR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69557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2025</a:t>
            </a:r>
            <a:endParaRPr lang="en-US" sz="1150" dirty="0"/>
          </a:p>
        </p:txBody>
      </p:sp>
      <p:sp>
        <p:nvSpPr>
          <p:cNvPr id="25" name="Rel-19"/>
          <p:cNvSpPr txBox="1"/>
          <p:nvPr/>
        </p:nvSpPr>
        <p:spPr>
          <a:xfrm>
            <a:off x="7408469" y="2404872"/>
            <a:ext cx="585216" cy="585216"/>
          </a:xfrm>
          <a:prstGeom prst="ellipse">
            <a:avLst/>
          </a:prstGeom>
          <a:solidFill>
            <a:srgbClr val="5B3FE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R19</a:t>
            </a:r>
            <a:endParaRPr lang="en-US" sz="1300" dirty="0"/>
          </a:p>
        </p:txBody>
      </p:sp>
      <p:sp>
        <p:nvSpPr>
          <p:cNvPr id="26" name="Rel-19 说明"/>
          <p:cNvSpPr/>
          <p:nvPr/>
        </p:nvSpPr>
        <p:spPr>
          <a:xfrm>
            <a:off x="6969557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097573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Rel-19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AI/ML空口标准化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ISAC信道建模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环境物联网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AI/ML air interface, ISAC channel model, Ambient IoT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74786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2025–2027</a:t>
            </a:r>
            <a:endParaRPr lang="en-US" sz="1150" dirty="0"/>
          </a:p>
        </p:txBody>
      </p:sp>
      <p:sp>
        <p:nvSpPr>
          <p:cNvPr id="29" name="Rel-20"/>
          <p:cNvSpPr txBox="1"/>
          <p:nvPr/>
        </p:nvSpPr>
        <p:spPr>
          <a:xfrm>
            <a:off x="9013698" y="2404872"/>
            <a:ext cx="585216" cy="585216"/>
          </a:xfrm>
          <a:prstGeom prst="ellipse">
            <a:avLst/>
          </a:prstGeom>
          <a:solidFill>
            <a:srgbClr val="5B3FE0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R20</a:t>
            </a:r>
            <a:endParaRPr lang="en-US" sz="1300" dirty="0"/>
          </a:p>
        </p:txBody>
      </p:sp>
      <p:sp>
        <p:nvSpPr>
          <p:cNvPr id="30" name="Rel-20 说明"/>
          <p:cNvSpPr/>
          <p:nvPr/>
        </p:nvSpPr>
        <p:spPr>
          <a:xfrm>
            <a:off x="8574786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702802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Rel-20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5G-A持续演进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6G技术研究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2025.06启动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5G-A evolution and 6G study (from June 2025)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80015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50" b="1" dirty="0">
                <a:solidFill>
                  <a:srgbClr val="656B80"/>
                </a:solidFill>
              </a:rPr>
              <a:t>2027–2029</a:t>
            </a:r>
            <a:endParaRPr lang="en-US" sz="1150" dirty="0"/>
          </a:p>
        </p:txBody>
      </p:sp>
      <p:sp>
        <p:nvSpPr>
          <p:cNvPr id="33" name="Rel-21"/>
          <p:cNvSpPr txBox="1"/>
          <p:nvPr/>
        </p:nvSpPr>
        <p:spPr>
          <a:xfrm>
            <a:off x="10618927" y="2404872"/>
            <a:ext cx="585216" cy="585216"/>
          </a:xfrm>
          <a:prstGeom prst="ellipse">
            <a:avLst/>
          </a:prstGeom>
          <a:solidFill>
            <a:srgbClr val="D63F86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R21</a:t>
            </a:r>
            <a:endParaRPr lang="en-US" sz="1300" dirty="0"/>
          </a:p>
        </p:txBody>
      </p:sp>
      <p:sp>
        <p:nvSpPr>
          <p:cNvPr id="34" name="Rel-21 说明"/>
          <p:cNvSpPr/>
          <p:nvPr/>
        </p:nvSpPr>
        <p:spPr>
          <a:xfrm>
            <a:off x="10180015" y="3200400"/>
            <a:ext cx="1463040" cy="2103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308031" y="3328416"/>
            <a:ext cx="1243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chemeClr val="tx2"/>
                </a:solidFill>
              </a:rPr>
              <a:t>Rel-21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首个6G规范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Stage-3 2028.12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ASN.1 2029.03</a:t>
            </a:r>
            <a:endParaRPr lang="en-US" sz="14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First 6G specifications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注：年份为功能冻结时间（约）；Rel-21时间表由2026年6月TSG#112全会确定。</a:t>
            </a:r>
            <a:endParaRPr lang="en-US" sz="115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Years are approximate functional freezes; the Rel-21 timeline was agreed at TSG#112 in June 2026.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5G-Advanced：迈向6G的关键桥梁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5G-Advanced: The Bridge from 5G to 6G</a:t>
            </a:r>
            <a:endParaRPr lang="zh-CN" sz="1500" dirty="0"/>
          </a:p>
        </p:txBody>
      </p:sp>
      <p:sp>
        <p:nvSpPr>
          <p:cNvPr id="4" name="万兆体验"/>
          <p:cNvSpPr/>
          <p:nvPr/>
        </p:nvSpPr>
        <p:spPr>
          <a:xfrm>
            <a:off x="548640" y="1572768"/>
            <a:ext cx="21671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万兆体验 图标底"/>
          <p:cNvSpPr/>
          <p:nvPr/>
        </p:nvSpPr>
        <p:spPr>
          <a:xfrm>
            <a:off x="749808" y="1773936"/>
            <a:ext cx="566928" cy="566928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万兆体验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1898660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46888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万兆体验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10-Gbps experience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下行万兆、上行千兆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10 Gbit/s DL, 1 Gbit/s UL</a:t>
            </a:r>
            <a:endParaRPr lang="en-US" sz="1500" dirty="0"/>
          </a:p>
        </p:txBody>
      </p:sp>
      <p:sp>
        <p:nvSpPr>
          <p:cNvPr id="8" name="通感一体"/>
          <p:cNvSpPr/>
          <p:nvPr/>
        </p:nvSpPr>
        <p:spPr>
          <a:xfrm>
            <a:off x="2916936" y="1572768"/>
            <a:ext cx="21671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9" name="通感一体 图标底"/>
          <p:cNvSpPr/>
          <p:nvPr/>
        </p:nvSpPr>
        <p:spPr>
          <a:xfrm>
            <a:off x="3118104" y="1773936"/>
            <a:ext cx="566928" cy="566928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10" name="通感一体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28" y="189866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18104" y="246888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通感一体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ISAC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基站兼具雷达感知能力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Base stations that also sense</a:t>
            </a:r>
            <a:endParaRPr lang="en-US" sz="1500" dirty="0"/>
          </a:p>
        </p:txBody>
      </p:sp>
      <p:sp>
        <p:nvSpPr>
          <p:cNvPr id="12" name="无源物联"/>
          <p:cNvSpPr/>
          <p:nvPr/>
        </p:nvSpPr>
        <p:spPr>
          <a:xfrm>
            <a:off x="5285232" y="1572768"/>
            <a:ext cx="21671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3" name="无源物联 图标底"/>
          <p:cNvSpPr/>
          <p:nvPr/>
        </p:nvSpPr>
        <p:spPr>
          <a:xfrm>
            <a:off x="5486400" y="1773936"/>
            <a:ext cx="566928" cy="566928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4" name="无源物联 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124" y="1898660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246888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无源物联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Ambient IoT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免电池标签，海量连接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Battery-free tags at massive scale</a:t>
            </a:r>
            <a:endParaRPr lang="en-US" sz="1500" dirty="0"/>
          </a:p>
        </p:txBody>
      </p:sp>
      <p:sp>
        <p:nvSpPr>
          <p:cNvPr id="16" name="内生智能"/>
          <p:cNvSpPr/>
          <p:nvPr/>
        </p:nvSpPr>
        <p:spPr>
          <a:xfrm>
            <a:off x="548640" y="3922776"/>
            <a:ext cx="21671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7" name="内生智能 图标底"/>
          <p:cNvSpPr/>
          <p:nvPr/>
        </p:nvSpPr>
        <p:spPr>
          <a:xfrm>
            <a:off x="749808" y="4123944"/>
            <a:ext cx="566928" cy="566928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18" name="内生智能 图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32" y="4248668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9808" y="481888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内生智能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Native AI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AI/ML赋能空口与网络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AI/ML in air interface and network</a:t>
            </a:r>
            <a:endParaRPr lang="en-US" sz="1500" dirty="0"/>
          </a:p>
        </p:txBody>
      </p:sp>
      <p:sp>
        <p:nvSpPr>
          <p:cNvPr id="20" name="天地一体"/>
          <p:cNvSpPr/>
          <p:nvPr/>
        </p:nvSpPr>
        <p:spPr>
          <a:xfrm>
            <a:off x="2916936" y="3922776"/>
            <a:ext cx="21671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1" name="天地一体 图标底"/>
          <p:cNvSpPr/>
          <p:nvPr/>
        </p:nvSpPr>
        <p:spPr>
          <a:xfrm>
            <a:off x="3118104" y="4123944"/>
            <a:ext cx="566928" cy="566928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2" name="天地一体 图标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828" y="4248668"/>
            <a:ext cx="317480" cy="317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118104" y="481888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天地一体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NTN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手机直连卫星，消除盲区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Direct-to-device satellite links</a:t>
            </a:r>
            <a:endParaRPr lang="en-US" sz="1500" dirty="0"/>
          </a:p>
        </p:txBody>
      </p:sp>
      <p:sp>
        <p:nvSpPr>
          <p:cNvPr id="24" name="绿色低碳"/>
          <p:cNvSpPr/>
          <p:nvPr/>
        </p:nvSpPr>
        <p:spPr>
          <a:xfrm>
            <a:off x="5285232" y="3922776"/>
            <a:ext cx="216712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5" name="绿色低碳 图标底"/>
          <p:cNvSpPr/>
          <p:nvPr/>
        </p:nvSpPr>
        <p:spPr>
          <a:xfrm>
            <a:off x="5486400" y="4123944"/>
            <a:ext cx="566928" cy="566928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26" name="绿色低碳 图标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1124" y="4248668"/>
            <a:ext cx="317480" cy="3174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86400" y="4818888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</a:rPr>
              <a:t>绿色低碳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Green networks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网络节能，降低每比特能耗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Lower energy per bit</a:t>
            </a:r>
            <a:endParaRPr lang="en-US" sz="1500" dirty="0"/>
          </a:p>
        </p:txBody>
      </p:sp>
      <p:sp>
        <p:nvSpPr>
          <p:cNvPr id="28" name="5G-A数据"/>
          <p:cNvSpPr/>
          <p:nvPr/>
        </p:nvSpPr>
        <p:spPr>
          <a:xfrm>
            <a:off x="7772400" y="1572768"/>
            <a:ext cx="3870655" cy="4498848"/>
          </a:xfrm>
          <a:prstGeom prst="roundRect">
            <a:avLst>
              <a:gd name="adj" fmla="val 2362"/>
            </a:avLst>
          </a:prstGeom>
          <a:solidFill>
            <a:srgbClr val="F1EFFF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046720" y="1737360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chemeClr val="accent1"/>
                </a:solidFill>
              </a:rPr>
              <a:t>2024</a:t>
            </a:r>
            <a:endParaRPr lang="en-US" sz="3400" dirty="0"/>
          </a:p>
        </p:txBody>
      </p:sp>
      <p:sp>
        <p:nvSpPr>
          <p:cNvPr id="30" name="Text 22"/>
          <p:cNvSpPr txBox="1"/>
          <p:nvPr/>
        </p:nvSpPr>
        <p:spPr>
          <a:xfrm>
            <a:off x="8046720" y="23225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我国5G-A商用元年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First year of commercial 5G-A in China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8046720" y="3154680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chemeClr val="accent1"/>
                </a:solidFill>
              </a:rPr>
              <a:t>330+</a:t>
            </a:r>
            <a:endParaRPr lang="en-US" sz="3400" dirty="0"/>
          </a:p>
        </p:txBody>
      </p:sp>
      <p:sp>
        <p:nvSpPr>
          <p:cNvPr id="32" name="Text 24"/>
          <p:cNvSpPr txBox="1"/>
          <p:nvPr/>
        </p:nvSpPr>
        <p:spPr>
          <a:xfrm>
            <a:off x="8046720" y="373989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城市实现5G-A商用（GSMA, 2026）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Cities with commercial 5G-A service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8046720" y="4572000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400" b="1" dirty="0">
                <a:solidFill>
                  <a:schemeClr val="accent1"/>
                </a:solidFill>
              </a:rPr>
              <a:t>600 m</a:t>
            </a:r>
            <a:endParaRPr lang="en-US" sz="3400" dirty="0"/>
          </a:p>
        </p:txBody>
      </p:sp>
      <p:sp>
        <p:nvSpPr>
          <p:cNvPr id="34" name="Text 26"/>
          <p:cNvSpPr txBox="1"/>
          <p:nvPr/>
        </p:nvSpPr>
        <p:spPr>
          <a:xfrm>
            <a:off x="8046720" y="515721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1"/>
                </a:solidFill>
              </a:rPr>
              <a:t>合肥5G-A通感一体网络覆盖600米以下低空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Hefei: ISAC coverage of airspace below 600 m</a:t>
            </a:r>
            <a:endParaRPr lang="en-US" sz="1200" dirty="0"/>
          </a:p>
        </p:txBody>
      </p:sp>
      <p:sp>
        <p:nvSpPr>
          <p:cNvPr id="35" name="来源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来源 Source：3GPP Rel-18/19；GSMA《2026中国移动经济发展》；GTI Awards 2026（合肥5G-A通感一体低空网络）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6G愿景：IMT-2030六大场景与四大设计原则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6G Vision: Six Usage Scenarios and Four Overarching Aspects of IMT-2030</a:t>
            </a:r>
            <a:endParaRPr lang="zh-CN" sz="1500" dirty="0"/>
          </a:p>
        </p:txBody>
      </p:sp>
      <p:sp>
        <p:nvSpPr>
          <p:cNvPr id="4" name="Shape 2"/>
          <p:cNvSpPr/>
          <p:nvPr/>
        </p:nvSpPr>
        <p:spPr>
          <a:xfrm>
            <a:off x="2670048" y="3137508"/>
            <a:ext cx="1517904" cy="1314505"/>
          </a:xfrm>
          <a:prstGeom prst="hexagon">
            <a:avLst/>
          </a:prstGeom>
          <a:solidFill>
            <a:srgbClr val="1E185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88920" y="33375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</a:rPr>
              <a:t>IMT-2030</a:t>
            </a:r>
            <a:endParaRPr lang="en-US" sz="1300" dirty="0"/>
          </a:p>
          <a:p>
            <a:pPr algn="ctr" indent="0" marL="0">
              <a:buNone/>
            </a:pPr>
            <a:r>
              <a:rPr lang="zh-CN" altLang="en-US" sz="2400" b="1" dirty="0">
                <a:solidFill>
                  <a:srgbClr val="9FE3FF"/>
                </a:solidFill>
              </a:rPr>
              <a:t>6G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70048" y="1758995"/>
            <a:ext cx="1517904" cy="1314505"/>
          </a:xfrm>
          <a:prstGeom prst="hexagon">
            <a:avLst/>
          </a:prstGeom>
          <a:solidFill>
            <a:srgbClr val="5B3F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88920" y="2004767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沉浸式通信</a:t>
            </a:r>
            <a:endParaRPr lang="en-US" sz="12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E6E1FF"/>
                </a:solidFill>
              </a:rPr>
              <a:t>Immersive Communication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63875" y="2448251"/>
            <a:ext cx="1517904" cy="1314505"/>
          </a:xfrm>
          <a:prstGeom prst="hexagon">
            <a:avLst/>
          </a:prstGeom>
          <a:solidFill>
            <a:srgbClr val="5B3F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82747" y="269402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超高可靠低时延</a:t>
            </a:r>
            <a:endParaRPr lang="en-US" sz="12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E6E1FF"/>
                </a:solidFill>
              </a:rPr>
              <a:t>HRLLC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63875" y="3826764"/>
            <a:ext cx="1517904" cy="1314505"/>
          </a:xfrm>
          <a:prstGeom prst="hexagon">
            <a:avLst/>
          </a:prstGeom>
          <a:solidFill>
            <a:srgbClr val="5B3F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82747" y="4072536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FFFFFF"/>
                </a:solidFill>
              </a:rPr>
              <a:t>超大规模连接</a:t>
            </a:r>
            <a:endParaRPr lang="en-US" sz="12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E6E1FF"/>
                </a:solidFill>
              </a:rPr>
              <a:t>Massive Communication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70048" y="4516020"/>
            <a:ext cx="1517904" cy="1314505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E8F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4761793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泛在连接</a:t>
            </a:r>
            <a:endParaRPr lang="en-US" sz="12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Ubiquitous Connectivity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76221" y="3826764"/>
            <a:ext cx="1517904" cy="1314505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E8F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95093" y="4072536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通信与AI融合</a:t>
            </a:r>
            <a:endParaRPr lang="en-US" sz="12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AI and Communication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76221" y="2448251"/>
            <a:ext cx="1517904" cy="1314505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E8F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95093" y="269402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通信感知一体化</a:t>
            </a:r>
            <a:endParaRPr lang="en-US" sz="12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ISAC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5870448"/>
            <a:ext cx="274320" cy="237744"/>
          </a:xfrm>
          <a:prstGeom prst="hexagon">
            <a:avLst/>
          </a:prstGeom>
          <a:solidFill>
            <a:srgbClr val="5B3F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35608" y="58338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由5G场景扩展 Extended from 5G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94760" y="5870448"/>
            <a:ext cx="274320" cy="237744"/>
          </a:xfrm>
          <a:prstGeom prst="hexagon">
            <a:avLst/>
          </a:prstGeom>
          <a:solidFill>
            <a:srgbClr val="FFFFFF"/>
          </a:solidFill>
          <a:ln w="15875">
            <a:solidFill>
              <a:srgbClr val="0E8F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33088" y="58338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6G全新场景 New in 6G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1536192"/>
            <a:ext cx="5196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四大设计原则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Overarching aspects (apply to all scenarios)</a:t>
            </a:r>
            <a:endParaRPr lang="en-US" sz="1700" dirty="0"/>
          </a:p>
        </p:txBody>
      </p:sp>
      <p:sp>
        <p:nvSpPr>
          <p:cNvPr id="23" name="可持续性 图标底"/>
          <p:cNvSpPr/>
          <p:nvPr/>
        </p:nvSpPr>
        <p:spPr>
          <a:xfrm>
            <a:off x="6446520" y="2359152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4" name="可持续性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7221" y="2479853"/>
            <a:ext cx="307238" cy="307238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159752" y="2304288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50" b="1" dirty="0">
                <a:solidFill>
                  <a:schemeClr val="tx1"/>
                </a:solidFill>
              </a:rPr>
              <a:t>可持续性</a:t>
            </a:r>
            <a:r>
              <a:rPr lang="zh-CN" altLang="en-US" sz="1050" dirty="0">
                <a:solidFill>
                  <a:schemeClr val="accent1"/>
                </a:solidFill>
              </a:rPr>
              <a:t>  Sustainability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提升能效，构建绿色网络 · Energy-efficient, green networks</a:t>
            </a:r>
            <a:endParaRPr lang="en-US" sz="1350" dirty="0"/>
          </a:p>
        </p:txBody>
      </p:sp>
      <p:sp>
        <p:nvSpPr>
          <p:cNvPr id="26" name="连接未连接 图标底"/>
          <p:cNvSpPr/>
          <p:nvPr/>
        </p:nvSpPr>
        <p:spPr>
          <a:xfrm>
            <a:off x="6446520" y="3255264"/>
            <a:ext cx="548640" cy="54864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27" name="连接未连接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3375965"/>
            <a:ext cx="307238" cy="30723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159752" y="320040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50" b="1" dirty="0">
                <a:solidFill>
                  <a:schemeClr val="tx1"/>
                </a:solidFill>
              </a:rPr>
              <a:t>连接未连接</a:t>
            </a:r>
            <a:r>
              <a:rPr lang="zh-CN" altLang="en-US" sz="1050" dirty="0">
                <a:solidFill>
                  <a:schemeClr val="accent1"/>
                </a:solidFill>
              </a:rPr>
              <a:t>  Connecting the unconnected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弥合数字鸿沟，覆盖偏远地区 · Bridging the digital divide</a:t>
            </a:r>
            <a:endParaRPr lang="en-US" sz="1350" dirty="0"/>
          </a:p>
        </p:txBody>
      </p:sp>
      <p:sp>
        <p:nvSpPr>
          <p:cNvPr id="29" name="泛在智能 图标底"/>
          <p:cNvSpPr/>
          <p:nvPr/>
        </p:nvSpPr>
        <p:spPr>
          <a:xfrm>
            <a:off x="6446520" y="4151376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30" name="泛在智能 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4272077"/>
            <a:ext cx="307238" cy="30723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159752" y="4096512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50" b="1" dirty="0">
                <a:solidFill>
                  <a:schemeClr val="tx1"/>
                </a:solidFill>
              </a:rPr>
              <a:t>泛在智能</a:t>
            </a:r>
            <a:r>
              <a:rPr lang="zh-CN" altLang="en-US" sz="1050" dirty="0">
                <a:solidFill>
                  <a:schemeClr val="accent1"/>
                </a:solidFill>
              </a:rPr>
              <a:t>  Ubiquitous intelligence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AI融入网络与业务各层面 · AI across networks and services</a:t>
            </a:r>
            <a:endParaRPr lang="en-US" sz="1350" dirty="0"/>
          </a:p>
        </p:txBody>
      </p:sp>
      <p:sp>
        <p:nvSpPr>
          <p:cNvPr id="32" name="安全、隐私与韧性 图标底"/>
          <p:cNvSpPr/>
          <p:nvPr/>
        </p:nvSpPr>
        <p:spPr>
          <a:xfrm>
            <a:off x="6446520" y="5047488"/>
            <a:ext cx="548640" cy="54864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33" name="安全、隐私与韧性 图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5168189"/>
            <a:ext cx="307238" cy="30723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159752" y="4992624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zh-CN" altLang="en-US" sz="1350" b="1" dirty="0">
                <a:solidFill>
                  <a:schemeClr val="tx1"/>
                </a:solidFill>
              </a:rPr>
              <a:t>安全、隐私与韧性</a:t>
            </a:r>
            <a:r>
              <a:rPr lang="zh-CN" altLang="en-US" sz="1050" dirty="0">
                <a:solidFill>
                  <a:schemeClr val="accent1"/>
                </a:solidFill>
              </a:rPr>
              <a:t>  Security, privacy &amp; resilience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可信、可靠的信息基础设施 · Trustworthy, resilient infrastructure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6446520" y="5870448"/>
            <a:ext cx="5196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tx2"/>
                </a:solidFill>
              </a:rPr>
              <a:t>eMBB → 沉浸式通信；URLLC → HRLLC；mMTC → 超大规模连接</a:t>
            </a:r>
            <a:endParaRPr lang="en-US" sz="115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How the three 5G scenarios extend into 6G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关键能力指标：IMT-2020（5G）vs IMT-2030（6G）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Key Capabilities: IMT-2020 (5G) vs IMT-2030 (6G)</a:t>
            </a:r>
            <a:endParaRPr lang="zh-CN" sz="1500" dirty="0"/>
          </a:p>
        </p:txBody>
      </p:sp>
      <p:graphicFrame>
        <p:nvGraphicFramePr>
          <p:cNvPr id="13" name="5G与6G指标对比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781812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783080"/>
                <a:gridCol w="260604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</a:rPr>
                        <a:t>能力指标 Capability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</a:rPr>
                        <a:t>IMT-2020（5G）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</a:rPr>
                        <a:t>IMT-2030（6G）研究目标 Targets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5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峰值速率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Peak data rate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20 Gbit/s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50 / 100 / 200 Gbit/s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用户体验速率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User experienced data rate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100 Mbit/s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300 / 500 Mbit/s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频谱效率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Spectrum efficiency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3×（相对IMT-A）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1.5× / 3×（相对IMT-2020）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区域流量容量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Area traffic capacity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10 Mbit/s/m²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30 / 50 Mbit/s/m²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连接密度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Connection density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10</a:t>
                      </a:r>
                      <a:r>
                        <a:rPr lang="zh-CN" altLang="en-US" sz="1200" baseline="30000" dirty="0">
                          <a:solidFill>
                            <a:srgbClr val="1F2433"/>
                          </a:solidFill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 /km²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10</a:t>
                      </a:r>
                      <a:r>
                        <a:rPr lang="zh-CN" altLang="en-US" sz="1200" b="1" baseline="30000" dirty="0">
                          <a:solidFill>
                            <a:srgbClr val="5B3FE0"/>
                          </a:solidFill>
                        </a:rPr>
                        <a:t>6</a:t>
                      </a: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 – 10</a:t>
                      </a:r>
                      <a:r>
                        <a:rPr lang="zh-CN" altLang="en-US" sz="1200" b="1" baseline="30000" dirty="0">
                          <a:solidFill>
                            <a:srgbClr val="5B3FE0"/>
                          </a:solidFill>
                        </a:rPr>
                        <a:t>8</a:t>
                      </a: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 /km²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移动性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Mobility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500 km/h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500 – 1000 km/h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时延（用户面）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Latency (user plane)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1 ms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0.1 – 1 ms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可靠性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Reliability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1 − 10</a:t>
                      </a:r>
                      <a:r>
                        <a:rPr lang="zh-CN" altLang="en-US" sz="1200" baseline="30000" dirty="0">
                          <a:solidFill>
                            <a:srgbClr val="1F2433"/>
                          </a:solidFill>
                        </a:rPr>
                        <a:t>-5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1 − 10</a:t>
                      </a:r>
                      <a:r>
                        <a:rPr lang="zh-CN" altLang="en-US" sz="1200" b="1" baseline="30000" dirty="0">
                          <a:solidFill>
                            <a:srgbClr val="5B3FE0"/>
                          </a:solidFill>
                        </a:rPr>
                        <a:t>-5</a:t>
                      </a: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 ~ 1 − 10</a:t>
                      </a:r>
                      <a:r>
                        <a:rPr lang="zh-CN" altLang="en-US" sz="1200" b="1" baseline="30000" dirty="0">
                          <a:solidFill>
                            <a:srgbClr val="5B3FE0"/>
                          </a:solidFill>
                        </a:rPr>
                        <a:t>-7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1F2433"/>
                          </a:solidFill>
                        </a:rPr>
                        <a:t>定位精度</a:t>
                      </a:r>
                      <a:r>
                        <a:rPr lang="zh-CN" altLang="en-US" sz="950" dirty="0">
                          <a:solidFill>
                            <a:srgbClr val="656B80"/>
                          </a:solidFill>
                        </a:rPr>
                        <a:t>  Positioning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F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5B3FE0"/>
                          </a:solidFill>
                        </a:rPr>
                        <a:t>1 – 10 cm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FFF"/>
                    </a:solidFill>
                  </a:tcPr>
                </a:tc>
              </a:tr>
            </a:tbl>
          </a:graphicData>
        </a:graphic>
      </p:graphicFrame>
      <p:sp>
        <p:nvSpPr>
          <p:cNvPr id="5" name="15项能力"/>
          <p:cNvSpPr/>
          <p:nvPr/>
        </p:nvSpPr>
        <p:spPr>
          <a:xfrm>
            <a:off x="8686800" y="1536192"/>
            <a:ext cx="2956255" cy="4480560"/>
          </a:xfrm>
          <a:prstGeom prst="roundRect">
            <a:avLst>
              <a:gd name="adj" fmla="val 3093"/>
            </a:avLst>
          </a:prstGeom>
          <a:solidFill>
            <a:srgbClr val="F1E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15400" y="1627632"/>
            <a:ext cx="2590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000" b="1" dirty="0">
                <a:solidFill>
                  <a:schemeClr val="accent1"/>
                </a:solidFill>
              </a:rPr>
              <a:t>15</a:t>
            </a:r>
            <a:r>
              <a:rPr lang="zh-CN" altLang="en-US" sz="1600" b="1" dirty="0">
                <a:solidFill>
                  <a:schemeClr val="tx2"/>
                </a:solidFill>
              </a:rPr>
              <a:t> 项能力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2432304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15 capabilities = 9 enhanced + 6 new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834640"/>
            <a:ext cx="1180948" cy="347472"/>
          </a:xfrm>
          <a:prstGeom prst="roundRect">
            <a:avLst>
              <a:gd name="adj" fmla="val 50000"/>
            </a:avLst>
          </a:prstGeom>
          <a:solidFill>
            <a:srgbClr val="5B3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</a:rPr>
              <a:t>9 项增强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233508" y="2834640"/>
            <a:ext cx="1180948" cy="347472"/>
          </a:xfrm>
          <a:prstGeom prst="roundRect">
            <a:avLst>
              <a:gd name="adj" fmla="val 50000"/>
            </a:avLst>
          </a:prstGeom>
          <a:solidFill>
            <a:srgbClr val="D63F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b="1" dirty="0">
                <a:solidFill>
                  <a:srgbClr val="FFFFFF"/>
                </a:solidFill>
              </a:rPr>
              <a:t>6 项新增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3337560"/>
            <a:ext cx="25904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新增能力 New capabilities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覆盖 Coverage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定位 Positioning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感知相关能力 Sensing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AI相关能力 AI-related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可持续性 Sustainability</a:t>
            </a:r>
            <a:endParaRPr lang="en-US" sz="120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互操作性 Interoperability</a:t>
            </a:r>
            <a:endParaRPr lang="en-US" sz="1200" dirty="0"/>
          </a:p>
        </p:txBody>
      </p:sp>
      <p:sp>
        <p:nvSpPr>
          <p:cNvPr id="11" name="来源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来源 Source：ITU-R M.2083-0、M.2160-0。6G数值为研究目标，不要求在同一场景中同时达到 / Research targets, not required simultaneously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6G标准化时间表：2030年前后实现商用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6G Standardization Timeline: Toward Commercial Launch around 2030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84207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36694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89181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1668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2027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94155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46641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rgbClr val="656B80"/>
                </a:solidFill>
              </a:rPr>
              <a:t>2029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399128" y="1517904"/>
            <a:ext cx="11524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200" b="1" dirty="0">
                <a:solidFill>
                  <a:schemeClr val="accent3"/>
                </a:solidFill>
              </a:rPr>
              <a:t>2030</a:t>
            </a:r>
            <a:endParaRPr lang="en-US" sz="1200" dirty="0"/>
          </a:p>
        </p:txBody>
      </p:sp>
      <p:sp>
        <p:nvSpPr>
          <p:cNvPr id="12" name="泳道 ITU-R"/>
          <p:cNvSpPr/>
          <p:nvPr/>
        </p:nvSpPr>
        <p:spPr>
          <a:xfrm>
            <a:off x="548640" y="1938528"/>
            <a:ext cx="11094415" cy="1261872"/>
          </a:xfrm>
          <a:prstGeom prst="roundRect">
            <a:avLst>
              <a:gd name="adj" fmla="val 5797"/>
            </a:avLst>
          </a:prstGeom>
          <a:solidFill>
            <a:srgbClr val="F1E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1938528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5B3FE0"/>
                </a:solidFill>
              </a:rPr>
              <a:t>ITU-R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IMT-2030</a:t>
            </a:r>
            <a:endParaRPr lang="en-US" sz="1500" dirty="0"/>
          </a:p>
        </p:txBody>
      </p:sp>
      <p:sp>
        <p:nvSpPr>
          <p:cNvPr id="14" name="泳道 WRC"/>
          <p:cNvSpPr/>
          <p:nvPr/>
        </p:nvSpPr>
        <p:spPr>
          <a:xfrm>
            <a:off x="548640" y="3310128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31012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0E8FB5"/>
                </a:solidFill>
              </a:rPr>
              <a:t>WRC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频谱 Spectrum</a:t>
            </a:r>
            <a:endParaRPr lang="en-US" sz="1500" dirty="0"/>
          </a:p>
        </p:txBody>
      </p:sp>
      <p:sp>
        <p:nvSpPr>
          <p:cNvPr id="16" name="泳道 3GPP"/>
          <p:cNvSpPr/>
          <p:nvPr/>
        </p:nvSpPr>
        <p:spPr>
          <a:xfrm>
            <a:off x="548640" y="4434840"/>
            <a:ext cx="11094415" cy="1261872"/>
          </a:xfrm>
          <a:prstGeom prst="roundRect">
            <a:avLst>
              <a:gd name="adj" fmla="val 5797"/>
            </a:avLst>
          </a:prstGeom>
          <a:solidFill>
            <a:srgbClr val="F1E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434840"/>
            <a:ext cx="1554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E1856"/>
                </a:solidFill>
              </a:rPr>
              <a:t>3GPP</a:t>
            </a:r>
            <a:endParaRPr lang="en-US" sz="15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技术规范 Specs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84207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636694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789181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941668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094155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246641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399128" y="1847088"/>
            <a:ext cx="0" cy="3867912"/>
          </a:xfrm>
          <a:prstGeom prst="line">
            <a:avLst/>
          </a:prstGeom>
          <a:noFill/>
          <a:ln w="9525">
            <a:solidFill>
              <a:srgbClr val="D5D8E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208748" y="2066544"/>
            <a:ext cx="274320" cy="274320"/>
          </a:xfrm>
          <a:prstGeom prst="diamond">
            <a:avLst/>
          </a:prstGeom>
          <a:solidFill>
            <a:srgbClr val="5B3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8788" y="2011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1F2433"/>
                </a:solidFill>
              </a:rPr>
              <a:t>M.2160 愿景框架（2023.11）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484207" y="2615184"/>
            <a:ext cx="3457461" cy="420624"/>
          </a:xfrm>
          <a:prstGeom prst="roundRect">
            <a:avLst>
              <a:gd name="adj" fmla="val 17391"/>
            </a:avLst>
          </a:prstGeom>
          <a:solidFill>
            <a:srgbClr val="846FE8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</a:rPr>
              <a:t>技术性能需求与评估方法 Requirements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56916" y="2615184"/>
            <a:ext cx="2304974" cy="420624"/>
          </a:xfrm>
          <a:prstGeom prst="roundRect">
            <a:avLst>
              <a:gd name="adj" fmla="val 17391"/>
            </a:avLst>
          </a:prstGeom>
          <a:solidFill>
            <a:srgbClr val="5B3FE0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</a:rPr>
              <a:t>候选技术提交 Proposals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419514" y="2615184"/>
            <a:ext cx="1671106" cy="420624"/>
          </a:xfrm>
          <a:prstGeom prst="roundRect">
            <a:avLst>
              <a:gd name="adj" fmla="val 17391"/>
            </a:avLst>
          </a:prstGeom>
          <a:solidFill>
            <a:srgbClr val="1E1856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</a:rPr>
              <a:t>评估·规范 Specs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31798" y="3666744"/>
            <a:ext cx="274320" cy="274320"/>
          </a:xfrm>
          <a:prstGeom prst="diamond">
            <a:avLst/>
          </a:prstGeom>
          <a:solidFill>
            <a:srgbClr val="0E8F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51838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1F2433"/>
                </a:solidFill>
              </a:rPr>
              <a:t>WRC-23：设立议题1.7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84121" y="3666744"/>
            <a:ext cx="274320" cy="274320"/>
          </a:xfrm>
          <a:prstGeom prst="diamond">
            <a:avLst/>
          </a:prstGeom>
          <a:solidFill>
            <a:srgbClr val="0E8F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04161" y="3520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50" b="1" dirty="0">
                <a:solidFill>
                  <a:srgbClr val="1F2433"/>
                </a:solidFill>
              </a:rPr>
              <a:t>WRC-27：6G频谱决策</a:t>
            </a:r>
            <a:endParaRPr lang="en-US" sz="1050" dirty="0"/>
          </a:p>
          <a:p>
            <a:pPr algn="l"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4.4–4.8 / 7.125–8.4 / 14.8–15.35 GHz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155313" y="4572000"/>
            <a:ext cx="2016852" cy="420624"/>
          </a:xfrm>
          <a:prstGeom prst="roundRect">
            <a:avLst>
              <a:gd name="adj" fmla="val 17391"/>
            </a:avLst>
          </a:prstGeom>
          <a:solidFill>
            <a:srgbClr val="625D89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</a:rPr>
              <a:t>Rel-20 6G研究 Study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172165" y="4572000"/>
            <a:ext cx="2362598" cy="420624"/>
          </a:xfrm>
          <a:prstGeom prst="roundRect">
            <a:avLst>
              <a:gd name="adj" fmla="val 17391"/>
            </a:avLst>
          </a:prstGeom>
          <a:solidFill>
            <a:srgbClr val="1E1856"/>
          </a:solidFill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</a:rPr>
              <a:t>Rel-21 首个6G标准 Specs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51857" y="5175504"/>
            <a:ext cx="274320" cy="274320"/>
          </a:xfrm>
          <a:prstGeom prst="diamond">
            <a:avLst/>
          </a:prstGeom>
          <a:solidFill>
            <a:srgbClr val="D63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14297" y="5120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50" dirty="0">
                <a:solidFill>
                  <a:srgbClr val="1F2433"/>
                </a:solidFill>
              </a:rPr>
              <a:t>Stage-3冻结 2028.12 · ASN.1冻结 2029.03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19593" y="4608576"/>
            <a:ext cx="274320" cy="274320"/>
          </a:xfrm>
          <a:prstGeom prst="star5">
            <a:avLst/>
          </a:prstGeom>
          <a:solidFill>
            <a:srgbClr val="D63F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39633" y="45537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1F2433"/>
                </a:solidFill>
              </a:rPr>
              <a:t>商用≈2030</a:t>
            </a:r>
            <a:endParaRPr lang="en-US" sz="1050" dirty="0"/>
          </a:p>
        </p:txBody>
      </p:sp>
      <p:sp>
        <p:nvSpPr>
          <p:cNvPr id="40" name="来源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来源 Source：ITU-R WP 5D IMT-2030时间表（提交窗口：WP 5D#54，2027.02 – WP 5D#59，2029.02）；3GPP TSG#112（2026.06）Rel-21时间表；WRC-23决议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143000"/>
            <a:ext cx="6400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1000" b="1" dirty="0">
                <a:solidFill>
                  <a:srgbClr val="9FE3FF"/>
                </a:solidFill>
              </a:rPr>
              <a:t>1.2</a:t>
            </a:r>
            <a:endParaRPr lang="zh-CN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834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</a:rPr>
              <a:t>移动通信前沿技术简介</a:t>
            </a:r>
            <a:endParaRPr lang="zh-CN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490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C3B6FF"/>
                </a:solidFill>
              </a:rPr>
              <a:t>Introduction to Frontier Technologies in Mobile Communications</a:t>
            </a:r>
            <a:endParaRPr lang="zh-CN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4709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B9BDE0"/>
                </a:solidFill>
              </a:rPr>
              <a:t>技术全景 · 空天地一体化 · 新型收发机 · 太赫兹通信 · 课程思政：中国移动通信的逆袭之路</a:t>
            </a:r>
            <a:endParaRPr lang="zh-CN" sz="1300" dirty="0"/>
          </a:p>
          <a:p>
            <a:pPr indent="0" marL="0">
              <a:buNone/>
            </a:pPr>
            <a:r>
              <a:rPr lang="zh-CN" altLang="en-US" sz="1300" dirty="0">
                <a:solidFill>
                  <a:srgbClr val="B9BDE0"/>
                </a:solidFill>
              </a:rPr>
              <a:t>Landscape · SAGIN · Novel transceivers · THz · China's journey in mobile communications</a:t>
            </a:r>
            <a:endParaRPr lang="zh-CN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6G关键使能技术全景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Landscape of 6G Enabling Technologies</a:t>
            </a:r>
            <a:endParaRPr lang="zh-CN" sz="1500" dirty="0"/>
          </a:p>
        </p:txBody>
      </p:sp>
      <p:sp>
        <p:nvSpPr>
          <p:cNvPr id="4" name="空天地一体化网络"/>
          <p:cNvSpPr/>
          <p:nvPr/>
        </p:nvSpPr>
        <p:spPr>
          <a:xfrm>
            <a:off x="548640" y="1554480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空天地一体化网络 图标底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空天地一体化网络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858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7240" y="18288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3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第2章 Ch.2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95728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空天地一体化网络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Space-air-ground integrated network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卫星、高空平台、无人机与地面网络融合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Global coverage by satellites, HAPS, UAVs and cells</a:t>
            </a:r>
            <a:endParaRPr lang="en-US" sz="1450" dirty="0"/>
          </a:p>
        </p:txBody>
      </p:sp>
      <p:sp>
        <p:nvSpPr>
          <p:cNvPr id="9" name="极化赋形"/>
          <p:cNvSpPr/>
          <p:nvPr/>
        </p:nvSpPr>
        <p:spPr>
          <a:xfrm>
            <a:off x="3372536" y="1554480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0" name="极化赋形 图标底"/>
          <p:cNvSpPr/>
          <p:nvPr/>
        </p:nvSpPr>
        <p:spPr>
          <a:xfrm>
            <a:off x="3555416" y="1737360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极化赋形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117" y="18580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71136" y="18288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3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第3章 Ch.3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555416" y="2395728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极化赋形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Polarforming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动态调控天线极化状态，挖掘极化维度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Shapes antenna polarization on demand</a:t>
            </a:r>
            <a:endParaRPr lang="en-US" sz="1450" dirty="0"/>
          </a:p>
        </p:txBody>
      </p:sp>
      <p:sp>
        <p:nvSpPr>
          <p:cNvPr id="14" name="里德堡原子接收机"/>
          <p:cNvSpPr/>
          <p:nvPr/>
        </p:nvSpPr>
        <p:spPr>
          <a:xfrm>
            <a:off x="6196432" y="1554480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5" name="里德堡原子接收机 图标底"/>
          <p:cNvSpPr/>
          <p:nvPr/>
        </p:nvSpPr>
        <p:spPr>
          <a:xfrm>
            <a:off x="6379312" y="1737360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里德堡原子接收机 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12" y="1858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795031" y="18288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3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第3章 Ch.3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6379312" y="2395728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里德堡原子接收机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Rydberg atomic receiver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以原子为“天线”，量子精密测量射频场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Atoms as quantum RF field sensors</a:t>
            </a:r>
            <a:endParaRPr lang="en-US" sz="1450" dirty="0"/>
          </a:p>
        </p:txBody>
      </p:sp>
      <p:sp>
        <p:nvSpPr>
          <p:cNvPr id="19" name="太赫兹通信"/>
          <p:cNvSpPr/>
          <p:nvPr/>
        </p:nvSpPr>
        <p:spPr>
          <a:xfrm>
            <a:off x="9020327" y="1554480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0" name="太赫兹通信 图标底"/>
          <p:cNvSpPr/>
          <p:nvPr/>
        </p:nvSpPr>
        <p:spPr>
          <a:xfrm>
            <a:off x="9203207" y="1737360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1" name="太赫兹通信 图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908" y="18580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618927" y="18288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3F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FFFFFF"/>
                </a:solidFill>
              </a:rPr>
              <a:t>第4章 Ch.4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9203207" y="2395728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太赫兹通信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Terahertz communications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0.1–10 THz超大带宽，支撑百Gbit/s速率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Huge bandwidth for 100+ Gbit/s links</a:t>
            </a:r>
            <a:endParaRPr lang="en-US" sz="1450" dirty="0"/>
          </a:p>
        </p:txBody>
      </p:sp>
      <p:sp>
        <p:nvSpPr>
          <p:cNvPr id="24" name="通信感知一体化"/>
          <p:cNvSpPr/>
          <p:nvPr/>
        </p:nvSpPr>
        <p:spPr>
          <a:xfrm>
            <a:off x="548640" y="3950208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5" name="通信感知一体化 图标底"/>
          <p:cNvSpPr/>
          <p:nvPr/>
        </p:nvSpPr>
        <p:spPr>
          <a:xfrm>
            <a:off x="731520" y="4133088"/>
            <a:ext cx="548640" cy="54864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26" name="通信感知一体化 图标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25378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147240" y="42245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1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5B3FE0"/>
                </a:solidFill>
              </a:rPr>
              <a:t>拓展 Extra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791456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通信感知一体化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Integrated sensing &amp; communication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同一套硬件与波形同时通信和感知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One waveform for both data and sensing</a:t>
            </a:r>
            <a:endParaRPr lang="en-US" sz="1450" dirty="0"/>
          </a:p>
        </p:txBody>
      </p:sp>
      <p:sp>
        <p:nvSpPr>
          <p:cNvPr id="29" name="AI原生空口"/>
          <p:cNvSpPr/>
          <p:nvPr/>
        </p:nvSpPr>
        <p:spPr>
          <a:xfrm>
            <a:off x="3372536" y="3950208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0" name="AI原生空口 图标底"/>
          <p:cNvSpPr/>
          <p:nvPr/>
        </p:nvSpPr>
        <p:spPr>
          <a:xfrm>
            <a:off x="3555416" y="4133088"/>
            <a:ext cx="548640" cy="54864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31" name="AI原生空口 图标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117" y="425378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971136" y="42245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1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5B3FE0"/>
                </a:solidFill>
              </a:rPr>
              <a:t>拓展 Extra</a:t>
            </a:r>
            <a:endParaRPr 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3555416" y="4791456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AI原生空口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AI-native air interface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AI/ML用于信道反馈、波束管理与定位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AI/ML for CSI, beams and positioning</a:t>
            </a:r>
            <a:endParaRPr lang="en-US" sz="1450" dirty="0"/>
          </a:p>
        </p:txBody>
      </p:sp>
      <p:sp>
        <p:nvSpPr>
          <p:cNvPr id="34" name="智能超表面"/>
          <p:cNvSpPr/>
          <p:nvPr/>
        </p:nvSpPr>
        <p:spPr>
          <a:xfrm>
            <a:off x="6196432" y="3950208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35" name="智能超表面 图标底"/>
          <p:cNvSpPr/>
          <p:nvPr/>
        </p:nvSpPr>
        <p:spPr>
          <a:xfrm>
            <a:off x="6379312" y="4133088"/>
            <a:ext cx="548640" cy="54864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36" name="智能超表面 图标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012" y="4253789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795031" y="42245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1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5B3FE0"/>
                </a:solidFill>
              </a:rPr>
              <a:t>拓展 Extra</a:t>
            </a:r>
            <a:endParaRPr 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6379312" y="4791456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智能超表面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Reconfigurable intelligent surface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可编程电磁表面，重塑无线传播环境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Programmable surfaces reshape propagation</a:t>
            </a:r>
            <a:endParaRPr lang="en-US" sz="1450" dirty="0"/>
          </a:p>
        </p:txBody>
      </p:sp>
      <p:sp>
        <p:nvSpPr>
          <p:cNvPr id="39" name="超大规模MIMO"/>
          <p:cNvSpPr/>
          <p:nvPr/>
        </p:nvSpPr>
        <p:spPr>
          <a:xfrm>
            <a:off x="9020327" y="3950208"/>
            <a:ext cx="2622728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40" name="超大规模MIMO 图标底"/>
          <p:cNvSpPr/>
          <p:nvPr/>
        </p:nvSpPr>
        <p:spPr>
          <a:xfrm>
            <a:off x="9203207" y="4133088"/>
            <a:ext cx="548640" cy="548640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41" name="超大规模MIMO 图标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3908" y="4253789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618927" y="422452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1E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5B3FE0"/>
                </a:solidFill>
              </a:rPr>
              <a:t>拓展 Extra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9203207" y="4791456"/>
            <a:ext cx="2293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b="1" dirty="0">
                <a:solidFill>
                  <a:schemeClr val="tx2"/>
                </a:solidFill>
              </a:rPr>
              <a:t>超大规模MIMO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zh-CN" altLang="en-US" sz="950" dirty="0">
                <a:solidFill>
                  <a:schemeClr val="accent1"/>
                </a:solidFill>
              </a:rPr>
              <a:t>Extremely large MIMO</a:t>
            </a:r>
            <a:endParaRPr lang="en-US" sz="145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天线数再提升，近场通信与无蜂窝架构</a:t>
            </a:r>
            <a:endParaRPr lang="en-US" sz="14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Near-field and cell-free architectures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空天地一体化网络：从地面覆盖走向全域覆盖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Space-Air-Ground Integrated Networks: From Terrestrial to Global Coverage</a:t>
            </a:r>
            <a:endParaRPr lang="zh-CN" sz="1500" dirty="0"/>
          </a:p>
        </p:txBody>
      </p:sp>
      <p:sp>
        <p:nvSpPr>
          <p:cNvPr id="4" name="天基 Space-based"/>
          <p:cNvSpPr/>
          <p:nvPr/>
        </p:nvSpPr>
        <p:spPr>
          <a:xfrm>
            <a:off x="548640" y="1572768"/>
            <a:ext cx="6492240" cy="1298448"/>
          </a:xfrm>
          <a:prstGeom prst="roundRect">
            <a:avLst>
              <a:gd name="adj" fmla="val 7042"/>
            </a:avLst>
          </a:prstGeom>
          <a:solidFill>
            <a:srgbClr val="1E1856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天基 Space-based 图标底"/>
          <p:cNvSpPr/>
          <p:nvPr/>
        </p:nvSpPr>
        <p:spPr>
          <a:xfrm>
            <a:off x="822960" y="187452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天基 Space-based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027408"/>
            <a:ext cx="389169" cy="3891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00784"/>
            <a:ext cx="5120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天基 Space-based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200" dirty="0">
                <a:solidFill>
                  <a:srgbClr val="FFFFFF"/>
                </a:solidFill>
              </a:rPr>
              <a:t>GEO / MEO / LEO卫星星座，覆盖海洋、荒漠与航空</a:t>
            </a:r>
            <a:endParaRPr lang="en-US" sz="16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9FE3FF"/>
                </a:solidFill>
              </a:rPr>
              <a:t>Satellite constellations for oceans, deserts and aviation</a:t>
            </a:r>
            <a:endParaRPr lang="en-US" sz="1600" dirty="0"/>
          </a:p>
        </p:txBody>
      </p:sp>
      <p:sp>
        <p:nvSpPr>
          <p:cNvPr id="8" name="空基 Air-based"/>
          <p:cNvSpPr/>
          <p:nvPr/>
        </p:nvSpPr>
        <p:spPr>
          <a:xfrm>
            <a:off x="548640" y="3035808"/>
            <a:ext cx="6492240" cy="1298448"/>
          </a:xfrm>
          <a:prstGeom prst="roundRect">
            <a:avLst>
              <a:gd name="adj" fmla="val 7042"/>
            </a:avLst>
          </a:prstGeom>
          <a:solidFill>
            <a:srgbClr val="5B3FE0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9" name="空基 Air-based 图标底"/>
          <p:cNvSpPr/>
          <p:nvPr/>
        </p:nvSpPr>
        <p:spPr>
          <a:xfrm>
            <a:off x="822960" y="3337560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空基 Air-based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48" y="3490448"/>
            <a:ext cx="389169" cy="3891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3163824"/>
            <a:ext cx="5120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空基 Air-based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200" dirty="0">
                <a:solidFill>
                  <a:srgbClr val="FFFFFF"/>
                </a:solidFill>
              </a:rPr>
              <a:t>高空平台HAPS、无人机UAV，灵活部署、应急通信</a:t>
            </a:r>
            <a:endParaRPr lang="en-US" sz="16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E6E1FF"/>
                </a:solidFill>
              </a:rPr>
              <a:t>HAPS and UAVs for flexible, on-demand coverage</a:t>
            </a:r>
            <a:endParaRPr lang="en-US" sz="1600" dirty="0"/>
          </a:p>
        </p:txBody>
      </p:sp>
      <p:sp>
        <p:nvSpPr>
          <p:cNvPr id="12" name="地基 Ground-based"/>
          <p:cNvSpPr/>
          <p:nvPr/>
        </p:nvSpPr>
        <p:spPr>
          <a:xfrm>
            <a:off x="548640" y="4498848"/>
            <a:ext cx="6492240" cy="1298448"/>
          </a:xfrm>
          <a:prstGeom prst="roundRect">
            <a:avLst>
              <a:gd name="adj" fmla="val 7042"/>
            </a:avLst>
          </a:prstGeom>
          <a:solidFill>
            <a:srgbClr val="F1EFFF"/>
          </a:solidFill>
          <a:ln/>
        </p:spPr>
      </p:sp>
      <p:sp>
        <p:nvSpPr>
          <p:cNvPr id="13" name="地基 Ground-based 图标底"/>
          <p:cNvSpPr/>
          <p:nvPr/>
        </p:nvSpPr>
        <p:spPr>
          <a:xfrm>
            <a:off x="822960" y="4800600"/>
            <a:ext cx="694944" cy="694944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4" name="地基 Ground-based 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8" y="4953488"/>
            <a:ext cx="389169" cy="3891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4626864"/>
            <a:ext cx="5120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E1856"/>
                </a:solidFill>
              </a:rPr>
              <a:t>地基 Ground-based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zh-CN" altLang="en-US" sz="1200" dirty="0">
                <a:solidFill>
                  <a:srgbClr val="1E1856"/>
                </a:solidFill>
              </a:rPr>
              <a:t>蜂窝基站与信关站，提供大容量接入与回传</a:t>
            </a:r>
            <a:endParaRPr lang="en-US" sz="16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Cellular sites and gateways for capacity and backhaul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59618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i="1" dirty="0">
                <a:solidFill>
                  <a:srgbClr val="656B80"/>
                </a:solidFill>
              </a:rPr>
              <a:t>星间链路 · 星地链路 · 空地链路协同组网   Inter-satellite, satellite-ground and air-ground links work as one network</a:t>
            </a:r>
            <a:endParaRPr lang="en-US" sz="1100" dirty="0"/>
          </a:p>
        </p:txBody>
      </p:sp>
      <p:sp>
        <p:nvSpPr>
          <p:cNvPr id="17" name="数据 ≈1万颗"/>
          <p:cNvSpPr/>
          <p:nvPr/>
        </p:nvSpPr>
        <p:spPr>
          <a:xfrm>
            <a:off x="7406640" y="1572768"/>
            <a:ext cx="4236415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635240" y="1682496"/>
            <a:ext cx="3824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1"/>
                </a:solidFill>
              </a:rPr>
              <a:t>≈1万颗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7635240" y="2212848"/>
            <a:ext cx="3824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tx1"/>
                </a:solidFill>
              </a:rPr>
              <a:t>Starlink在轨工作卫星（2026.10）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~10,000 operational Starlink satellites</a:t>
            </a:r>
            <a:endParaRPr lang="en-US" sz="1150" dirty="0"/>
          </a:p>
        </p:txBody>
      </p:sp>
      <p:sp>
        <p:nvSpPr>
          <p:cNvPr id="20" name="数据 ≈480颗"/>
          <p:cNvSpPr/>
          <p:nvPr/>
        </p:nvSpPr>
        <p:spPr>
          <a:xfrm>
            <a:off x="7406640" y="3035808"/>
            <a:ext cx="4236415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7635240" y="3145536"/>
            <a:ext cx="3824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1"/>
                </a:solidFill>
              </a:rPr>
              <a:t>≈480颗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7635240" y="3675888"/>
            <a:ext cx="3824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tx1"/>
                </a:solidFill>
              </a:rPr>
              <a:t>国网与千帆星座在轨卫星合计（2026.10）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~480 Guowang + Qianfan satellites in orbit</a:t>
            </a:r>
            <a:endParaRPr lang="en-US" sz="1150" dirty="0"/>
          </a:p>
        </p:txBody>
      </p:sp>
      <p:sp>
        <p:nvSpPr>
          <p:cNvPr id="23" name="数据 Rel-17"/>
          <p:cNvSpPr/>
          <p:nvPr/>
        </p:nvSpPr>
        <p:spPr>
          <a:xfrm>
            <a:off x="7406640" y="4498848"/>
            <a:ext cx="4236415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7635240" y="4608576"/>
            <a:ext cx="3824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chemeClr val="accent1"/>
                </a:solidFill>
              </a:rPr>
              <a:t>Rel-17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7635240" y="5138928"/>
            <a:ext cx="3824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b="1" dirty="0">
                <a:solidFill>
                  <a:schemeClr val="tx1"/>
                </a:solidFill>
              </a:rPr>
              <a:t>3GPP首次将非地面网络（NTN）纳入5G标准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NTN first standardized in 3GPP Rel-17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7406640" y="5961888"/>
            <a:ext cx="4236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数据来源：Orbital Radar、KeepTrack公开跟踪数据（2026年10月）；3GPP TR 38.811/38.821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新型收发机：极化赋形与里德堡原子接收机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Novel Transceivers: Polarforming and Rydberg Atomic Receivers</a:t>
            </a:r>
            <a:endParaRPr lang="zh-CN" sz="1500" dirty="0"/>
          </a:p>
        </p:txBody>
      </p:sp>
      <p:sp>
        <p:nvSpPr>
          <p:cNvPr id="4" name="极化赋形"/>
          <p:cNvSpPr/>
          <p:nvPr/>
        </p:nvSpPr>
        <p:spPr>
          <a:xfrm>
            <a:off x="548640" y="1554480"/>
            <a:ext cx="5410048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极化赋形 图标底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极化赋形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880372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737360"/>
            <a:ext cx="431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极化赋形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Polarforming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 rot="2700000">
            <a:off x="768096" y="2954792"/>
            <a:ext cx="566928" cy="34016"/>
          </a:xfrm>
          <a:prstGeom prst="ellipse">
            <a:avLst/>
          </a:prstGeom>
          <a:solidFill>
            <a:srgbClr val="F1EFFF"/>
          </a:solidFill>
          <a:ln w="25400">
            <a:solidFill>
              <a:srgbClr val="5B3F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chemeClr val="tx1"/>
                </a:solidFill>
              </a:rPr>
              <a:t>线极化</a:t>
            </a:r>
            <a:endParaRPr lang="en-US" sz="10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Linear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rot="1500000">
            <a:off x="1869148" y="2844241"/>
            <a:ext cx="566928" cy="255118"/>
          </a:xfrm>
          <a:prstGeom prst="ellipse">
            <a:avLst/>
          </a:prstGeom>
          <a:solidFill>
            <a:srgbClr val="F1EFFF"/>
          </a:solidFill>
          <a:ln w="25400">
            <a:solidFill>
              <a:srgbClr val="5B3F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649692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chemeClr val="tx1"/>
                </a:solidFill>
              </a:rPr>
              <a:t>椭圆</a:t>
            </a:r>
            <a:endParaRPr lang="en-US" sz="10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Elliptical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70200" y="2688336"/>
            <a:ext cx="566928" cy="566928"/>
          </a:xfrm>
          <a:prstGeom prst="ellipse">
            <a:avLst/>
          </a:prstGeom>
          <a:solidFill>
            <a:srgbClr val="F1EFFF"/>
          </a:solidFill>
          <a:ln w="25400">
            <a:solidFill>
              <a:srgbClr val="5B3F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50744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chemeClr val="tx1"/>
                </a:solidFill>
              </a:rPr>
              <a:t>圆极化</a:t>
            </a:r>
            <a:endParaRPr lang="en-US" sz="10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Circular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 rot="-1500000">
            <a:off x="4071252" y="2844241"/>
            <a:ext cx="566928" cy="255118"/>
          </a:xfrm>
          <a:prstGeom prst="ellipse">
            <a:avLst/>
          </a:prstGeom>
          <a:solidFill>
            <a:srgbClr val="F1EFFF"/>
          </a:solidFill>
          <a:ln w="25400">
            <a:solidFill>
              <a:srgbClr val="5B3F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51796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chemeClr val="tx1"/>
                </a:solidFill>
              </a:rPr>
              <a:t>椭圆</a:t>
            </a:r>
            <a:endParaRPr lang="en-US" sz="10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Elliptical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 rot="-2700000">
            <a:off x="5172304" y="2954792"/>
            <a:ext cx="566928" cy="34016"/>
          </a:xfrm>
          <a:prstGeom prst="ellipse">
            <a:avLst/>
          </a:prstGeom>
          <a:solidFill>
            <a:srgbClr val="F1EFFF"/>
          </a:solidFill>
          <a:ln w="25400">
            <a:solidFill>
              <a:srgbClr val="5B3FE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52848" y="3383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000" b="1" dirty="0">
                <a:solidFill>
                  <a:schemeClr val="tx1"/>
                </a:solidFill>
              </a:rPr>
              <a:t>线极化</a:t>
            </a:r>
            <a:endParaRPr lang="en-US" sz="1000" dirty="0"/>
          </a:p>
          <a:p>
            <a:pPr algn="ctr"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Linear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913632"/>
            <a:ext cx="49071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原理：将天线极化“塑形”为所需状态，实时实现极化匹配或失配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Shape the antenna polarization to match or mismatch in real time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优势：缓解去极化损耗、增强信号功率、抑制干扰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Mitigates depolarization, boosts signal power, suppresses interference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实现：极化可重构天线、双极化阵列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Polarization-reconfigurable antennas and dual-polarized arrays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742432"/>
            <a:ext cx="490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参考 Ref.: Polarforming for wireless communications, arXiv:2409.07771, 2024</a:t>
            </a:r>
            <a:endParaRPr lang="en-US" sz="950" dirty="0"/>
          </a:p>
        </p:txBody>
      </p:sp>
      <p:sp>
        <p:nvSpPr>
          <p:cNvPr id="20" name="里德堡原子接收机"/>
          <p:cNvSpPr/>
          <p:nvPr/>
        </p:nvSpPr>
        <p:spPr>
          <a:xfrm>
            <a:off x="6233008" y="1554480"/>
            <a:ext cx="5410048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1" name="里德堡原子接收机 图标底"/>
          <p:cNvSpPr/>
          <p:nvPr/>
        </p:nvSpPr>
        <p:spPr>
          <a:xfrm>
            <a:off x="6461608" y="1755648"/>
            <a:ext cx="566928" cy="566928"/>
          </a:xfrm>
          <a:prstGeom prst="ellipse">
            <a:avLst/>
          </a:prstGeom>
          <a:solidFill>
            <a:srgbClr val="0E8FB5"/>
          </a:solidFill>
          <a:ln/>
        </p:spPr>
      </p:sp>
      <p:pic>
        <p:nvPicPr>
          <p:cNvPr id="22" name="里德堡原子接收机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332" y="1880372"/>
            <a:ext cx="317480" cy="3174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65696" y="1737360"/>
            <a:ext cx="431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里德堡原子接收机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Rydberg atomic receiver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598768" y="3886200"/>
            <a:ext cx="822960" cy="0"/>
          </a:xfrm>
          <a:prstGeom prst="line">
            <a:avLst/>
          </a:prstGeom>
          <a:noFill/>
          <a:ln w="25400">
            <a:solidFill>
              <a:srgbClr val="1E185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494880" y="37673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g  基态 Ground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598768" y="3383280"/>
            <a:ext cx="822960" cy="0"/>
          </a:xfrm>
          <a:prstGeom prst="line">
            <a:avLst/>
          </a:prstGeom>
          <a:noFill/>
          <a:ln w="25400">
            <a:solidFill>
              <a:srgbClr val="1E185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494880" y="32644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e  激发态 Excited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598768" y="2852928"/>
            <a:ext cx="822960" cy="0"/>
          </a:xfrm>
          <a:prstGeom prst="line">
            <a:avLst/>
          </a:prstGeom>
          <a:noFill/>
          <a:ln w="25400">
            <a:solidFill>
              <a:srgbClr val="1E185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494880" y="27340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r  里德堡态 Rydberg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598768" y="2560320"/>
            <a:ext cx="822960" cy="0"/>
          </a:xfrm>
          <a:prstGeom prst="line">
            <a:avLst/>
          </a:prstGeom>
          <a:noFill/>
          <a:ln w="25400">
            <a:solidFill>
              <a:srgbClr val="1E185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494880" y="24414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r′ 相邻里德堡态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 flipV="1">
            <a:off x="6781648" y="3419856"/>
            <a:ext cx="0" cy="438912"/>
          </a:xfrm>
          <a:prstGeom prst="line">
            <a:avLst/>
          </a:prstGeom>
          <a:noFill/>
          <a:ln w="28575">
            <a:solidFill>
              <a:srgbClr val="E0465E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 flipV="1">
            <a:off x="7010248" y="2889504"/>
            <a:ext cx="0" cy="466344"/>
          </a:xfrm>
          <a:prstGeom prst="line">
            <a:avLst/>
          </a:prstGeom>
          <a:noFill/>
          <a:ln w="28575">
            <a:solidFill>
              <a:srgbClr val="3D6FE0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 flipV="1">
            <a:off x="7238848" y="2587752"/>
            <a:ext cx="0" cy="246888"/>
          </a:xfrm>
          <a:prstGeom prst="line">
            <a:avLst/>
          </a:prstGeom>
          <a:noFill/>
          <a:ln w="28575">
            <a:solidFill>
              <a:srgbClr val="0E8FB5"/>
            </a:solidFill>
            <a:prstDash val="solid"/>
            <a:tailEnd type="triangle"/>
          </a:ln>
        </p:spPr>
      </p:sp>
      <p:sp>
        <p:nvSpPr>
          <p:cNvPr id="35" name="Text 31"/>
          <p:cNvSpPr txBox="1"/>
          <p:nvPr/>
        </p:nvSpPr>
        <p:spPr>
          <a:xfrm>
            <a:off x="6598768" y="39867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50" dirty="0">
                <a:solidFill>
                  <a:srgbClr val="C43A50"/>
                </a:solidFill>
              </a:rPr>
              <a:t>探测光 Probe（Rb：780 nm）</a:t>
            </a:r>
            <a:endParaRPr lang="en-US" sz="9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2F5BC4"/>
                </a:solidFill>
              </a:rPr>
              <a:t>耦合光 Coupling（≈480 nm）</a:t>
            </a:r>
            <a:endParaRPr lang="en-US" sz="950" dirty="0"/>
          </a:p>
          <a:p>
            <a:pPr indent="0" marL="0">
              <a:buNone/>
            </a:pPr>
            <a:r>
              <a:rPr lang="zh-CN" altLang="en-US" sz="950" dirty="0">
                <a:solidFill>
                  <a:schemeClr val="accent2"/>
                </a:solidFill>
              </a:rPr>
              <a:t>射频场 RF field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8839048" y="2514600"/>
            <a:ext cx="2621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原理：射频电场使EIT谱线发生AT分裂，以光学方式读出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RF fields split the EIT line (Autler–Townes), read out optically</a:t>
            </a:r>
            <a:endParaRPr lang="en-US" sz="1200" dirty="0"/>
          </a:p>
          <a:p>
            <a:pPr marL="165100" indent="-165100">
              <a:buSzPct val="10000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优势：宽频可调（MHz–THz）、SI可溯源、尺寸不受波长限制</a:t>
            </a:r>
            <a:br/>
            <a:r>
              <a:rPr lang="zh-CN" altLang="en-US" sz="1000" dirty="0">
                <a:solidFill>
                  <a:srgbClr val="656B80"/>
                </a:solidFill>
              </a:rPr>
              <a:t>Broadband tunable, SI-traceable, size independent of wavelength</a:t>
            </a:r>
            <a:endParaRPr lang="en-US" sz="1200" dirty="0"/>
          </a:p>
        </p:txBody>
      </p:sp>
      <p:sp>
        <p:nvSpPr>
          <p:cNvPr id="37" name="灵敏度"/>
          <p:cNvSpPr/>
          <p:nvPr/>
        </p:nvSpPr>
        <p:spPr>
          <a:xfrm>
            <a:off x="6507328" y="4617720"/>
            <a:ext cx="4861408" cy="1280160"/>
          </a:xfrm>
          <a:prstGeom prst="roundRect">
            <a:avLst>
              <a:gd name="adj" fmla="val 7143"/>
            </a:avLst>
          </a:prstGeom>
          <a:solidFill>
            <a:srgbClr val="F1EFFF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690208" y="4690872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chemeClr val="accent1"/>
                </a:solidFill>
              </a:rPr>
              <a:t>55 nV·cm</a:t>
            </a:r>
            <a:r>
              <a:rPr lang="zh-CN" altLang="en-US" sz="2200" b="1" baseline="30000" dirty="0">
                <a:solidFill>
                  <a:schemeClr val="accent1"/>
                </a:solidFill>
              </a:rPr>
              <a:t>−1</a:t>
            </a:r>
            <a:r>
              <a:rPr lang="zh-CN" altLang="en-US" sz="2200" b="1" dirty="0">
                <a:solidFill>
                  <a:schemeClr val="accent1"/>
                </a:solidFill>
              </a:rPr>
              <a:t>·Hz</a:t>
            </a:r>
            <a:r>
              <a:rPr lang="zh-CN" altLang="en-US" sz="2200" b="1" baseline="30000" dirty="0">
                <a:solidFill>
                  <a:schemeClr val="accent1"/>
                </a:solidFill>
              </a:rPr>
              <a:t>−1/2</a:t>
            </a:r>
            <a:endParaRPr lang="en-US" sz="2200" dirty="0"/>
          </a:p>
        </p:txBody>
      </p:sp>
      <p:sp>
        <p:nvSpPr>
          <p:cNvPr id="39" name="Text 35"/>
          <p:cNvSpPr txBox="1"/>
          <p:nvPr/>
        </p:nvSpPr>
        <p:spPr>
          <a:xfrm>
            <a:off x="6690208" y="5239512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00" dirty="0">
                <a:solidFill>
                  <a:schemeClr val="tx1"/>
                </a:solidFill>
              </a:rPr>
              <a:t>原子超外差接收灵敏度（Jing et al., Nature Physics, 2020）</a:t>
            </a:r>
            <a:endParaRPr lang="en-US" sz="110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Sensitivity of the atomic superheterodyne receiver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太赫兹通信：打开0.1–10 THz频谱宝库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Terahertz Communications: Unlocking the 0.1–10 THz Spectrum</a:t>
            </a:r>
            <a:endParaRPr lang="zh-CN" sz="1500" dirty="0"/>
          </a:p>
        </p:txBody>
      </p:sp>
      <p:sp>
        <p:nvSpPr>
          <p:cNvPr id="4" name="微波"/>
          <p:cNvSpPr/>
          <p:nvPr/>
        </p:nvSpPr>
        <p:spPr>
          <a:xfrm>
            <a:off x="548640" y="1554480"/>
            <a:ext cx="2331720" cy="1024128"/>
          </a:xfrm>
          <a:prstGeom prst="roundRect">
            <a:avLst>
              <a:gd name="adj" fmla="val 8929"/>
            </a:avLst>
          </a:prstGeom>
          <a:solidFill>
            <a:srgbClr val="B8D7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E1856"/>
                </a:solidFill>
              </a:rPr>
              <a:t>微波  &lt; 30 GHz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1E1856"/>
                </a:solidFill>
              </a:rPr>
              <a:t>Microwave</a:t>
            </a:r>
            <a:endParaRPr lang="en-US" sz="1400" dirty="0"/>
          </a:p>
        </p:txBody>
      </p:sp>
      <p:sp>
        <p:nvSpPr>
          <p:cNvPr id="6" name="毫米波"/>
          <p:cNvSpPr/>
          <p:nvPr/>
        </p:nvSpPr>
        <p:spPr>
          <a:xfrm>
            <a:off x="3012338" y="1554480"/>
            <a:ext cx="2606040" cy="1024128"/>
          </a:xfrm>
          <a:prstGeom prst="roundRect">
            <a:avLst>
              <a:gd name="adj" fmla="val 8929"/>
            </a:avLst>
          </a:prstGeom>
          <a:solidFill>
            <a:srgbClr val="74BA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3778" y="1627632"/>
            <a:ext cx="2423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E1856"/>
                </a:solidFill>
              </a:rPr>
              <a:t>毫米波  30 – 300 GHz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1E1856"/>
                </a:solidFill>
              </a:rPr>
              <a:t>Millimeter wave</a:t>
            </a:r>
            <a:endParaRPr lang="en-US" sz="1400" dirty="0"/>
          </a:p>
        </p:txBody>
      </p:sp>
      <p:sp>
        <p:nvSpPr>
          <p:cNvPr id="8" name="太赫兹"/>
          <p:cNvSpPr/>
          <p:nvPr/>
        </p:nvSpPr>
        <p:spPr>
          <a:xfrm>
            <a:off x="5750357" y="1554480"/>
            <a:ext cx="3429000" cy="1024128"/>
          </a:xfrm>
          <a:prstGeom prst="roundRect">
            <a:avLst>
              <a:gd name="adj" fmla="val 8929"/>
            </a:avLst>
          </a:prstGeom>
          <a:solidFill>
            <a:srgbClr val="5B3FE0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841797" y="1627632"/>
            <a:ext cx="3246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太赫兹  0.1 – 10 THz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FFFFFF"/>
                </a:solidFill>
              </a:rPr>
              <a:t>Terahertz</a:t>
            </a:r>
            <a:endParaRPr lang="en-US" sz="1400" dirty="0"/>
          </a:p>
        </p:txBody>
      </p:sp>
      <p:sp>
        <p:nvSpPr>
          <p:cNvPr id="10" name="红外与可见光"/>
          <p:cNvSpPr/>
          <p:nvPr/>
        </p:nvSpPr>
        <p:spPr>
          <a:xfrm>
            <a:off x="9311335" y="1554480"/>
            <a:ext cx="2331720" cy="1024128"/>
          </a:xfrm>
          <a:prstGeom prst="roundRect">
            <a:avLst>
              <a:gd name="adj" fmla="val 8929"/>
            </a:avLst>
          </a:prstGeom>
          <a:solidFill>
            <a:srgbClr val="E8B1D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02775" y="1627632"/>
            <a:ext cx="2148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1E1856"/>
                </a:solidFill>
              </a:rPr>
              <a:t>红外与可见光  &gt; 10 THz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1E1856"/>
                </a:solidFill>
              </a:rPr>
              <a:t>Infrared &amp; optical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10728655" cy="0"/>
          </a:xfrm>
          <a:prstGeom prst="line">
            <a:avLst/>
          </a:prstGeom>
          <a:noFill/>
          <a:ln w="25400">
            <a:solidFill>
              <a:srgbClr val="9785EC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28529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100" dirty="0">
                <a:solidFill>
                  <a:srgbClr val="656B80"/>
                </a:solidFill>
              </a:rPr>
              <a:t>频率升高 → 带宽更大、波长更短、天线更小   Higher frequency → wider bandwidth, shorter wavelength, smaller antennas</a:t>
            </a:r>
            <a:endParaRPr lang="en-US" sz="1100" dirty="0"/>
          </a:p>
        </p:txBody>
      </p:sp>
      <p:sp>
        <p:nvSpPr>
          <p:cNvPr id="14" name="优势 Advantages"/>
          <p:cNvSpPr/>
          <p:nvPr/>
        </p:nvSpPr>
        <p:spPr>
          <a:xfrm>
            <a:off x="548640" y="3291840"/>
            <a:ext cx="5410048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5" name="优势 Advantages 图标底"/>
          <p:cNvSpPr/>
          <p:nvPr/>
        </p:nvSpPr>
        <p:spPr>
          <a:xfrm>
            <a:off x="777240" y="3438144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优势 Advantages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3548786"/>
            <a:ext cx="281635" cy="28163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3419856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</a:rPr>
              <a:t>优势 Advantages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0050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超大带宽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783080" y="4005072"/>
            <a:ext cx="394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数十GHz连续带宽，支撑100 Gbit/s以上速率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Tens of GHz of bandwidth for 100+ Gbit/s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681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窄波束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783080" y="4681728"/>
            <a:ext cx="394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高增益、强方向性，抗干扰、更安全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High-gain pencil beams: low interference, secure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3583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通感成像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783080" y="5358384"/>
            <a:ext cx="394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厘米至毫米级分辨率的感知与成像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Centimeter- to millimeter-level sensing and imaging</a:t>
            </a:r>
            <a:endParaRPr lang="en-US" sz="1150" dirty="0"/>
          </a:p>
        </p:txBody>
      </p:sp>
      <p:sp>
        <p:nvSpPr>
          <p:cNvPr id="24" name="挑战 Challenges"/>
          <p:cNvSpPr/>
          <p:nvPr/>
        </p:nvSpPr>
        <p:spPr>
          <a:xfrm>
            <a:off x="6233008" y="3291840"/>
            <a:ext cx="5410048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25" name="挑战 Challenges 图标底"/>
          <p:cNvSpPr/>
          <p:nvPr/>
        </p:nvSpPr>
        <p:spPr>
          <a:xfrm>
            <a:off x="6461608" y="3438144"/>
            <a:ext cx="502920" cy="502920"/>
          </a:xfrm>
          <a:prstGeom prst="ellipse">
            <a:avLst/>
          </a:prstGeom>
          <a:solidFill>
            <a:srgbClr val="D63F86"/>
          </a:solidFill>
          <a:ln/>
        </p:spPr>
      </p:sp>
      <p:pic>
        <p:nvPicPr>
          <p:cNvPr id="26" name="挑战 Challenges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548786"/>
            <a:ext cx="281635" cy="28163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01688" y="3419856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</a:rPr>
              <a:t>挑战 Challenges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6507328" y="400507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传播损耗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467448" y="4005072"/>
            <a:ext cx="394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自由空间损耗随f²增长：300 GHz、10 m约102 dB，另有分子吸收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FSPL grows as f²: ≈102 dB at 300 GHz over 10 m, plus absorption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6507328" y="4681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器件瓶颈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467448" y="4681728"/>
            <a:ext cx="394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发射功率低、噪声系数高、成本高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Low output power, high noise figure, high cost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6507328" y="535838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tx2"/>
                </a:solidFill>
              </a:rPr>
              <a:t>波束对准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467448" y="5358384"/>
            <a:ext cx="3947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50" dirty="0">
                <a:solidFill>
                  <a:schemeClr val="tx1"/>
                </a:solidFill>
              </a:rPr>
              <a:t>窄波束易被遮挡，需快速波束跟踪</a:t>
            </a:r>
            <a:endParaRPr lang="en-US" sz="1150" dirty="0"/>
          </a:p>
          <a:p>
            <a:pPr indent="0" marL="0">
              <a:buNone/>
            </a:pPr>
            <a:r>
              <a:rPr lang="zh-CN" altLang="en-US" sz="950" dirty="0">
                <a:solidFill>
                  <a:srgbClr val="656B80"/>
                </a:solidFill>
              </a:rPr>
              <a:t>Pencil beams are blockage-prone and need fast tracking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614476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实验进展：2026年日本研究团队在560 GHz实现112 Gbit/s无线传输   Lab progress: 112 Gbit/s at 560 GHz (2026)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课程思政：中国移动通信的逆袭之路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China's Mobile Communications: From Follower to Leader</a:t>
            </a:r>
            <a:endParaRPr lang="zh-CN" sz="1500" dirty="0"/>
          </a:p>
        </p:txBody>
      </p:sp>
      <p:sp>
        <p:nvSpPr>
          <p:cNvPr id="4" name="台阶 1G"/>
          <p:cNvSpPr/>
          <p:nvPr/>
        </p:nvSpPr>
        <p:spPr>
          <a:xfrm>
            <a:off x="548640" y="4956048"/>
            <a:ext cx="1737360" cy="1033272"/>
          </a:xfrm>
          <a:prstGeom prst="rect">
            <a:avLst/>
          </a:prstGeom>
          <a:solidFill>
            <a:srgbClr val="C4BA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474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E1856"/>
                </a:solidFill>
              </a:rPr>
              <a:t>1G 空白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000" dirty="0">
                <a:solidFill>
                  <a:srgbClr val="1E1856"/>
                </a:solidFill>
              </a:rPr>
              <a:t>Blank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77056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1987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引进TACS模拟系统，核心技术与设备依赖进口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Imported analog TACS systems</a:t>
            </a:r>
            <a:endParaRPr lang="en-US" sz="1200" dirty="0"/>
          </a:p>
        </p:txBody>
      </p:sp>
      <p:sp>
        <p:nvSpPr>
          <p:cNvPr id="7" name="台阶 2G"/>
          <p:cNvSpPr/>
          <p:nvPr/>
        </p:nvSpPr>
        <p:spPr>
          <a:xfrm>
            <a:off x="2420051" y="4498848"/>
            <a:ext cx="1737360" cy="1490472"/>
          </a:xfrm>
          <a:prstGeom prst="rect">
            <a:avLst/>
          </a:prstGeom>
          <a:solidFill>
            <a:srgbClr val="AA9B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420051" y="45902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E1856"/>
                </a:solidFill>
              </a:rPr>
              <a:t>2G 跟随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000" dirty="0">
                <a:solidFill>
                  <a:srgbClr val="1E1856"/>
                </a:solidFill>
              </a:rPr>
              <a:t>Follow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438339" y="3419856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1993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嘉兴开通首个GSM数字移动电话网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First GSM network opened in Jiaxing</a:t>
            </a:r>
            <a:endParaRPr lang="en-US" sz="1200" dirty="0"/>
          </a:p>
        </p:txBody>
      </p:sp>
      <p:sp>
        <p:nvSpPr>
          <p:cNvPr id="10" name="台阶 3G"/>
          <p:cNvSpPr/>
          <p:nvPr/>
        </p:nvSpPr>
        <p:spPr>
          <a:xfrm>
            <a:off x="4291462" y="4041648"/>
            <a:ext cx="1737360" cy="1947672"/>
          </a:xfrm>
          <a:prstGeom prst="rect">
            <a:avLst/>
          </a:prstGeom>
          <a:solidFill>
            <a:srgbClr val="907D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1462" y="41330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3G 突破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Breakthrough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09750" y="2962656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2000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TD-SCDMA成为ITU三大3G国际标准之一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TD-SCDMA: one of three ITU 3G standards</a:t>
            </a:r>
            <a:endParaRPr lang="en-US" sz="1200" dirty="0"/>
          </a:p>
        </p:txBody>
      </p:sp>
      <p:sp>
        <p:nvSpPr>
          <p:cNvPr id="13" name="台阶 4G"/>
          <p:cNvSpPr/>
          <p:nvPr/>
        </p:nvSpPr>
        <p:spPr>
          <a:xfrm>
            <a:off x="6162873" y="3584448"/>
            <a:ext cx="1737360" cy="2404872"/>
          </a:xfrm>
          <a:prstGeom prst="rect">
            <a:avLst/>
          </a:prstGeom>
          <a:solidFill>
            <a:srgbClr val="755E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62873" y="3675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4G 同步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In step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81161" y="2505456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2012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TD-LTE-Advanced成为4G国际标准之一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TD-LTE-Advanced: an IMT-Advanced standard</a:t>
            </a:r>
            <a:endParaRPr lang="en-US" sz="1200" dirty="0"/>
          </a:p>
        </p:txBody>
      </p:sp>
      <p:sp>
        <p:nvSpPr>
          <p:cNvPr id="16" name="台阶 5G"/>
          <p:cNvSpPr/>
          <p:nvPr/>
        </p:nvSpPr>
        <p:spPr>
          <a:xfrm>
            <a:off x="8034284" y="3127248"/>
            <a:ext cx="1737360" cy="2862072"/>
          </a:xfrm>
          <a:prstGeom prst="rect">
            <a:avLst/>
          </a:prstGeom>
          <a:solidFill>
            <a:srgbClr val="5B3F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34284" y="32186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5G 引领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Lead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52572" y="2048256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200" b="1" dirty="0">
                <a:solidFill>
                  <a:schemeClr val="accent1"/>
                </a:solidFill>
              </a:rPr>
              <a:t>2019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发放5G商用牌照，建成全球最大5G网络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Licensed in June 2019; world's largest 5G network</a:t>
            </a:r>
            <a:endParaRPr lang="en-US" sz="1200" dirty="0"/>
          </a:p>
        </p:txBody>
      </p:sp>
      <p:sp>
        <p:nvSpPr>
          <p:cNvPr id="19" name="台阶 6G"/>
          <p:cNvSpPr/>
          <p:nvPr/>
        </p:nvSpPr>
        <p:spPr>
          <a:xfrm>
            <a:off x="9905695" y="2670048"/>
            <a:ext cx="1737360" cy="3319272"/>
          </a:xfrm>
          <a:prstGeom prst="rect">
            <a:avLst/>
          </a:prstGeom>
          <a:solidFill>
            <a:srgbClr val="E896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05695" y="27614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</a:rPr>
              <a:t>6G 前瞻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000" dirty="0">
                <a:solidFill>
                  <a:srgbClr val="FFFFFF"/>
                </a:solidFill>
              </a:rPr>
              <a:t>Look ahead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923983" y="1591056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B7700F"/>
                </a:solidFill>
              </a:rPr>
              <a:t>2019–</a:t>
            </a:r>
            <a:endParaRPr lang="en-US" sz="12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tx1"/>
                </a:solidFill>
              </a:rPr>
              <a:t>成立IMT-2030(6G)推进组，完成第一阶段6G技术试验</a:t>
            </a:r>
            <a:endParaRPr lang="en-US" sz="1200" dirty="0"/>
          </a:p>
          <a:p>
            <a:pPr indent="0" marL="0">
              <a:buNone/>
            </a:pPr>
            <a:r>
              <a:rPr lang="zh-CN" altLang="en-US" sz="900" dirty="0">
                <a:solidFill>
                  <a:srgbClr val="656B80"/>
                </a:solidFill>
              </a:rPr>
              <a:t>6G Promotion Group; phase-1 6G trials completed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数说中国5G：从“跟跑”到“领跑”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China's 5G in Numbers: From Follower to Front-Runner</a:t>
            </a:r>
            <a:endParaRPr lang="zh-CN" sz="1500" dirty="0"/>
          </a:p>
        </p:txBody>
      </p:sp>
      <p:sp>
        <p:nvSpPr>
          <p:cNvPr id="4" name="数据 5G基站"/>
          <p:cNvSpPr/>
          <p:nvPr/>
        </p:nvSpPr>
        <p:spPr>
          <a:xfrm>
            <a:off x="548640" y="1572768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accent1"/>
                </a:solidFill>
              </a:rPr>
              <a:t>525.4</a:t>
            </a:r>
            <a:r>
              <a:rPr lang="zh-CN" altLang="en-US" sz="1600" b="1" dirty="0">
                <a:solidFill>
                  <a:schemeClr val="accent1"/>
                </a:solidFill>
              </a:rPr>
              <a:t> 万座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2363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</a:rPr>
              <a:t>5G基站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5G base stations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2026年9月末 · End of Sep 2026</a:t>
            </a:r>
            <a:endParaRPr lang="en-US" sz="1300" dirty="0"/>
          </a:p>
        </p:txBody>
      </p:sp>
      <p:sp>
        <p:nvSpPr>
          <p:cNvPr id="7" name="数据 5G移动电话用户"/>
          <p:cNvSpPr/>
          <p:nvPr/>
        </p:nvSpPr>
        <p:spPr>
          <a:xfrm>
            <a:off x="3379394" y="1572768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07994" y="173736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accent1"/>
                </a:solidFill>
              </a:rPr>
              <a:t>13.11</a:t>
            </a:r>
            <a:r>
              <a:rPr lang="zh-CN" altLang="en-US" sz="1600" b="1" dirty="0">
                <a:solidFill>
                  <a:schemeClr val="accent1"/>
                </a:solidFill>
              </a:rPr>
              <a:t> 亿户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07994" y="2606040"/>
            <a:ext cx="22363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</a:rPr>
              <a:t>5G移动电话用户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5G mobile subscribers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2026年8月末，占比70.9%</a:t>
            </a:r>
            <a:endParaRPr lang="en-US" sz="1300" dirty="0"/>
          </a:p>
        </p:txBody>
      </p:sp>
      <p:sp>
        <p:nvSpPr>
          <p:cNvPr id="10" name="数据 5G标准必要专利声明量占比"/>
          <p:cNvSpPr/>
          <p:nvPr/>
        </p:nvSpPr>
        <p:spPr>
          <a:xfrm>
            <a:off x="6210148" y="1572768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8748" y="173736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accent1"/>
                </a:solidFill>
              </a:rPr>
              <a:t>42</a:t>
            </a:r>
            <a:r>
              <a:rPr lang="zh-CN" altLang="en-US" sz="1600" b="1" dirty="0">
                <a:solidFill>
                  <a:schemeClr val="accent1"/>
                </a:solidFill>
              </a:rPr>
              <a:t> 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606040"/>
            <a:ext cx="22363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</a:rPr>
              <a:t>5G标准必要专利声明量占比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Global share of declared 5G SEPs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2025年 · 2025</a:t>
            </a:r>
            <a:endParaRPr lang="en-US" sz="1300" dirty="0"/>
          </a:p>
        </p:txBody>
      </p:sp>
      <p:sp>
        <p:nvSpPr>
          <p:cNvPr id="13" name="数据 实现5G-A商用"/>
          <p:cNvSpPr/>
          <p:nvPr/>
        </p:nvSpPr>
        <p:spPr>
          <a:xfrm>
            <a:off x="9040901" y="1572768"/>
            <a:ext cx="2602154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173736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000" b="1" dirty="0">
                <a:solidFill>
                  <a:schemeClr val="accent1"/>
                </a:solidFill>
              </a:rPr>
              <a:t>330+</a:t>
            </a:r>
            <a:r>
              <a:rPr lang="zh-CN" altLang="en-US" sz="1600" b="1" dirty="0">
                <a:solidFill>
                  <a:schemeClr val="accent1"/>
                </a:solidFill>
              </a:rPr>
              <a:t> 城市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69501" y="2606040"/>
            <a:ext cx="22363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chemeClr val="tx1"/>
                </a:solidFill>
              </a:rPr>
              <a:t>实现5G-A商用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Cities with 5G-A service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GSMA, 2026</a:t>
            </a:r>
            <a:endParaRPr lang="en-US" sz="1300" dirty="0"/>
          </a:p>
        </p:txBody>
      </p:sp>
      <p:sp>
        <p:nvSpPr>
          <p:cNvPr id="16" name="启示"/>
          <p:cNvSpPr/>
          <p:nvPr/>
        </p:nvSpPr>
        <p:spPr>
          <a:xfrm>
            <a:off x="548640" y="39776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1EFFF"/>
          </a:solidFill>
          <a:ln/>
        </p:spPr>
      </p:sp>
      <p:sp>
        <p:nvSpPr>
          <p:cNvPr id="17" name="启示 图标底"/>
          <p:cNvSpPr/>
          <p:nvPr/>
        </p:nvSpPr>
        <p:spPr>
          <a:xfrm>
            <a:off x="822960" y="4443984"/>
            <a:ext cx="658368" cy="658368"/>
          </a:xfrm>
          <a:prstGeom prst="ellipse">
            <a:avLst/>
          </a:prstGeom>
          <a:solidFill>
            <a:srgbClr val="D63F86"/>
          </a:solidFill>
          <a:ln/>
        </p:spPr>
      </p:sp>
      <p:pic>
        <p:nvPicPr>
          <p:cNvPr id="18" name="启示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4588825"/>
            <a:ext cx="368686" cy="36868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91640" y="4224528"/>
            <a:ext cx="9722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chemeClr val="tx2"/>
                </a:solidFill>
              </a:rPr>
              <a:t>启示：关键核心技术是要不来、买不来、讨不来的。</a:t>
            </a:r>
            <a:endParaRPr lang="en-US" sz="1800" dirty="0"/>
          </a:p>
          <a:p>
            <a:pPr indent="0" marL="0">
              <a:buNone/>
            </a:pPr>
            <a:r>
              <a:rPr lang="zh-CN" altLang="en-US" sz="1150" i="1" dirty="0">
                <a:solidFill>
                  <a:srgbClr val="656B80"/>
                </a:solidFill>
              </a:rPr>
              <a:t>Insight: core technologies cannot be obtained by asking, buying or begging; they must be developed on our own.</a:t>
            </a:r>
            <a:endParaRPr lang="en-US" sz="1800" dirty="0"/>
          </a:p>
        </p:txBody>
      </p:sp>
      <p:sp>
        <p:nvSpPr>
          <p:cNvPr id="20" name="来源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56B80"/>
                </a:solidFill>
              </a:rPr>
              <a:t>来源 Source：工业和信息化部（2026年1—8月通信业经济运行情况；2025年通信业统计公报）；国新办新闻发布会（2026-10-20）；GSMA《2026中国移动经济发展》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本章小结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Chapter Summary</a:t>
            </a:r>
            <a:endParaRPr lang="zh-CN" sz="1500" dirty="0"/>
          </a:p>
        </p:txBody>
      </p:sp>
      <p:sp>
        <p:nvSpPr>
          <p:cNvPr id="4" name="小结 演进规律"/>
          <p:cNvSpPr/>
          <p:nvPr/>
        </p:nvSpPr>
        <p:spPr>
          <a:xfrm>
            <a:off x="548640" y="1572768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2880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演进规律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Evolution pattern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CN" altLang="en-US" sz="1300" dirty="0">
                <a:solidFill>
                  <a:schemeClr val="tx1"/>
                </a:solidFill>
              </a:rPr>
              <a:t>约十年一代：空口、频谱与业务协同演进；峰值速率指标3G→6G提升约十万倍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A generation per decade; air interface, spectrum and services co-evolve</a:t>
            </a:r>
            <a:endParaRPr lang="en-US" sz="1300" dirty="0"/>
          </a:p>
        </p:txBody>
      </p:sp>
      <p:sp>
        <p:nvSpPr>
          <p:cNvPr id="8" name="小结 5G与5G-A"/>
          <p:cNvSpPr/>
          <p:nvPr/>
        </p:nvSpPr>
        <p:spPr>
          <a:xfrm>
            <a:off x="6233008" y="1572768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7328" y="18013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2"/>
                </a:solidFill>
              </a:rPr>
              <a:t>02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558888" y="182880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5G与5G-A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5G and 5G-Advanced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265176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CN" altLang="en-US" sz="1300" dirty="0">
                <a:solidFill>
                  <a:schemeClr val="tx1"/>
                </a:solidFill>
              </a:rPr>
              <a:t>三大场景、八大能力；Rel-18起的5G-A是通往6G的桥梁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Three scenarios, eight capabilities; 5G-A (from Rel-18) bridges to 6G</a:t>
            </a:r>
            <a:endParaRPr lang="en-US" sz="1300" dirty="0"/>
          </a:p>
        </p:txBody>
      </p:sp>
      <p:sp>
        <p:nvSpPr>
          <p:cNvPr id="12" name="小结 6G愿景与标准"/>
          <p:cNvSpPr/>
          <p:nvPr/>
        </p:nvSpPr>
        <p:spPr>
          <a:xfrm>
            <a:off x="548640" y="3950208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17880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1"/>
                </a:solidFill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20624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6G愿景与标准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6G vision and standards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CN" altLang="en-US" sz="1300" dirty="0">
                <a:solidFill>
                  <a:schemeClr val="tx1"/>
                </a:solidFill>
              </a:rPr>
              <a:t>六大场景、15项能力；Rel-21制定首个6G标准，2030年前后商用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Six scenarios, 15 capabilities; first 6G specs in Rel-21, launch around 2030</a:t>
            </a:r>
            <a:endParaRPr lang="en-US" sz="1300" dirty="0"/>
          </a:p>
        </p:txBody>
      </p:sp>
      <p:sp>
        <p:nvSpPr>
          <p:cNvPr id="16" name="小结 前沿技术"/>
          <p:cNvSpPr/>
          <p:nvPr/>
        </p:nvSpPr>
        <p:spPr>
          <a:xfrm>
            <a:off x="6233008" y="3950208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07328" y="417880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600" b="1" dirty="0">
                <a:solidFill>
                  <a:schemeClr val="accent2"/>
                </a:solidFill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558888" y="420624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chemeClr val="tx2"/>
                </a:solidFill>
              </a:rPr>
              <a:t>前沿技术</a:t>
            </a:r>
            <a:endParaRPr lang="en-US" sz="1700" dirty="0"/>
          </a:p>
          <a:p>
            <a:pPr indent="0" marL="0">
              <a:buNone/>
            </a:pPr>
            <a:r>
              <a:rPr lang="zh-CN" altLang="en-US" sz="1100" dirty="0">
                <a:solidFill>
                  <a:schemeClr val="accent1"/>
                </a:solidFill>
              </a:rPr>
              <a:t>Frontier technologies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07328" y="502920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zh-CN" altLang="en-US" sz="1300" dirty="0">
                <a:solidFill>
                  <a:schemeClr val="tx1"/>
                </a:solidFill>
              </a:rPr>
              <a:t>空天地一体化、新型收发机、太赫兹通信将在第2–4章深入学习</a:t>
            </a:r>
            <a:endParaRPr lang="en-US" sz="130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SAGIN, novel transceivers and THz are covered in Chapters 2–4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课后网络自学与思考题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After-Class Online Self-Study and Questions</a:t>
            </a:r>
            <a:endParaRPr lang="zh-CN" sz="1500" dirty="0"/>
          </a:p>
        </p:txBody>
      </p:sp>
      <p:sp>
        <p:nvSpPr>
          <p:cNvPr id="4" name="自学资源"/>
          <p:cNvSpPr/>
          <p:nvPr/>
        </p:nvSpPr>
        <p:spPr>
          <a:xfrm>
            <a:off x="548640" y="1572768"/>
            <a:ext cx="56235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0320" dir="5400000">
              <a:srgbClr val="1A1A40">
                <a:alpha val="13000"/>
              </a:srgbClr>
            </a:outerShdw>
          </a:effectLst>
        </p:spPr>
      </p:sp>
      <p:sp>
        <p:nvSpPr>
          <p:cNvPr id="5" name="自学资源 图标底"/>
          <p:cNvSpPr/>
          <p:nvPr/>
        </p:nvSpPr>
        <p:spPr>
          <a:xfrm>
            <a:off x="777240" y="1755648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自学资源 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763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2"/>
                </a:solidFill>
              </a:rPr>
              <a:t>网络自学资源</a:t>
            </a:r>
            <a:endParaRPr lang="en-US" sz="16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Online resources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zh-CN" altLang="en-US" sz="1250" b="1" dirty="0">
                <a:solidFill>
                  <a:schemeClr val="tx1"/>
                </a:solidFill>
              </a:rPr>
              <a:t>ITU-R IMT-2030项目主页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itu.int/en/ITU-R/study-groups/rsg5/rwp5d/imt-2030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zh-CN" altLang="en-US" sz="1250" b="1" dirty="0">
                <a:solidFill>
                  <a:schemeClr val="tx1"/>
                </a:solidFill>
              </a:rPr>
              <a:t>3GPP版本与时间表 Releases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3gpp.org/specifications-technologies/releases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zh-CN" altLang="en-US" sz="1250" b="1" dirty="0">
                <a:solidFill>
                  <a:schemeClr val="tx1"/>
                </a:solidFill>
              </a:rPr>
              <a:t>3GPP Rel-21（6G）时间表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3gpp.org/news-events/3gpp-news/rel21-timeline</a:t>
            </a:r>
            <a:endParaRPr lang="en-US" sz="1250" dirty="0"/>
          </a:p>
          <a:p>
            <a:pPr marL="165100" indent="-165100">
              <a:spcAft>
                <a:spcPts val="1100"/>
              </a:spcAft>
              <a:buSzPct val="100000"/>
              <a:buChar char="•"/>
            </a:pPr>
            <a:r>
              <a:rPr lang="zh-CN" altLang="en-US" sz="1250" b="1" dirty="0">
                <a:solidFill>
                  <a:schemeClr val="tx1"/>
                </a:solidFill>
              </a:rPr>
              <a:t>IMT-2030(6G)推进组白皮书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《6G总体愿景与潜在关键技术》（2021）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zh-CN" altLang="en-US" sz="1250" b="1" dirty="0">
                <a:solidFill>
                  <a:schemeClr val="tx1"/>
                </a:solidFill>
              </a:rPr>
              <a:t>课程教材 Textbook</a:t>
            </a:r>
            <a:br/>
            <a:r>
              <a:rPr lang="zh-CN" altLang="en-US" sz="1050" dirty="0">
                <a:solidFill>
                  <a:srgbClr val="656B80"/>
                </a:solidFill>
              </a:rPr>
              <a:t>《5G-Advanced NTN空天地一体化技术》，人民邮电出版社，2025</a:t>
            </a:r>
            <a:endParaRPr lang="en-US" sz="1250" dirty="0"/>
          </a:p>
        </p:txBody>
      </p:sp>
      <p:sp>
        <p:nvSpPr>
          <p:cNvPr id="9" name="思考题"/>
          <p:cNvSpPr/>
          <p:nvPr/>
        </p:nvSpPr>
        <p:spPr>
          <a:xfrm>
            <a:off x="6446520" y="1572768"/>
            <a:ext cx="5196535" cy="4526280"/>
          </a:xfrm>
          <a:prstGeom prst="roundRect">
            <a:avLst>
              <a:gd name="adj" fmla="val 2020"/>
            </a:avLst>
          </a:prstGeom>
          <a:solidFill>
            <a:srgbClr val="F1EFFF"/>
          </a:solidFill>
          <a:ln/>
        </p:spPr>
      </p:sp>
      <p:sp>
        <p:nvSpPr>
          <p:cNvPr id="10" name="思考题 图标底"/>
          <p:cNvSpPr/>
          <p:nvPr/>
        </p:nvSpPr>
        <p:spPr>
          <a:xfrm>
            <a:off x="6675120" y="1755648"/>
            <a:ext cx="548640" cy="548640"/>
          </a:xfrm>
          <a:prstGeom prst="ellipse">
            <a:avLst/>
          </a:prstGeom>
          <a:solidFill>
            <a:srgbClr val="D63F86"/>
          </a:solidFill>
          <a:ln/>
        </p:spPr>
      </p:sp>
      <p:pic>
        <p:nvPicPr>
          <p:cNvPr id="11" name="思考题 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187634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737360"/>
            <a:ext cx="4099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chemeClr val="tx2"/>
                </a:solidFill>
              </a:rPr>
              <a:t>思考题</a:t>
            </a:r>
            <a:endParaRPr lang="en-US" sz="1600" dirty="0"/>
          </a:p>
          <a:p>
            <a:pPr indent="0" marL="0">
              <a:buNone/>
            </a:pPr>
            <a:r>
              <a:rPr lang="zh-CN" altLang="en-US" sz="1050" dirty="0">
                <a:solidFill>
                  <a:schemeClr val="accent1"/>
                </a:solidFill>
              </a:rPr>
              <a:t>Questions for discussion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2514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3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51460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b="1" dirty="0">
                <a:solidFill>
                  <a:schemeClr val="tx1"/>
                </a:solidFill>
              </a:rPr>
              <a:t>6G新增的三个场景分别需要哪些新能力支撑？</a:t>
            </a:r>
            <a:endParaRPr lang="en-US" sz="125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Which new capabilities do the three new 6G scenarios require?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3685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3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3685032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b="1" dirty="0">
                <a:solidFill>
                  <a:schemeClr val="tx1"/>
                </a:solidFill>
              </a:rPr>
              <a:t>为什么说5G-Advanced是5G走向6G的“桥梁”？请举例。</a:t>
            </a:r>
            <a:endParaRPr lang="en-US" sz="125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Why is 5G-Advanced called the bridge to 6G? Give examples.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4855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chemeClr val="accent3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7178040" y="4855464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b="1" dirty="0">
                <a:solidFill>
                  <a:schemeClr val="tx1"/>
                </a:solidFill>
              </a:rPr>
              <a:t>结合我国移动通信发展历程，谈谈标准话语权对产业的意义。</a:t>
            </a:r>
            <a:endParaRPr lang="en-US" sz="1250" dirty="0"/>
          </a:p>
          <a:p>
            <a:pPr indent="0" marL="0">
              <a:buNone/>
            </a:pPr>
            <a:r>
              <a:rPr lang="zh-CN" altLang="en-US" sz="1050" dirty="0">
                <a:solidFill>
                  <a:srgbClr val="656B80"/>
                </a:solidFill>
              </a:rPr>
              <a:t>Using China's journey, discuss why standards leadership matters.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944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chemeClr val="tx2"/>
                </a:solidFill>
              </a:rPr>
              <a:t>参考文献</a:t>
            </a:r>
            <a:endParaRPr lang="zh-CN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869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chemeClr val="accent1"/>
                </a:solidFill>
              </a:rPr>
              <a:t>References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3643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[1]  ITU-R M.2083-0. IMT Vision – Framework and overall objectives of the future development of IMT for 2020 and beyond, 2015.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[2]  ITU-R M.2160-0. Framework and overall objectives of the future development of IMT for 2030 and beyond, 2023.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[3]  3GPP. Release 21 timeline agreed at TSGs#112, Singapore, June 2026.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[4]  ITU-R WP 5D. Timeline for submission, evaluation process and consensus building for IMT-2030 RITs/SRITs, 2025.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[5]  X. You et al. Towards 6G wireless communication networks: Vision, enabling technologies, and new paradigm shifts. Sci. China Inf. Sci., 64(1): 110301, 2021.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[6]  W. Saad, M. Bennis, M. Chen. A vision of 6G wireless systems: Applications, trends, technologies, and open research problems. IEEE Network, 34(3): 134–142, 2020.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572768"/>
            <a:ext cx="5364328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[7]  I. F. Akyildiz, A. Kak, S. Nie. 6G and beyond: The future of wireless communications systems. IEEE Access, 8: 133995–134030, 2020.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[8]  M. Jing et al. Atomic superheterodyne receiver based on microwave-dressed Rydberg spectroscopy. Nature Physics, 16: 911–915, 2020.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[9]  Polarforming for wireless communications: Modeling and performance analysis. arXiv:2409.07771, 2024.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[10]  IMT-2030(6G)推进组. 6G总体愿景与潜在关键技术白皮书, 2021.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[11]  工业和信息化部. 2026年1—8月通信业经济运行情况; 国务院新闻办公室新闻发布会, 2026-10-20.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[12]  张建国等. 5G-Advanced NTN空天地一体化技术. 人民邮电出版社, 2025; 唐禹. 里德堡原子接收机的基础理论与实验. 科学出版社, 2025.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5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0574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5400" b="1" dirty="0">
                <a:solidFill>
                  <a:srgbClr val="FFFFFF"/>
                </a:solidFill>
              </a:rPr>
              <a:t>谢谢聆听！</a:t>
            </a:r>
            <a:endParaRPr lang="zh-CN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1546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dirty="0">
                <a:solidFill>
                  <a:srgbClr val="C3B6FF"/>
                </a:solidFill>
              </a:rPr>
              <a:t>Thank You</a:t>
            </a:r>
            <a:endParaRPr lang="zh-CN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</a:rPr>
              <a:t>下一章预告：第2章 空天地一体化通信系统</a:t>
            </a:r>
            <a:endParaRPr lang="zh-CN" sz="1400" dirty="0"/>
          </a:p>
          <a:p>
            <a:pPr indent="0" marL="0">
              <a:buNone/>
            </a:pPr>
            <a:r>
              <a:rPr lang="zh-CN" altLang="en-US" sz="1250" dirty="0">
                <a:solidFill>
                  <a:srgbClr val="B9BDE0"/>
                </a:solidFill>
              </a:rPr>
              <a:t>Next: Chapter 2  Space-Air-Ground Integrated Communication Systems</a:t>
            </a:r>
            <a:endParaRPr lang="zh-C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一代移动通信系统 第1章">
  <a:themeElements>
    <a:clrScheme name="新一代移动通信系统 第1章">
      <a:dk1>
        <a:srgbClr val="1F2433"/>
      </a:dk1>
      <a:lt1>
        <a:srgbClr val="FFFFFF"/>
      </a:lt1>
      <a:dk2>
        <a:srgbClr val="1E1856"/>
      </a:dk2>
      <a:lt2>
        <a:srgbClr val="F1EFFF"/>
      </a:lt2>
      <a:accent1>
        <a:srgbClr val="5B3FE0"/>
      </a:accent1>
      <a:accent2>
        <a:srgbClr val="0E8FB5"/>
      </a:accent2>
      <a:accent3>
        <a:srgbClr val="D63F86"/>
      </a:accent3>
      <a:accent4>
        <a:srgbClr val="E8962E"/>
      </a:accent4>
      <a:accent5>
        <a:srgbClr val="9FE3FF"/>
      </a:accent5>
      <a:accent6>
        <a:srgbClr val="C3B6FF"/>
      </a:accent6>
      <a:hlink>
        <a:srgbClr val="3D5AFE"/>
      </a:hlink>
      <a:folHlink>
        <a:srgbClr val="7E57C2"/>
      </a:folHlink>
    </a:clrScheme>
    <a:fontScheme name="新一代移动通信系统 第1章">
      <a:majorFont>
        <a:latin typeface="Arial"/>
        <a:ea typeface="微软雅黑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微软雅黑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信息科学与工程学院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新一代移动通信系统（双语） 第1章 概述</dc:title>
  <dc:subject>Next-Generation Mobile Communication Systems - Chapter 1 Overview</dc:subject>
  <dc:creator>张淼</dc:creator>
  <cp:lastModifiedBy>张淼</cp:lastModifiedBy>
  <cp:revision>1</cp:revision>
  <dcterms:created xsi:type="dcterms:W3CDTF">2026-10-29T11:49:27Z</dcterms:created>
  <dcterms:modified xsi:type="dcterms:W3CDTF">2026-10-29T11:49:27Z</dcterms:modified>
</cp:coreProperties>
</file>