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与目录 Opening" id="{b09a9b3f-a7aa-8731-a584-867aad8ba9ab}">
          <p14:sldIdLst>
            <p14:sldId id="256"/>
            <p14:sldId id="257"/>
          </p14:sldIdLst>
        </p14:section>
        <p14:section name="3.1 极化天线与极化赋形" id="{c4d77d87-c673-8c7d-6a6a-38f7e6b64725}">
          <p14:sldIdLst>
            <p14:sldId id="258"/>
          </p14:sldIdLst>
        </p14:section>
        <p14:section name="3.2 里德堡原子接收机" id="{987a7840-6ff1-c5c0-1f43-8d56f7de1763}">
          <p14:sldIdLst>
            <p14:sldId id="259"/>
          </p14:sldIdLst>
        </p14:section>
        <p14:section name="结束 Closing" id="{79cfc40a-9f18-2ac6-b2d4-abd997cb51ed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第3章 新型收发机技术（Novel Transceiver Technologies）。学时：6 学时。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目录与本章教学要求（依据课程教学大纲：学时、学习达成、支撑课程目标、教学方法、课外环节）。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【3.1 极化天线与极化赋形 / Polarized Antennas and Polarforming】
教学要求：掌握极化赋形与里德堡原子接收机原理；教学方法：讲授 + 项目式；课外环节：作业。
（本页为空白模板，请在此添加本小节讲授内容。）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【3.2 里德堡原子接收机 / Rydberg Atomic Receivers】
教学要求：掌握极化赋形与里德堡原子接收机原理；教学方法：讲授 + 项目式；课外环节：作业。
（本页为空白模板，请在此添加本小节讲授内容。）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s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Title-and-Content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Title-Only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封面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96012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D9DCF2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D9DCF2"/>
                </a:solidFill>
              </a:rPr>
              <a:t>课程名称 Course title</a:t>
            </a:r>
            <a:endParaRPr lang="zh-CN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572768"/>
            <a:ext cx="6858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600" b="1" spc="200" kern="0" dirty="0">
                <a:solidFill>
                  <a:srgbClr val="7CF2DC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600" b="1" spc="200" kern="0" dirty="0">
                <a:solidFill>
                  <a:srgbClr val="7CF2DC"/>
                </a:solidFill>
              </a:rPr>
              <a:t>第 N 章 · CHAPTER N</a:t>
            </a:r>
            <a:endParaRPr lang="zh-CN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01168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章标题</a:t>
            </a:r>
            <a:endParaRPr lang="zh-CN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15468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400" dirty="0">
                <a:solidFill>
                  <a:srgbClr val="FFD36B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400" dirty="0">
                <a:solidFill>
                  <a:srgbClr val="FFD36B"/>
                </a:solidFill>
              </a:rPr>
              <a:t>Chapter title in English</a:t>
            </a:r>
            <a:endParaRPr lang="zh-CN" sz="2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4224528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A9CFC9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A9CFC9"/>
                </a:solidFill>
              </a:rPr>
              <a:t>本章小节 Sections</a:t>
            </a:r>
            <a:endParaRPr lang="zh-CN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10058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200" dirty="0">
                <a:solidFill>
                  <a:srgbClr val="A9CFC9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200" dirty="0">
                <a:solidFill>
                  <a:srgbClr val="A9CFC9"/>
                </a:solidFill>
              </a:rPr>
              <a:t>学院 · 主讲教师 School · Instructor</a:t>
            </a:r>
            <a:endParaRPr lang="zh-CN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目录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5486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目录</a:t>
            </a:r>
            <a:endParaRPr lang="zh-C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61872"/>
            <a:ext cx="54864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spc="600" kern="0" dirty="0">
                <a:solidFill>
                  <a:srgbClr val="7CF2DC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spc="600" kern="0" dirty="0">
                <a:solidFill>
                  <a:srgbClr val="7CF2DC"/>
                </a:solidFill>
              </a:rPr>
              <a:t>CONTENTS</a:t>
            </a:r>
            <a:endParaRPr lang="zh-CN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节标题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143000"/>
            <a:ext cx="64008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1000" b="1" dirty="0">
                <a:solidFill>
                  <a:srgbClr val="7CF2DC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1000" b="1" dirty="0">
                <a:solidFill>
                  <a:srgbClr val="7CF2DC"/>
                </a:solidFill>
              </a:rPr>
              <a:t>N.N</a:t>
            </a:r>
            <a:endParaRPr lang="zh-CN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8346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节标题</a:t>
            </a:r>
            <a:endParaRPr lang="zh-CN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749040"/>
            <a:ext cx="86868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000" dirty="0">
                <a:solidFill>
                  <a:srgbClr val="FFD36B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000" dirty="0">
                <a:solidFill>
                  <a:srgbClr val="FFD36B"/>
                </a:solidFill>
              </a:rPr>
              <a:t>Section title in English</a:t>
            </a:r>
            <a:endParaRPr lang="zh-CN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470916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300" dirty="0">
                <a:solidFill>
                  <a:srgbClr val="A9CFC9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300" dirty="0">
                <a:solidFill>
                  <a:srgbClr val="A9CFC9"/>
                </a:solidFill>
              </a:rPr>
              <a:t>本节要点 Key topics</a:t>
            </a:r>
            <a:endParaRPr lang="zh-CN" sz="13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标题和内容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单击此处添加标题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Click to add the English title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600"/>
              </a:spcAft>
              <a:buSzPct val="100000"/>
              <a:buChar char="•"/>
              <a:defRPr lang="zh-CN" altLang="en-US" sz="1800" dirty="0">
                <a:solidFill>
                  <a:schemeClr val="tx1"/>
                </a:solidFill>
              </a:defRPr>
            </a:lvl1pPr>
          </a:lstStyle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zh-CN" altLang="en-US" sz="1800" dirty="0">
                <a:solidFill>
                  <a:schemeClr val="tx1"/>
                </a:solidFill>
              </a:rPr>
              <a:t>单击此处添加内容 / Click to add content</a:t>
            </a:r>
            <a:endParaRPr lang="zh-CN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28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5E6E6C"/>
                </a:solidFill>
              </a:rPr>
              <a:t>新一代移动通信系统（双语）｜第3章 新型收发机技术  ·  Ch.3 Novel Transceivers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E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仅标题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单击此处添加标题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Click to add the English title</a:t>
            </a:r>
            <a:endParaRPr lang="zh-CN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28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5E6E6C"/>
                </a:solidFill>
              </a:rPr>
              <a:t>新一代移动通信系统（双语）｜第3章 新型收发机技术  ·  Ch.3 Novel Transceivers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E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结束页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05740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谢谢聆听</a:t>
            </a:r>
            <a:endParaRPr lang="zh-CN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154680"/>
            <a:ext cx="7498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600" dirty="0">
                <a:solidFill>
                  <a:srgbClr val="FFD36B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600" dirty="0">
                <a:solidFill>
                  <a:srgbClr val="FFD36B"/>
                </a:solidFill>
              </a:rPr>
              <a:t>Thank You</a:t>
            </a:r>
            <a:endParaRPr lang="zh-CN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16052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A9CFC9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A9CFC9"/>
                </a:solidFill>
              </a:rPr>
              <a:t>下一章预告 / Next chapter</a:t>
            </a:r>
            <a:endParaRPr lang="zh-CN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E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D9DCF2"/>
                </a:solidFill>
              </a:rPr>
              <a:t>新一代移动通信系统（双语）   |   Next-Generation Mobile Communication Systems</a:t>
            </a:r>
            <a:endParaRPr lang="zh-CN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572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spc="200" kern="0" dirty="0">
                <a:solidFill>
                  <a:srgbClr val="7CF2DC"/>
                </a:solidFill>
              </a:rPr>
              <a:t>第 3 章   ·   CHAPTER 03</a:t>
            </a:r>
            <a:endParaRPr lang="zh-CN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0116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新型收发机技术</a:t>
            </a:r>
            <a:endParaRPr lang="zh-CN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154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FFD36B"/>
                </a:solidFill>
              </a:rPr>
              <a:t>Novel Transceiver Technologies</a:t>
            </a:r>
            <a:endParaRPr lang="zh-CN" sz="2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42245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A9CFC9"/>
                </a:solidFill>
              </a:rPr>
              <a:t>3.1 极化天线与极化赋形     3.2 里德堡原子接收机</a:t>
            </a:r>
            <a:endParaRPr lang="zh-CN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A9CFC9"/>
                </a:solidFill>
              </a:rPr>
              <a:t>信息科学与工程学院  School of Information Science and Engineering     ·     主讲教师 Instructor：张淼</a:t>
            </a:r>
            <a:endParaRPr lang="zh-C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目录</a:t>
            </a:r>
            <a:endParaRPr lang="zh-C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618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spc="600" kern="0" dirty="0">
                <a:solidFill>
                  <a:srgbClr val="7CF2DC"/>
                </a:solidFill>
              </a:rPr>
              <a:t>CONTENTS</a:t>
            </a:r>
            <a:endParaRPr lang="zh-CN" sz="1500" dirty="0"/>
          </a:p>
        </p:txBody>
      </p:sp>
      <p:sp>
        <p:nvSpPr>
          <p:cNvPr id="4" name="目录编号 3.1"/>
          <p:cNvSpPr txBox="1"/>
          <p:nvPr/>
        </p:nvSpPr>
        <p:spPr>
          <a:xfrm>
            <a:off x="685800" y="2331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7CF2DC"/>
                </a:solidFill>
              </a:rPr>
              <a:t>3.1</a:t>
            </a:r>
            <a:endParaRPr lang="en-US" sz="3400" dirty="0"/>
          </a:p>
        </p:txBody>
      </p:sp>
      <p:sp>
        <p:nvSpPr>
          <p:cNvPr id="5" name="目录标题 3.1"/>
          <p:cNvSpPr txBox="1"/>
          <p:nvPr/>
        </p:nvSpPr>
        <p:spPr>
          <a:xfrm>
            <a:off x="2057400" y="23134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极化天线与极化赋形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50" dirty="0">
                <a:solidFill>
                  <a:srgbClr val="A9CFC9"/>
                </a:solidFill>
              </a:rPr>
              <a:t>Polarized Antennas and Polarforming</a:t>
            </a:r>
            <a:endParaRPr lang="en-US" sz="2100" dirty="0"/>
          </a:p>
        </p:txBody>
      </p:sp>
      <p:sp>
        <p:nvSpPr>
          <p:cNvPr id="6" name="目录编号 3.2"/>
          <p:cNvSpPr txBox="1"/>
          <p:nvPr/>
        </p:nvSpPr>
        <p:spPr>
          <a:xfrm>
            <a:off x="685800" y="37033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7CF2DC"/>
                </a:solidFill>
              </a:rPr>
              <a:t>3.2</a:t>
            </a:r>
            <a:endParaRPr lang="en-US" sz="3400" dirty="0"/>
          </a:p>
        </p:txBody>
      </p:sp>
      <p:sp>
        <p:nvSpPr>
          <p:cNvPr id="7" name="目录标题 3.2"/>
          <p:cNvSpPr txBox="1"/>
          <p:nvPr/>
        </p:nvSpPr>
        <p:spPr>
          <a:xfrm>
            <a:off x="2057400" y="36850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里德堡原子接收机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50" dirty="0">
                <a:solidFill>
                  <a:srgbClr val="A9CFC9"/>
                </a:solidFill>
              </a:rPr>
              <a:t>Rydberg Atomic Receivers</a:t>
            </a:r>
            <a:endParaRPr lang="en-US" sz="2100" dirty="0"/>
          </a:p>
        </p:txBody>
      </p:sp>
      <p:sp>
        <p:nvSpPr>
          <p:cNvPr id="8" name="教学要求面板"/>
          <p:cNvSpPr/>
          <p:nvPr/>
        </p:nvSpPr>
        <p:spPr>
          <a:xfrm>
            <a:off x="7269480" y="1417320"/>
            <a:ext cx="4373575" cy="4718304"/>
          </a:xfrm>
          <a:prstGeom prst="roundRect">
            <a:avLst>
              <a:gd name="adj" fmla="val 2509"/>
            </a:avLst>
          </a:prstGeom>
          <a:solidFill>
            <a:srgbClr val="021C1C">
              <a:alpha val="84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面板标题"/>
          <p:cNvSpPr txBox="1"/>
          <p:nvPr/>
        </p:nvSpPr>
        <p:spPr>
          <a:xfrm>
            <a:off x="7525512" y="1563624"/>
            <a:ext cx="39163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本章教学要求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A9CFC9"/>
                </a:solidFill>
              </a:rPr>
              <a:t>Teaching requirements (from the syllabus)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25512" y="214884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7CF2DC"/>
                </a:solidFill>
              </a:rPr>
              <a:t>学时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A9CFC9"/>
                </a:solidFill>
              </a:rPr>
              <a:t>Hours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750808" y="2148840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6 学时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A9CFC9"/>
                </a:solidFill>
              </a:rPr>
              <a:t>6 class hours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525512" y="280720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7CF2DC"/>
                </a:solidFill>
              </a:rPr>
              <a:t>学习达成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A9CFC9"/>
                </a:solidFill>
              </a:rPr>
              <a:t>Outcome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750808" y="2807208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掌握极化赋形与里德堡原子接收机原理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A9CFC9"/>
                </a:solidFill>
              </a:rPr>
              <a:t>Master polarforming and Rydberg atomic receivers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25512" y="346557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7CF2DC"/>
                </a:solidFill>
              </a:rPr>
              <a:t>支撑课程目标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A9CFC9"/>
                </a:solidFill>
              </a:rPr>
              <a:t>Objectives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750808" y="3465576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目标2、目标3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A9CFC9"/>
                </a:solidFill>
              </a:rPr>
              <a:t>Course Objectives 2 &amp; 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525512" y="412394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7CF2DC"/>
                </a:solidFill>
              </a:rPr>
              <a:t>教学方法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A9CFC9"/>
                </a:solidFill>
              </a:rPr>
              <a:t>Methods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750808" y="4123944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讲授 + 项目式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A9CFC9"/>
                </a:solidFill>
              </a:rPr>
              <a:t>Lecture + project-based learning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478231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7CF2DC"/>
                </a:solidFill>
              </a:rPr>
              <a:t>课外环节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A9CFC9"/>
                </a:solidFill>
              </a:rPr>
              <a:t>After class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750808" y="4782312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作业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A9CFC9"/>
                </a:solidFill>
              </a:rPr>
              <a:t>Homework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25512" y="544068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7CF2DC"/>
                </a:solidFill>
              </a:rPr>
              <a:t>配套实验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A9CFC9"/>
                </a:solidFill>
              </a:rPr>
              <a:t>Lab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50808" y="5440680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实验二：新型收发机仿真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A9CFC9"/>
                </a:solidFill>
              </a:rPr>
              <a:t>Lab 2 (4 h, verification): transceiver simulation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0B7C6C"/>
                </a:solidFill>
              </a:rPr>
              <a:t>3.1  </a:t>
            </a:r>
            <a:r>
              <a:rPr lang="zh-CN" altLang="en-US" sz="3000" b="1" dirty="0">
                <a:solidFill>
                  <a:schemeClr val="tx2"/>
                </a:solidFill>
              </a:rPr>
              <a:t>极化天线与极化赋形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Polarized Antennas and Polarforming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E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0B7C6C"/>
                </a:solidFill>
              </a:rPr>
              <a:t>3.2  </a:t>
            </a:r>
            <a:r>
              <a:rPr lang="zh-CN" altLang="en-US" sz="3000" b="1" dirty="0">
                <a:solidFill>
                  <a:schemeClr val="tx2"/>
                </a:solidFill>
              </a:rPr>
              <a:t>里德堡原子接收机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Rydberg Atomic Receivers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E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057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谢谢聆听！</a:t>
            </a:r>
            <a:endParaRPr lang="zh-CN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1546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dirty="0">
                <a:solidFill>
                  <a:srgbClr val="FFD36B"/>
                </a:solidFill>
              </a:rPr>
              <a:t>Thank You</a:t>
            </a:r>
            <a:endParaRPr lang="zh-CN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1605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下一章预告：第4章 太赫兹通信</a:t>
            </a:r>
            <a:endParaRPr lang="zh-CN" sz="1400" dirty="0"/>
          </a:p>
          <a:p>
            <a:pPr indent="0" marL="0">
              <a:buNone/>
            </a:pPr>
            <a:r>
              <a:rPr lang="zh-CN" altLang="en-US" sz="1250" dirty="0">
                <a:solidFill>
                  <a:srgbClr val="A9CFC9"/>
                </a:solidFill>
              </a:rPr>
              <a:t>Next: Chapter 4  Terahertz Communications</a:t>
            </a:r>
            <a:endParaRPr lang="zh-C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新一代移动通信系统 第3章">
  <a:themeElements>
    <a:clrScheme name="新一代移动通信系统 第3章">
      <a:dk1>
        <a:srgbClr val="1C2B2A"/>
      </a:dk1>
      <a:lt1>
        <a:srgbClr val="FFFFFF"/>
      </a:lt1>
      <a:dk2>
        <a:srgbClr val="08403E"/>
      </a:dk2>
      <a:lt2>
        <a:srgbClr val="E6F7F3"/>
      </a:lt2>
      <a:accent1>
        <a:srgbClr val="0B7C6C"/>
      </a:accent1>
      <a:accent2>
        <a:srgbClr val="3D6FE0"/>
      </a:accent2>
      <a:accent3>
        <a:srgbClr val="E0465E"/>
      </a:accent3>
      <a:accent4>
        <a:srgbClr val="D9961A"/>
      </a:accent4>
      <a:accent5>
        <a:srgbClr val="7CF2DC"/>
      </a:accent5>
      <a:accent6>
        <a:srgbClr val="FFD36B"/>
      </a:accent6>
      <a:hlink>
        <a:srgbClr val="0B7C6C"/>
      </a:hlink>
      <a:folHlink>
        <a:srgbClr val="5B7F7A"/>
      </a:folHlink>
    </a:clrScheme>
    <a:fontScheme name="新一代移动通信系统 第3章">
      <a:majorFont>
        <a:latin typeface="Arial"/>
        <a:ea typeface="微软雅黑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微软雅黑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信息科学与工程学院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新一代移动通信系统（双语） 第3章 新型收发机技术</dc:title>
  <dc:subject>Next-Generation Mobile Communication Systems - Chapter 3 Novel Transceiver Technologies</dc:subject>
  <dc:creator>张淼</dc:creator>
  <cp:lastModifiedBy>张淼</cp:lastModifiedBy>
  <cp:revision>1</cp:revision>
  <dcterms:created xsi:type="dcterms:W3CDTF">2026-10-29T11:49:27Z</dcterms:created>
  <dcterms:modified xsi:type="dcterms:W3CDTF">2026-10-29T11:49:27Z</dcterms:modified>
</cp:coreProperties>
</file>