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与目录 Opening" id="{27561ff8-ee89-118e-3f34-42b04781baa4}">
          <p14:sldIdLst>
            <p14:sldId id="256"/>
            <p14:sldId id="257"/>
          </p14:sldIdLst>
        </p14:section>
        <p14:section name="5.1 下一代移动通信技术的发展趋势" id="{06268568-561c-1342-033f-6974b914f3d7}">
          <p14:sldIdLst>
            <p14:sldId id="258"/>
          </p14:sldIdLst>
        </p14:section>
        <p14:section name="5.2 下一代移动通信的挑战与应对策略" id="{6f9688fa-55fd-6ffd-ef99-9b0c716d0ecb}">
          <p14:sldIdLst>
            <p14:sldId id="259"/>
          </p14:sldIdLst>
        </p14:section>
        <p14:section name="结束 Closing" id="{11bcda3b-3ae6-79b7-f383-819f9a1934dd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第5章 下一代移动通信展望（Outlook for Next-Generation Mobile Communications）。学时：4 学时。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目录与本章教学要求（依据课程教学大纲：学时、学习达成、支撑课程目标、教学方法、课外环节）。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【5.1 下一代移动通信技术的发展趋势 / Development Trends of Next-Generation Mobile Communication Technologies】
教学要求：能够预判未来移动通信挑战与应对策略；教学方法：讲授；课外环节：大作业。
（本页为空白模板，请在此添加本小节讲授内容。）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【5.2 下一代移动通信的挑战与应对策略 / Challenges and Countermeasures for Next-Generation Mobile Communications】
教学要求：能够预判未来移动通信挑战与应对策略；教学方法：讲授；课外环节：大作业。
（本页为空白模板，请在此添加本小节讲授内容。）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s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Title-and-Content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Title-Only-image-1.jpe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封面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96012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400" dirty="0">
                <a:solidFill>
                  <a:srgbClr val="D9DCF2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400" dirty="0">
                <a:solidFill>
                  <a:srgbClr val="D9DCF2"/>
                </a:solidFill>
              </a:rPr>
              <a:t>课程名称 Course title</a:t>
            </a:r>
            <a:endParaRPr lang="zh-CN" sz="1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572768"/>
            <a:ext cx="6858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600" b="1" spc="200" kern="0" dirty="0">
                <a:solidFill>
                  <a:srgbClr val="FFD58A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600" b="1" spc="200" kern="0" dirty="0">
                <a:solidFill>
                  <a:srgbClr val="FFD58A"/>
                </a:solidFill>
              </a:rPr>
              <a:t>第 N 章 · CHAPTER N</a:t>
            </a:r>
            <a:endParaRPr lang="zh-CN" sz="1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01168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章标题</a:t>
            </a:r>
            <a:endParaRPr lang="zh-CN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15468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2400" dirty="0">
                <a:solidFill>
                  <a:srgbClr val="A9C1FF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2400" dirty="0">
                <a:solidFill>
                  <a:srgbClr val="A9C1FF"/>
                </a:solidFill>
              </a:rPr>
              <a:t>Chapter title in English</a:t>
            </a:r>
            <a:endParaRPr lang="zh-CN" sz="24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4224528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400" dirty="0">
                <a:solidFill>
                  <a:srgbClr val="C2BEDB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400" dirty="0">
                <a:solidFill>
                  <a:srgbClr val="C2BEDB"/>
                </a:solidFill>
              </a:rPr>
              <a:t>本章小节 Sections</a:t>
            </a:r>
            <a:endParaRPr lang="zh-CN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10058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200" dirty="0">
                <a:solidFill>
                  <a:srgbClr val="C2BEDB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200" dirty="0">
                <a:solidFill>
                  <a:srgbClr val="C2BEDB"/>
                </a:solidFill>
              </a:rPr>
              <a:t>学院 · 主讲教师 School · Instructor</a:t>
            </a:r>
            <a:endParaRPr lang="zh-CN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 目录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54864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</a:rPr>
              <a:t>目录</a:t>
            </a:r>
            <a:endParaRPr lang="zh-C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61872"/>
            <a:ext cx="54864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500" spc="600" kern="0" dirty="0">
                <a:solidFill>
                  <a:srgbClr val="FFD58A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500" spc="600" kern="0" dirty="0">
                <a:solidFill>
                  <a:srgbClr val="FFD58A"/>
                </a:solidFill>
              </a:rPr>
              <a:t>CONTENTS</a:t>
            </a:r>
            <a:endParaRPr lang="zh-CN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节标题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143000"/>
            <a:ext cx="64008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1000" b="1" dirty="0">
                <a:solidFill>
                  <a:srgbClr val="FFD58A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1000" b="1" dirty="0">
                <a:solidFill>
                  <a:srgbClr val="FFD58A"/>
                </a:solidFill>
              </a:rPr>
              <a:t>N.N</a:t>
            </a:r>
            <a:endParaRPr lang="zh-CN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83464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</a:rPr>
              <a:t>节标题</a:t>
            </a:r>
            <a:endParaRPr lang="zh-CN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749040"/>
            <a:ext cx="86868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2000" dirty="0">
                <a:solidFill>
                  <a:srgbClr val="A9C1FF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2000" dirty="0">
                <a:solidFill>
                  <a:srgbClr val="A9C1FF"/>
                </a:solidFill>
              </a:rPr>
              <a:t>Section title in English</a:t>
            </a:r>
            <a:endParaRPr lang="zh-CN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470916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300" dirty="0">
                <a:solidFill>
                  <a:srgbClr val="C2BEDB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300" dirty="0">
                <a:solidFill>
                  <a:srgbClr val="C2BEDB"/>
                </a:solidFill>
              </a:rPr>
              <a:t>本节要点 Key topics</a:t>
            </a:r>
            <a:endParaRPr lang="zh-CN" sz="13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标题和内容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单击此处添加标题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5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Click to add the English title</a:t>
            </a:r>
            <a:endParaRPr lang="zh-CN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08760"/>
            <a:ext cx="11094415" cy="4709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600"/>
              </a:spcAft>
              <a:buSzPct val="100000"/>
              <a:buChar char="•"/>
              <a:defRPr lang="zh-CN" altLang="en-US" sz="1800" dirty="0">
                <a:solidFill>
                  <a:schemeClr val="tx1"/>
                </a:solidFill>
              </a:defRPr>
            </a:lvl1pPr>
          </a:lstStyle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zh-CN" altLang="en-US" sz="1800" dirty="0">
                <a:solidFill>
                  <a:schemeClr val="tx1"/>
                </a:solidFill>
              </a:rPr>
              <a:t>单击此处添加内容 / Click to add content</a:t>
            </a:r>
            <a:endParaRPr lang="zh-CN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28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5627A"/>
                </a:solidFill>
              </a:rPr>
              <a:t>新一代移动通信系统（双语）｜第5章 下一代移动通信展望  ·  Ch.5 Outlook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仅标题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单击此处添加标题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5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Click to add the English title</a:t>
            </a:r>
            <a:endParaRPr lang="zh-CN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428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5627A"/>
                </a:solidFill>
              </a:rPr>
              <a:t>新一代移动通信系统（双语）｜第5章 下一代移动通信展望  ·  Ch.5 Outlook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结束页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05740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谢谢聆听</a:t>
            </a:r>
            <a:endParaRPr lang="zh-CN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154680"/>
            <a:ext cx="7498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2600" dirty="0">
                <a:solidFill>
                  <a:srgbClr val="A9C1FF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2600" dirty="0">
                <a:solidFill>
                  <a:srgbClr val="A9C1FF"/>
                </a:solidFill>
              </a:rPr>
              <a:t>Thank You</a:t>
            </a:r>
            <a:endParaRPr lang="zh-CN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16052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400" dirty="0">
                <a:solidFill>
                  <a:srgbClr val="C2BEDB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400" dirty="0">
                <a:solidFill>
                  <a:srgbClr val="C2BEDB"/>
                </a:solidFill>
              </a:rPr>
              <a:t>下一章预告 / Next chapter</a:t>
            </a:r>
            <a:endParaRPr lang="zh-CN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D9DCF2"/>
                </a:solidFill>
              </a:rPr>
              <a:t>新一代移动通信系统（双语）   |   Next-Generation Mobile Communication Systems</a:t>
            </a:r>
            <a:endParaRPr lang="zh-CN" sz="1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572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spc="200" kern="0" dirty="0">
                <a:solidFill>
                  <a:srgbClr val="FFD58A"/>
                </a:solidFill>
              </a:rPr>
              <a:t>第 5 章   ·   CHAPTER 05</a:t>
            </a:r>
            <a:endParaRPr lang="zh-CN" sz="1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0116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下一代移动通信展望</a:t>
            </a:r>
            <a:endParaRPr lang="zh-CN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1546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A9C1FF"/>
                </a:solidFill>
              </a:rPr>
              <a:t>Outlook for Next-Generation Mobile Communications</a:t>
            </a:r>
            <a:endParaRPr lang="zh-CN" sz="24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422452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C2BEDB"/>
                </a:solidFill>
              </a:rPr>
              <a:t>5.1 下一代移动通信技术的发展趋势     5.2 下一代移动通信的挑战与应对策略</a:t>
            </a:r>
            <a:endParaRPr lang="zh-CN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C2BEDB"/>
                </a:solidFill>
              </a:rPr>
              <a:t>信息科学与工程学院  School of Information Science and Engineering     ·     主讲教师 Instructor：张淼</a:t>
            </a:r>
            <a:endParaRPr lang="zh-CN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</a:rPr>
              <a:t>目录</a:t>
            </a:r>
            <a:endParaRPr lang="zh-C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618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spc="600" kern="0" dirty="0">
                <a:solidFill>
                  <a:srgbClr val="FFD58A"/>
                </a:solidFill>
              </a:rPr>
              <a:t>CONTENTS</a:t>
            </a:r>
            <a:endParaRPr lang="zh-CN" sz="1500" dirty="0"/>
          </a:p>
        </p:txBody>
      </p:sp>
      <p:sp>
        <p:nvSpPr>
          <p:cNvPr id="4" name="目录编号 5.1"/>
          <p:cNvSpPr txBox="1"/>
          <p:nvPr/>
        </p:nvSpPr>
        <p:spPr>
          <a:xfrm>
            <a:off x="685800" y="23317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FFD58A"/>
                </a:solidFill>
              </a:rPr>
              <a:t>5.1</a:t>
            </a:r>
            <a:endParaRPr lang="en-US" sz="3400" dirty="0"/>
          </a:p>
        </p:txBody>
      </p:sp>
      <p:sp>
        <p:nvSpPr>
          <p:cNvPr id="5" name="目录标题 5.1"/>
          <p:cNvSpPr txBox="1"/>
          <p:nvPr/>
        </p:nvSpPr>
        <p:spPr>
          <a:xfrm>
            <a:off x="2057400" y="231343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CN" altLang="en-US" sz="2100" b="1" dirty="0">
                <a:solidFill>
                  <a:srgbClr val="FFFFFF"/>
                </a:solidFill>
              </a:rPr>
              <a:t>下一代移动通信技术的发展趋势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zh-CN" altLang="en-US" sz="1250" dirty="0">
                <a:solidFill>
                  <a:srgbClr val="C2BEDB"/>
                </a:solidFill>
              </a:rPr>
              <a:t>Development Trends of Next-Generation Mobile Communication Technologies</a:t>
            </a:r>
            <a:endParaRPr lang="en-US" sz="2100" dirty="0"/>
          </a:p>
        </p:txBody>
      </p:sp>
      <p:sp>
        <p:nvSpPr>
          <p:cNvPr id="6" name="目录编号 5.2"/>
          <p:cNvSpPr txBox="1"/>
          <p:nvPr/>
        </p:nvSpPr>
        <p:spPr>
          <a:xfrm>
            <a:off x="685800" y="37033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FFD58A"/>
                </a:solidFill>
              </a:rPr>
              <a:t>5.2</a:t>
            </a:r>
            <a:endParaRPr lang="en-US" sz="3400" dirty="0"/>
          </a:p>
        </p:txBody>
      </p:sp>
      <p:sp>
        <p:nvSpPr>
          <p:cNvPr id="7" name="目录标题 5.2"/>
          <p:cNvSpPr txBox="1"/>
          <p:nvPr/>
        </p:nvSpPr>
        <p:spPr>
          <a:xfrm>
            <a:off x="2057400" y="368503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CN" altLang="en-US" sz="2100" b="1" dirty="0">
                <a:solidFill>
                  <a:srgbClr val="FFFFFF"/>
                </a:solidFill>
              </a:rPr>
              <a:t>下一代移动通信的挑战与应对策略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zh-CN" altLang="en-US" sz="1250" dirty="0">
                <a:solidFill>
                  <a:srgbClr val="C2BEDB"/>
                </a:solidFill>
              </a:rPr>
              <a:t>Challenges and Countermeasures for Next-Generation Mobile Communications</a:t>
            </a:r>
            <a:endParaRPr lang="en-US" sz="2100" dirty="0"/>
          </a:p>
        </p:txBody>
      </p:sp>
      <p:sp>
        <p:nvSpPr>
          <p:cNvPr id="8" name="教学要求面板"/>
          <p:cNvSpPr/>
          <p:nvPr/>
        </p:nvSpPr>
        <p:spPr>
          <a:xfrm>
            <a:off x="7269480" y="1490472"/>
            <a:ext cx="4373575" cy="4059936"/>
          </a:xfrm>
          <a:prstGeom prst="roundRect">
            <a:avLst>
              <a:gd name="adj" fmla="val 2703"/>
            </a:avLst>
          </a:prstGeom>
          <a:solidFill>
            <a:srgbClr val="0B0A26">
              <a:alpha val="84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面板标题"/>
          <p:cNvSpPr txBox="1"/>
          <p:nvPr/>
        </p:nvSpPr>
        <p:spPr>
          <a:xfrm>
            <a:off x="7525512" y="1636776"/>
            <a:ext cx="39163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本章教学要求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050" dirty="0">
                <a:solidFill>
                  <a:srgbClr val="C2BEDB"/>
                </a:solidFill>
              </a:rPr>
              <a:t>Teaching requirements (from the syllabus)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25512" y="222199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FFD58A"/>
                </a:solidFill>
              </a:rPr>
              <a:t>学时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C2BEDB"/>
                </a:solidFill>
              </a:rPr>
              <a:t>Hours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750808" y="2221992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4 学时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C2BEDB"/>
                </a:solidFill>
              </a:rPr>
              <a:t>4 class hours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525512" y="288036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FFD58A"/>
                </a:solidFill>
              </a:rPr>
              <a:t>学习达成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C2BEDB"/>
                </a:solidFill>
              </a:rPr>
              <a:t>Outcome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750808" y="2880360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能够预判未来移动通信挑战与应对策略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C2BEDB"/>
                </a:solidFill>
              </a:rPr>
              <a:t>Anticipate future challenges and countermeasures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525512" y="353872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FFD58A"/>
                </a:solidFill>
              </a:rPr>
              <a:t>支撑课程目标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C2BEDB"/>
                </a:solidFill>
              </a:rPr>
              <a:t>Objectives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750808" y="3538728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目标3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C2BEDB"/>
                </a:solidFill>
              </a:rPr>
              <a:t>Course Objective 3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525512" y="419709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FFD58A"/>
                </a:solidFill>
              </a:rPr>
              <a:t>教学方法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C2BEDB"/>
                </a:solidFill>
              </a:rPr>
              <a:t>Methods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750808" y="4197096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讲授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C2BEDB"/>
                </a:solidFill>
              </a:rPr>
              <a:t>Lecture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525512" y="485546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FFD58A"/>
                </a:solidFill>
              </a:rPr>
              <a:t>课外环节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C2BEDB"/>
                </a:solidFill>
              </a:rPr>
              <a:t>After class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750808" y="4855464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大作业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C2BEDB"/>
                </a:solidFill>
              </a:rPr>
              <a:t>Course project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B4561A"/>
                </a:solidFill>
              </a:rPr>
              <a:t>5.1  </a:t>
            </a:r>
            <a:r>
              <a:rPr lang="zh-CN" altLang="en-US" sz="3000" b="1" dirty="0">
                <a:solidFill>
                  <a:schemeClr val="tx2"/>
                </a:solidFill>
              </a:rPr>
              <a:t>下一代移动通信技术的发展趋势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Development Trends of Next-Generation Mobile Communication Technologies</a:t>
            </a:r>
            <a:endParaRPr lang="zh-CN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08760"/>
            <a:ext cx="1109441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zh-C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B4561A"/>
                </a:solidFill>
              </a:rPr>
              <a:t>5.2  </a:t>
            </a:r>
            <a:r>
              <a:rPr lang="zh-CN" altLang="en-US" sz="3000" b="1" dirty="0">
                <a:solidFill>
                  <a:schemeClr val="tx2"/>
                </a:solidFill>
              </a:rPr>
              <a:t>下一代移动通信的挑战与应对策略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Challenges and Countermeasures for Next-Generation Mobile Communications</a:t>
            </a:r>
            <a:endParaRPr lang="zh-CN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08760"/>
            <a:ext cx="1109441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zh-C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0574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谢谢聆听！</a:t>
            </a:r>
            <a:endParaRPr lang="zh-CN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1546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dirty="0">
                <a:solidFill>
                  <a:srgbClr val="A9C1FF"/>
                </a:solidFill>
              </a:rPr>
              <a:t>Thank You</a:t>
            </a:r>
            <a:endParaRPr lang="zh-CN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1605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课程总结与答疑</a:t>
            </a:r>
            <a:endParaRPr lang="zh-CN" sz="1400" dirty="0"/>
          </a:p>
          <a:p>
            <a:pPr indent="0" marL="0">
              <a:buNone/>
            </a:pPr>
            <a:r>
              <a:rPr lang="zh-CN" altLang="en-US" sz="1250" dirty="0">
                <a:solidFill>
                  <a:srgbClr val="C2BEDB"/>
                </a:solidFill>
              </a:rPr>
              <a:t>Course wrap-up and Q&amp;A</a:t>
            </a:r>
            <a:endParaRPr lang="zh-CN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新一代移动通信系统 第5章">
  <a:themeElements>
    <a:clrScheme name="新一代移动通信系统 第5章">
      <a:dk1>
        <a:srgbClr val="24223A"/>
      </a:dk1>
      <a:lt1>
        <a:srgbClr val="FFFFFF"/>
      </a:lt1>
      <a:dk2>
        <a:srgbClr val="22205A"/>
      </a:dk2>
      <a:lt2>
        <a:srgbClr val="FFF3E8"/>
      </a:lt2>
      <a:accent1>
        <a:srgbClr val="B4561A"/>
      </a:accent1>
      <a:accent2>
        <a:srgbClr val="4F55C9"/>
      </a:accent2>
      <a:accent3>
        <a:srgbClr val="D9456F"/>
      </a:accent3>
      <a:accent4>
        <a:srgbClr val="2B9A8F"/>
      </a:accent4>
      <a:accent5>
        <a:srgbClr val="FFD58A"/>
      </a:accent5>
      <a:accent6>
        <a:srgbClr val="A9C1FF"/>
      </a:accent6>
      <a:hlink>
        <a:srgbClr val="4F55C9"/>
      </a:hlink>
      <a:folHlink>
        <a:srgbClr val="7A6FA8"/>
      </a:folHlink>
    </a:clrScheme>
    <a:fontScheme name="新一代移动通信系统 第5章">
      <a:majorFont>
        <a:latin typeface="Arial"/>
        <a:ea typeface="微软雅黑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微软雅黑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信息科学与工程学院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新一代移动通信系统（双语） 第5章 下一代移动通信展望</dc:title>
  <dc:subject>Next-Generation Mobile Communication Systems - Chapter 5 Outlook for Next-Generation Mobile Communications</dc:subject>
  <dc:creator>张淼</dc:creator>
  <cp:lastModifiedBy>张淼</cp:lastModifiedBy>
  <cp:revision>1</cp:revision>
  <dcterms:created xsi:type="dcterms:W3CDTF">2026-10-29T11:49:28Z</dcterms:created>
  <dcterms:modified xsi:type="dcterms:W3CDTF">2026-10-29T11:49:28Z</dcterms:modified>
</cp:coreProperties>
</file>