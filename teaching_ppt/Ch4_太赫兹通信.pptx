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目录 Opening" id="{a8dc74da-06a8-98a2-0e35-0978082d6987}">
          <p14:sldIdLst>
            <p14:sldId id="256"/>
            <p14:sldId id="257"/>
          </p14:sldIdLst>
        </p14:section>
        <p14:section name="4.1 太赫兹与毫米波技术原理" id="{fb435449-a4af-b9fa-6642-3ce808a8d74c}">
          <p14:sldIdLst>
            <p14:sldId id="258"/>
          </p14:sldIdLst>
        </p14:section>
        <p14:section name="4.2 太赫兹通信系统" id="{5194a9f3-6118-6780-5c02-802e01e3446a}">
          <p14:sldIdLst>
            <p14:sldId id="259"/>
          </p14:sldIdLst>
        </p14:section>
        <p14:section name="4.3 太赫兹通信应用场景" id="{2bd10d05-7137-e622-8305-9534258fa4d3}">
          <p14:sldIdLst>
            <p14:sldId id="260"/>
          </p14:sldIdLst>
        </p14:section>
        <p14:section name="结束 Closing" id="{42b26a33-f788-fefc-5aba-e3722588793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第4章 太赫兹通信（Terahertz Communications）。学时：6 学时。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目录与本章教学要求（依据课程教学大纲：学时、学习达成、支撑课程目标、教学方法、课外环节、思政融入点）。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【4.1 太赫兹与毫米波技术原理 / Principles of Terahertz and Millimeter-Wave Technologies】
教学要求：掌握太赫兹通信原理；教学方法：讲授 + 项目式；课外环节：作业；思政融入点：太赫兹在下一代移动通信中的优势。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【4.2 太赫兹通信系统 / Terahertz Communication Systems】
教学要求：掌握太赫兹通信原理；教学方法：讲授 + 项目式；课外环节：作业；思政融入点：太赫兹在下一代移动通信中的优势。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【4.3 太赫兹通信应用场景 / Application Scenarios of Terahertz Communications】
教学要求：掌握太赫兹通信原理；教学方法：讲授 + 项目式；课外环节：作业；思政融入点：太赫兹在下一代移动通信中的优势。
（本页为空白模板，请在此添加本小节讲授内容。）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s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and-Conten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le-Only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9DCF2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课程名称 Course title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600" b="1" spc="200" kern="0" dirty="0">
                <a:solidFill>
                  <a:srgbClr val="FFB3CC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FFB3CC"/>
                </a:solidFill>
              </a:rPr>
              <a:t>第 N 章 · CHAPTER N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章标题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400" dirty="0">
                <a:solidFill>
                  <a:srgbClr val="FFD166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400" dirty="0">
                <a:solidFill>
                  <a:srgbClr val="FFD166"/>
                </a:solidFill>
              </a:rPr>
              <a:t>Chapter title in English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7B5C8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7B5C8"/>
                </a:solidFill>
              </a:rPr>
              <a:t>本章小节 Sections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200" dirty="0">
                <a:solidFill>
                  <a:srgbClr val="D7B5C8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200" dirty="0">
                <a:solidFill>
                  <a:srgbClr val="D7B5C8"/>
                </a:solidFill>
              </a:rPr>
              <a:t>学院 · 主讲教师 School · Instructor</a:t>
            </a:r>
            <a:endParaRPr 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目录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spc="600" kern="0" dirty="0">
                <a:solidFill>
                  <a:srgbClr val="FFB3CC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spc="600" kern="0" dirty="0">
                <a:solidFill>
                  <a:srgbClr val="FFB3CC"/>
                </a:solidFill>
              </a:rPr>
              <a:t>CONTENTS</a:t>
            </a:r>
            <a:endParaRPr lang="zh-CN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节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1000" b="1" dirty="0">
                <a:solidFill>
                  <a:srgbClr val="FFB3CC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1000" b="1" dirty="0">
                <a:solidFill>
                  <a:srgbClr val="FFB3CC"/>
                </a:solidFill>
              </a:rPr>
              <a:t>N.N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节标题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000" dirty="0">
                <a:solidFill>
                  <a:srgbClr val="FFD166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000" dirty="0">
                <a:solidFill>
                  <a:srgbClr val="FFD166"/>
                </a:solidFill>
              </a:rPr>
              <a:t>Section title in English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300" dirty="0">
                <a:solidFill>
                  <a:srgbClr val="D7B5C8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300" dirty="0">
                <a:solidFill>
                  <a:srgbClr val="D7B5C8"/>
                </a:solidFill>
              </a:rPr>
              <a:t>本节要点 Key topics</a:t>
            </a:r>
            <a:endParaRPr lang="zh-CN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标题和内容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600"/>
              </a:spcAft>
              <a:buSzPct val="100000"/>
              <a:buChar char="•"/>
              <a:defRPr lang="zh-CN" altLang="en-US" sz="1800" dirty="0">
                <a:solidFill>
                  <a:schemeClr val="tx1"/>
                </a:solidFill>
              </a:defRPr>
            </a:lvl1pPr>
          </a:lstStyle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CN" altLang="en-US" sz="1800" dirty="0">
                <a:solidFill>
                  <a:schemeClr val="tx1"/>
                </a:solidFill>
              </a:rPr>
              <a:t>单击此处添加内容 / Click to add content</a:t>
            </a:r>
            <a:endParaRPr lang="zh-CN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070"/>
                </a:solidFill>
              </a:rPr>
              <a:t>新一代移动通信系统（双语）｜第4章 太赫兹通信  ·  Ch.4 THz Communications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仅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E6070"/>
                </a:solidFill>
              </a:rPr>
              <a:t>新一代移动通信系统（双语）｜第4章 太赫兹通信  ·  Ch.4 THz Communications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结束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600" dirty="0">
                <a:solidFill>
                  <a:srgbClr val="FFD166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600" dirty="0">
                <a:solidFill>
                  <a:srgbClr val="FFD166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7B5C8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7B5C8"/>
                </a:solidFill>
              </a:rPr>
              <a:t>下一章预告 / Next chapter</a:t>
            </a:r>
            <a:endParaRPr 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新一代移动通信系统（双语）   |   Next-Generation Mobile Communication Systems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FFB3CC"/>
                </a:solidFill>
              </a:rPr>
              <a:t>第 4 章   ·   CHAPTER 04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太赫兹通信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FFD166"/>
                </a:solidFill>
              </a:rPr>
              <a:t>Terahertz Communications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D7B5C8"/>
                </a:solidFill>
              </a:rPr>
              <a:t>4.1 太赫兹与毫米波技术原理     4.2 太赫兹通信系统     4.3 太赫兹通信应用场景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D7B5C8"/>
                </a:solidFill>
              </a:rPr>
              <a:t>信息科学与工程学院  School of Information Science and Engineering     ·     主讲教师 Instructor：张淼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spc="600" kern="0" dirty="0">
                <a:solidFill>
                  <a:srgbClr val="FFB3CC"/>
                </a:solidFill>
              </a:rPr>
              <a:t>CONTENTS</a:t>
            </a:r>
            <a:endParaRPr lang="zh-CN" sz="1500" dirty="0"/>
          </a:p>
        </p:txBody>
      </p:sp>
      <p:sp>
        <p:nvSpPr>
          <p:cNvPr id="4" name="目录编号 4.1"/>
          <p:cNvSpPr txBox="1"/>
          <p:nvPr/>
        </p:nvSpPr>
        <p:spPr>
          <a:xfrm>
            <a:off x="685800" y="21031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B3CC"/>
                </a:solidFill>
              </a:rPr>
              <a:t>4.1</a:t>
            </a:r>
            <a:endParaRPr lang="en-US" sz="3400" dirty="0"/>
          </a:p>
        </p:txBody>
      </p:sp>
      <p:sp>
        <p:nvSpPr>
          <p:cNvPr id="5" name="目录标题 4.1"/>
          <p:cNvSpPr txBox="1"/>
          <p:nvPr/>
        </p:nvSpPr>
        <p:spPr>
          <a:xfrm>
            <a:off x="2057400" y="20848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太赫兹与毫米波技术原理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D7B5C8"/>
                </a:solidFill>
              </a:rPr>
              <a:t>Principles of Terahertz and Millimeter-Wave Technologies</a:t>
            </a:r>
            <a:endParaRPr lang="en-US" sz="2100" dirty="0"/>
          </a:p>
        </p:txBody>
      </p:sp>
      <p:sp>
        <p:nvSpPr>
          <p:cNvPr id="6" name="目录编号 4.2"/>
          <p:cNvSpPr txBox="1"/>
          <p:nvPr/>
        </p:nvSpPr>
        <p:spPr>
          <a:xfrm>
            <a:off x="685800" y="33101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B3CC"/>
                </a:solidFill>
              </a:rPr>
              <a:t>4.2</a:t>
            </a:r>
            <a:endParaRPr lang="en-US" sz="3400" dirty="0"/>
          </a:p>
        </p:txBody>
      </p:sp>
      <p:sp>
        <p:nvSpPr>
          <p:cNvPr id="7" name="目录标题 4.2"/>
          <p:cNvSpPr txBox="1"/>
          <p:nvPr/>
        </p:nvSpPr>
        <p:spPr>
          <a:xfrm>
            <a:off x="2057400" y="3291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太赫兹通信系统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D7B5C8"/>
                </a:solidFill>
              </a:rPr>
              <a:t>Terahertz Communication Systems</a:t>
            </a:r>
            <a:endParaRPr lang="en-US" sz="2100" dirty="0"/>
          </a:p>
        </p:txBody>
      </p:sp>
      <p:sp>
        <p:nvSpPr>
          <p:cNvPr id="8" name="目录编号 4.3"/>
          <p:cNvSpPr txBox="1"/>
          <p:nvPr/>
        </p:nvSpPr>
        <p:spPr>
          <a:xfrm>
            <a:off x="685800" y="451713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FFB3CC"/>
                </a:solidFill>
              </a:rPr>
              <a:t>4.3</a:t>
            </a:r>
            <a:endParaRPr lang="en-US" sz="3400" dirty="0"/>
          </a:p>
        </p:txBody>
      </p:sp>
      <p:sp>
        <p:nvSpPr>
          <p:cNvPr id="9" name="目录标题 4.3"/>
          <p:cNvSpPr txBox="1"/>
          <p:nvPr/>
        </p:nvSpPr>
        <p:spPr>
          <a:xfrm>
            <a:off x="2057400" y="44988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太赫兹通信应用场景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D7B5C8"/>
                </a:solidFill>
              </a:rPr>
              <a:t>Application Scenarios of Terahertz Communications</a:t>
            </a:r>
            <a:endParaRPr lang="en-US" sz="2100" dirty="0"/>
          </a:p>
        </p:txBody>
      </p:sp>
      <p:sp>
        <p:nvSpPr>
          <p:cNvPr id="10" name="教学要求面板"/>
          <p:cNvSpPr/>
          <p:nvPr/>
        </p:nvSpPr>
        <p:spPr>
          <a:xfrm>
            <a:off x="7269480" y="1417320"/>
            <a:ext cx="4373575" cy="4718304"/>
          </a:xfrm>
          <a:prstGeom prst="roundRect">
            <a:avLst>
              <a:gd name="adj" fmla="val 2509"/>
            </a:avLst>
          </a:prstGeom>
          <a:solidFill>
            <a:srgbClr val="17081F">
              <a:alpha val="84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面板标题"/>
          <p:cNvSpPr txBox="1"/>
          <p:nvPr/>
        </p:nvSpPr>
        <p:spPr>
          <a:xfrm>
            <a:off x="7525512" y="1563624"/>
            <a:ext cx="3916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本章教学要求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D7B5C8"/>
                </a:solidFill>
              </a:rPr>
              <a:t>Teaching requirements (from the syllabus)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1488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B3CC"/>
                </a:solidFill>
              </a:rPr>
              <a:t>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Hours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750808" y="214884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6 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6 class hours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28072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B3CC"/>
                </a:solidFill>
              </a:rPr>
              <a:t>学习达成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Outcome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2807208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掌握太赫兹通信原理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Master the principles of THz communications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25512" y="346557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B3CC"/>
                </a:solidFill>
              </a:rPr>
              <a:t>支撑课程目标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Objectives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3465576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目标1、目标2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Course Objectives 1 &amp; 2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41239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B3CC"/>
                </a:solidFill>
              </a:rPr>
              <a:t>教学方法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Methods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50808" y="4123944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讲授 + 项目式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Lecture + project-based learning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25512" y="47823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B3CC"/>
                </a:solidFill>
              </a:rPr>
              <a:t>课外环节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After class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4782312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作业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Homework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544068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FFB3CC"/>
                </a:solidFill>
              </a:rPr>
              <a:t>思政融入点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Ideology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750808" y="544068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太赫兹在下一代移动通信中的优势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D7B5C8"/>
                </a:solidFill>
              </a:rPr>
              <a:t>Advantages of THz in next-generation mobile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C92A63"/>
                </a:solidFill>
              </a:rPr>
              <a:t>4.1  </a:t>
            </a:r>
            <a:r>
              <a:rPr lang="zh-CN" altLang="en-US" sz="3000" b="1" dirty="0">
                <a:solidFill>
                  <a:schemeClr val="tx2"/>
                </a:solidFill>
              </a:rPr>
              <a:t>太赫兹与毫米波技术原理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Principles of Terahertz and Millimeter-Wave Technologies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C92A63"/>
                </a:solidFill>
              </a:rPr>
              <a:t>4.2  </a:t>
            </a:r>
            <a:r>
              <a:rPr lang="zh-CN" altLang="en-US" sz="3000" b="1" dirty="0">
                <a:solidFill>
                  <a:schemeClr val="tx2"/>
                </a:solidFill>
              </a:rPr>
              <a:t>太赫兹通信系统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Terahertz Communication Systems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C92A63"/>
                </a:solidFill>
              </a:rPr>
              <a:t>4.3  </a:t>
            </a:r>
            <a:r>
              <a:rPr lang="zh-CN" altLang="en-US" sz="3000" b="1" dirty="0">
                <a:solidFill>
                  <a:schemeClr val="tx2"/>
                </a:solidFill>
              </a:rPr>
              <a:t>太赫兹通信应用场景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Application Scenarios of Terahertz Communications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谢谢聆听！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FFD166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下一章预告：第5章 下一代移动通信展望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250" dirty="0">
                <a:solidFill>
                  <a:srgbClr val="D7B5C8"/>
                </a:solidFill>
              </a:rPr>
              <a:t>Next: Chapter 5  Outlook for Next-Generation Mobile Communications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一代移动通信系统 第4章">
  <a:themeElements>
    <a:clrScheme name="新一代移动通信系统 第4章">
      <a:dk1>
        <a:srgbClr val="2A1F2A"/>
      </a:dk1>
      <a:lt1>
        <a:srgbClr val="FFFFFF"/>
      </a:lt1>
      <a:dk2>
        <a:srgbClr val="4A1240"/>
      </a:dk2>
      <a:lt2>
        <a:srgbClr val="FFF0F5"/>
      </a:lt2>
      <a:accent1>
        <a:srgbClr val="C92A63"/>
      </a:accent1>
      <a:accent2>
        <a:srgbClr val="D9692A"/>
      </a:accent2>
      <a:accent3>
        <a:srgbClr val="7B2FA8"/>
      </a:accent3>
      <a:accent4>
        <a:srgbClr val="D9961A"/>
      </a:accent4>
      <a:accent5>
        <a:srgbClr val="FFB3CC"/>
      </a:accent5>
      <a:accent6>
        <a:srgbClr val="FFD166"/>
      </a:accent6>
      <a:hlink>
        <a:srgbClr val="C92A63"/>
      </a:hlink>
      <a:folHlink>
        <a:srgbClr val="8E4F7A"/>
      </a:folHlink>
    </a:clrScheme>
    <a:fontScheme name="新一代移动通信系统 第4章">
      <a:majorFont>
        <a:latin typeface="Arial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信息科学与工程学院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新一代移动通信系统（双语） 第4章 太赫兹通信</dc:title>
  <dc:subject>Next-Generation Mobile Communication Systems - Chapter 4 Terahertz Communications</dc:subject>
  <dc:creator>张淼</dc:creator>
  <cp:lastModifiedBy>张淼</cp:lastModifiedBy>
  <cp:revision>1</cp:revision>
  <dcterms:created xsi:type="dcterms:W3CDTF">2026-10-29T11:49:28Z</dcterms:created>
  <dcterms:modified xsi:type="dcterms:W3CDTF">2026-10-29T11:49:28Z</dcterms:modified>
</cp:coreProperties>
</file>